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7" r:id="rId3"/>
    <p:sldId id="712" r:id="rId4"/>
    <p:sldId id="268" r:id="rId5"/>
    <p:sldId id="269" r:id="rId6"/>
    <p:sldId id="270" r:id="rId7"/>
    <p:sldId id="699" r:id="rId8"/>
    <p:sldId id="700" r:id="rId9"/>
    <p:sldId id="701" r:id="rId10"/>
    <p:sldId id="702" r:id="rId11"/>
    <p:sldId id="703" r:id="rId12"/>
    <p:sldId id="704" r:id="rId13"/>
    <p:sldId id="698" r:id="rId14"/>
    <p:sldId id="693" r:id="rId15"/>
    <p:sldId id="705" r:id="rId16"/>
    <p:sldId id="707" r:id="rId17"/>
    <p:sldId id="266" r:id="rId18"/>
    <p:sldId id="708" r:id="rId19"/>
    <p:sldId id="274" r:id="rId20"/>
    <p:sldId id="711" r:id="rId21"/>
    <p:sldId id="334" r:id="rId2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1" d="100"/>
          <a:sy n="101" d="100"/>
        </p:scale>
        <p:origin x="1836"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CAE8AA11-D812-497B-9B8E-DA53B2174CF0}" type="datetimeFigureOut">
              <a:rPr lang="en-US" smtClean="0"/>
              <a:t>10/25/2023</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56E1136E-8460-4A9C-9544-B6A18D5AEE15}" type="slidenum">
              <a:rPr lang="en-US" smtClean="0"/>
              <a:t>‹#›</a:t>
            </a:fld>
            <a:endParaRPr lang="en-US"/>
          </a:p>
        </p:txBody>
      </p:sp>
    </p:spTree>
    <p:extLst>
      <p:ext uri="{BB962C8B-B14F-4D97-AF65-F5344CB8AC3E}">
        <p14:creationId xmlns:p14="http://schemas.microsoft.com/office/powerpoint/2010/main" val="531787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12">
            <a:extLst>
              <a:ext uri="{FF2B5EF4-FFF2-40B4-BE49-F238E27FC236}">
                <a16:creationId xmlns:a16="http://schemas.microsoft.com/office/drawing/2014/main" id="{C50E25B9-CE19-36FC-4E0A-CD52E40F6B1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tabLst>
                <a:tab pos="0" algn="l"/>
                <a:tab pos="478035" algn="l"/>
                <a:tab pos="956071" algn="l"/>
                <a:tab pos="1434106" algn="l"/>
                <a:tab pos="1912142" algn="l"/>
                <a:tab pos="2390178" algn="l"/>
                <a:tab pos="2868213" algn="l"/>
                <a:tab pos="3346248" algn="l"/>
                <a:tab pos="3824284" algn="l"/>
                <a:tab pos="4303968" algn="l"/>
                <a:tab pos="4782003" algn="l"/>
                <a:tab pos="5260039" algn="l"/>
                <a:tab pos="5738075" algn="l"/>
                <a:tab pos="6216110" algn="l"/>
                <a:tab pos="6694145" algn="l"/>
                <a:tab pos="7172181" algn="l"/>
                <a:tab pos="7650216" algn="l"/>
                <a:tab pos="8128251" algn="l"/>
                <a:tab pos="8607935" algn="l"/>
                <a:tab pos="9085971" algn="l"/>
                <a:tab pos="9564006" algn="l"/>
              </a:tabLst>
              <a:defRPr sz="1200">
                <a:solidFill>
                  <a:schemeClr val="tx1"/>
                </a:solidFill>
                <a:latin typeface="Calibri" panose="020F0502020204030204" pitchFamily="34" charset="0"/>
              </a:defRPr>
            </a:lvl1pPr>
            <a:lvl2pPr marL="771450" indent="-296711">
              <a:spcBef>
                <a:spcPct val="30000"/>
              </a:spcBef>
              <a:tabLst>
                <a:tab pos="0" algn="l"/>
                <a:tab pos="478035" algn="l"/>
                <a:tab pos="956071" algn="l"/>
                <a:tab pos="1434106" algn="l"/>
                <a:tab pos="1912142" algn="l"/>
                <a:tab pos="2390178" algn="l"/>
                <a:tab pos="2868213" algn="l"/>
                <a:tab pos="3346248" algn="l"/>
                <a:tab pos="3824284" algn="l"/>
                <a:tab pos="4303968" algn="l"/>
                <a:tab pos="4782003" algn="l"/>
                <a:tab pos="5260039" algn="l"/>
                <a:tab pos="5738075" algn="l"/>
                <a:tab pos="6216110" algn="l"/>
                <a:tab pos="6694145" algn="l"/>
                <a:tab pos="7172181" algn="l"/>
                <a:tab pos="7650216" algn="l"/>
                <a:tab pos="8128251" algn="l"/>
                <a:tab pos="8607935" algn="l"/>
                <a:tab pos="9085971" algn="l"/>
                <a:tab pos="9564006" algn="l"/>
              </a:tabLst>
              <a:defRPr sz="1200">
                <a:solidFill>
                  <a:schemeClr val="tx1"/>
                </a:solidFill>
                <a:latin typeface="Calibri" panose="020F0502020204030204" pitchFamily="34" charset="0"/>
              </a:defRPr>
            </a:lvl2pPr>
            <a:lvl3pPr marL="1186847" indent="-237369">
              <a:spcBef>
                <a:spcPct val="30000"/>
              </a:spcBef>
              <a:tabLst>
                <a:tab pos="0" algn="l"/>
                <a:tab pos="478035" algn="l"/>
                <a:tab pos="956071" algn="l"/>
                <a:tab pos="1434106" algn="l"/>
                <a:tab pos="1912142" algn="l"/>
                <a:tab pos="2390178" algn="l"/>
                <a:tab pos="2868213" algn="l"/>
                <a:tab pos="3346248" algn="l"/>
                <a:tab pos="3824284" algn="l"/>
                <a:tab pos="4303968" algn="l"/>
                <a:tab pos="4782003" algn="l"/>
                <a:tab pos="5260039" algn="l"/>
                <a:tab pos="5738075" algn="l"/>
                <a:tab pos="6216110" algn="l"/>
                <a:tab pos="6694145" algn="l"/>
                <a:tab pos="7172181" algn="l"/>
                <a:tab pos="7650216" algn="l"/>
                <a:tab pos="8128251" algn="l"/>
                <a:tab pos="8607935" algn="l"/>
                <a:tab pos="9085971" algn="l"/>
                <a:tab pos="9564006" algn="l"/>
              </a:tabLst>
              <a:defRPr sz="1200">
                <a:solidFill>
                  <a:schemeClr val="tx1"/>
                </a:solidFill>
                <a:latin typeface="Calibri" panose="020F0502020204030204" pitchFamily="34" charset="0"/>
              </a:defRPr>
            </a:lvl3pPr>
            <a:lvl4pPr marL="1661585" indent="-237369">
              <a:spcBef>
                <a:spcPct val="30000"/>
              </a:spcBef>
              <a:tabLst>
                <a:tab pos="0" algn="l"/>
                <a:tab pos="478035" algn="l"/>
                <a:tab pos="956071" algn="l"/>
                <a:tab pos="1434106" algn="l"/>
                <a:tab pos="1912142" algn="l"/>
                <a:tab pos="2390178" algn="l"/>
                <a:tab pos="2868213" algn="l"/>
                <a:tab pos="3346248" algn="l"/>
                <a:tab pos="3824284" algn="l"/>
                <a:tab pos="4303968" algn="l"/>
                <a:tab pos="4782003" algn="l"/>
                <a:tab pos="5260039" algn="l"/>
                <a:tab pos="5738075" algn="l"/>
                <a:tab pos="6216110" algn="l"/>
                <a:tab pos="6694145" algn="l"/>
                <a:tab pos="7172181" algn="l"/>
                <a:tab pos="7650216" algn="l"/>
                <a:tab pos="8128251" algn="l"/>
                <a:tab pos="8607935" algn="l"/>
                <a:tab pos="9085971" algn="l"/>
                <a:tab pos="9564006" algn="l"/>
              </a:tabLst>
              <a:defRPr sz="1200">
                <a:solidFill>
                  <a:schemeClr val="tx1"/>
                </a:solidFill>
                <a:latin typeface="Calibri" panose="020F0502020204030204" pitchFamily="34" charset="0"/>
              </a:defRPr>
            </a:lvl4pPr>
            <a:lvl5pPr marL="2136324" indent="-237369">
              <a:spcBef>
                <a:spcPct val="30000"/>
              </a:spcBef>
              <a:tabLst>
                <a:tab pos="0" algn="l"/>
                <a:tab pos="478035" algn="l"/>
                <a:tab pos="956071" algn="l"/>
                <a:tab pos="1434106" algn="l"/>
                <a:tab pos="1912142" algn="l"/>
                <a:tab pos="2390178" algn="l"/>
                <a:tab pos="2868213" algn="l"/>
                <a:tab pos="3346248" algn="l"/>
                <a:tab pos="3824284" algn="l"/>
                <a:tab pos="4303968" algn="l"/>
                <a:tab pos="4782003" algn="l"/>
                <a:tab pos="5260039" algn="l"/>
                <a:tab pos="5738075" algn="l"/>
                <a:tab pos="6216110" algn="l"/>
                <a:tab pos="6694145" algn="l"/>
                <a:tab pos="7172181" algn="l"/>
                <a:tab pos="7650216" algn="l"/>
                <a:tab pos="8128251" algn="l"/>
                <a:tab pos="8607935" algn="l"/>
                <a:tab pos="9085971" algn="l"/>
                <a:tab pos="9564006" algn="l"/>
              </a:tabLst>
              <a:defRPr sz="1200">
                <a:solidFill>
                  <a:schemeClr val="tx1"/>
                </a:solidFill>
                <a:latin typeface="Calibri" panose="020F0502020204030204" pitchFamily="34" charset="0"/>
              </a:defRPr>
            </a:lvl5pPr>
            <a:lvl6pPr marL="2611062" indent="-237369" eaLnBrk="0" fontAlgn="base" hangingPunct="0">
              <a:spcBef>
                <a:spcPct val="30000"/>
              </a:spcBef>
              <a:spcAft>
                <a:spcPct val="0"/>
              </a:spcAft>
              <a:tabLst>
                <a:tab pos="0" algn="l"/>
                <a:tab pos="478035" algn="l"/>
                <a:tab pos="956071" algn="l"/>
                <a:tab pos="1434106" algn="l"/>
                <a:tab pos="1912142" algn="l"/>
                <a:tab pos="2390178" algn="l"/>
                <a:tab pos="2868213" algn="l"/>
                <a:tab pos="3346248" algn="l"/>
                <a:tab pos="3824284" algn="l"/>
                <a:tab pos="4303968" algn="l"/>
                <a:tab pos="4782003" algn="l"/>
                <a:tab pos="5260039" algn="l"/>
                <a:tab pos="5738075" algn="l"/>
                <a:tab pos="6216110" algn="l"/>
                <a:tab pos="6694145" algn="l"/>
                <a:tab pos="7172181" algn="l"/>
                <a:tab pos="7650216" algn="l"/>
                <a:tab pos="8128251" algn="l"/>
                <a:tab pos="8607935" algn="l"/>
                <a:tab pos="9085971" algn="l"/>
                <a:tab pos="9564006" algn="l"/>
              </a:tabLst>
              <a:defRPr sz="1200">
                <a:solidFill>
                  <a:schemeClr val="tx1"/>
                </a:solidFill>
                <a:latin typeface="Calibri" panose="020F0502020204030204" pitchFamily="34" charset="0"/>
              </a:defRPr>
            </a:lvl6pPr>
            <a:lvl7pPr marL="3085801" indent="-237369" eaLnBrk="0" fontAlgn="base" hangingPunct="0">
              <a:spcBef>
                <a:spcPct val="30000"/>
              </a:spcBef>
              <a:spcAft>
                <a:spcPct val="0"/>
              </a:spcAft>
              <a:tabLst>
                <a:tab pos="0" algn="l"/>
                <a:tab pos="478035" algn="l"/>
                <a:tab pos="956071" algn="l"/>
                <a:tab pos="1434106" algn="l"/>
                <a:tab pos="1912142" algn="l"/>
                <a:tab pos="2390178" algn="l"/>
                <a:tab pos="2868213" algn="l"/>
                <a:tab pos="3346248" algn="l"/>
                <a:tab pos="3824284" algn="l"/>
                <a:tab pos="4303968" algn="l"/>
                <a:tab pos="4782003" algn="l"/>
                <a:tab pos="5260039" algn="l"/>
                <a:tab pos="5738075" algn="l"/>
                <a:tab pos="6216110" algn="l"/>
                <a:tab pos="6694145" algn="l"/>
                <a:tab pos="7172181" algn="l"/>
                <a:tab pos="7650216" algn="l"/>
                <a:tab pos="8128251" algn="l"/>
                <a:tab pos="8607935" algn="l"/>
                <a:tab pos="9085971" algn="l"/>
                <a:tab pos="9564006" algn="l"/>
              </a:tabLst>
              <a:defRPr sz="1200">
                <a:solidFill>
                  <a:schemeClr val="tx1"/>
                </a:solidFill>
                <a:latin typeface="Calibri" panose="020F0502020204030204" pitchFamily="34" charset="0"/>
              </a:defRPr>
            </a:lvl7pPr>
            <a:lvl8pPr marL="3560540" indent="-237369" eaLnBrk="0" fontAlgn="base" hangingPunct="0">
              <a:spcBef>
                <a:spcPct val="30000"/>
              </a:spcBef>
              <a:spcAft>
                <a:spcPct val="0"/>
              </a:spcAft>
              <a:tabLst>
                <a:tab pos="0" algn="l"/>
                <a:tab pos="478035" algn="l"/>
                <a:tab pos="956071" algn="l"/>
                <a:tab pos="1434106" algn="l"/>
                <a:tab pos="1912142" algn="l"/>
                <a:tab pos="2390178" algn="l"/>
                <a:tab pos="2868213" algn="l"/>
                <a:tab pos="3346248" algn="l"/>
                <a:tab pos="3824284" algn="l"/>
                <a:tab pos="4303968" algn="l"/>
                <a:tab pos="4782003" algn="l"/>
                <a:tab pos="5260039" algn="l"/>
                <a:tab pos="5738075" algn="l"/>
                <a:tab pos="6216110" algn="l"/>
                <a:tab pos="6694145" algn="l"/>
                <a:tab pos="7172181" algn="l"/>
                <a:tab pos="7650216" algn="l"/>
                <a:tab pos="8128251" algn="l"/>
                <a:tab pos="8607935" algn="l"/>
                <a:tab pos="9085971" algn="l"/>
                <a:tab pos="9564006" algn="l"/>
              </a:tabLst>
              <a:defRPr sz="1200">
                <a:solidFill>
                  <a:schemeClr val="tx1"/>
                </a:solidFill>
                <a:latin typeface="Calibri" panose="020F0502020204030204" pitchFamily="34" charset="0"/>
              </a:defRPr>
            </a:lvl8pPr>
            <a:lvl9pPr marL="4035279" indent="-237369" eaLnBrk="0" fontAlgn="base" hangingPunct="0">
              <a:spcBef>
                <a:spcPct val="30000"/>
              </a:spcBef>
              <a:spcAft>
                <a:spcPct val="0"/>
              </a:spcAft>
              <a:tabLst>
                <a:tab pos="0" algn="l"/>
                <a:tab pos="478035" algn="l"/>
                <a:tab pos="956071" algn="l"/>
                <a:tab pos="1434106" algn="l"/>
                <a:tab pos="1912142" algn="l"/>
                <a:tab pos="2390178" algn="l"/>
                <a:tab pos="2868213" algn="l"/>
                <a:tab pos="3346248" algn="l"/>
                <a:tab pos="3824284" algn="l"/>
                <a:tab pos="4303968" algn="l"/>
                <a:tab pos="4782003" algn="l"/>
                <a:tab pos="5260039" algn="l"/>
                <a:tab pos="5738075" algn="l"/>
                <a:tab pos="6216110" algn="l"/>
                <a:tab pos="6694145" algn="l"/>
                <a:tab pos="7172181" algn="l"/>
                <a:tab pos="7650216" algn="l"/>
                <a:tab pos="8128251" algn="l"/>
                <a:tab pos="8607935" algn="l"/>
                <a:tab pos="9085971" algn="l"/>
                <a:tab pos="9564006" algn="l"/>
              </a:tabLst>
              <a:defRPr sz="1200">
                <a:solidFill>
                  <a:schemeClr val="tx1"/>
                </a:solidFill>
                <a:latin typeface="Calibri" panose="020F0502020204030204" pitchFamily="34" charset="0"/>
              </a:defRPr>
            </a:lvl9pPr>
          </a:lstStyle>
          <a:p>
            <a:pPr>
              <a:spcBef>
                <a:spcPct val="0"/>
              </a:spcBef>
            </a:pPr>
            <a:fld id="{05A00C5B-155B-4B4B-8CE3-30F07D81251A}" type="slidenum">
              <a:rPr lang="en-US" altLang="en-US" smtClean="0">
                <a:solidFill>
                  <a:srgbClr val="000000"/>
                </a:solidFill>
                <a:latin typeface="Arial" panose="020B0604020202020204" pitchFamily="34" charset="0"/>
                <a:ea typeface="Microsoft YaHei" panose="020B0503020204020204" pitchFamily="34" charset="-122"/>
              </a:rPr>
              <a:pPr>
                <a:spcBef>
                  <a:spcPct val="0"/>
                </a:spcBef>
              </a:pPr>
              <a:t>21</a:t>
            </a:fld>
            <a:endParaRPr lang="en-US" altLang="en-US">
              <a:solidFill>
                <a:srgbClr val="000000"/>
              </a:solidFill>
              <a:latin typeface="Arial" panose="020B0604020202020204" pitchFamily="34" charset="0"/>
              <a:ea typeface="Microsoft YaHei" panose="020B0503020204020204" pitchFamily="34" charset="-122"/>
            </a:endParaRPr>
          </a:p>
        </p:txBody>
      </p:sp>
      <p:sp>
        <p:nvSpPr>
          <p:cNvPr id="83971" name="Rectangle 1">
            <a:extLst>
              <a:ext uri="{FF2B5EF4-FFF2-40B4-BE49-F238E27FC236}">
                <a16:creationId xmlns:a16="http://schemas.microsoft.com/office/drawing/2014/main" id="{0BC0FF4E-8DFA-C941-FFAD-4BEACF1CA1E4}"/>
              </a:ext>
            </a:extLst>
          </p:cNvPr>
          <p:cNvSpPr>
            <a:spLocks noGrp="1" noRot="1" noChangeAspect="1" noChangeArrowheads="1" noTextEdit="1"/>
          </p:cNvSpPr>
          <p:nvPr>
            <p:ph type="sldImg"/>
          </p:nvPr>
        </p:nvSpPr>
        <p:spPr bwMode="auto">
          <a:xfrm>
            <a:off x="985838" y="768350"/>
            <a:ext cx="5133975" cy="3851275"/>
          </a:xfrm>
          <a:solidFill>
            <a:srgbClr val="FFFFFF"/>
          </a:solidFill>
          <a:ln>
            <a:solidFill>
              <a:srgbClr val="000000"/>
            </a:solidFill>
            <a:miter lim="800000"/>
            <a:headEnd/>
            <a:tailEnd/>
          </a:ln>
        </p:spPr>
      </p:sp>
      <p:sp>
        <p:nvSpPr>
          <p:cNvPr id="83972" name="Rectangle 2">
            <a:extLst>
              <a:ext uri="{FF2B5EF4-FFF2-40B4-BE49-F238E27FC236}">
                <a16:creationId xmlns:a16="http://schemas.microsoft.com/office/drawing/2014/main" id="{4DDD42C5-EB20-1DCB-AC4B-C1B09F7CB19B}"/>
              </a:ext>
            </a:extLst>
          </p:cNvPr>
          <p:cNvSpPr>
            <a:spLocks noGrp="1" noChangeArrowheads="1"/>
          </p:cNvSpPr>
          <p:nvPr>
            <p:ph type="body" idx="1"/>
          </p:nvPr>
        </p:nvSpPr>
        <p:spPr bwMode="auto">
          <a:xfrm>
            <a:off x="709352" y="4873363"/>
            <a:ext cx="5686059" cy="46192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656BA39-9C6E-4310-9943-10AA3CF6C359}" type="datetimeFigureOut">
              <a:rPr lang="en-US" smtClean="0"/>
              <a:pPr/>
              <a:t>10/25/2023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3AF5C3-F24E-4D1A-BAD7-9E322ABF4F4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656BA39-9C6E-4310-9943-10AA3CF6C359}" type="datetimeFigureOut">
              <a:rPr lang="en-US" smtClean="0"/>
              <a:pPr/>
              <a:t>10/25/2023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3AF5C3-F24E-4D1A-BAD7-9E322ABF4F4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56BA39-9C6E-4310-9943-10AA3CF6C359}" type="datetimeFigureOut">
              <a:rPr lang="en-US" smtClean="0"/>
              <a:pPr/>
              <a:t>10/25/2023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3AF5C3-F24E-4D1A-BAD7-9E322ABF4F4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656BA39-9C6E-4310-9943-10AA3CF6C359}" type="datetimeFigureOut">
              <a:rPr lang="en-US" smtClean="0"/>
              <a:pPr/>
              <a:t>10/25/2023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3AF5C3-F24E-4D1A-BAD7-9E322ABF4F4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656BA39-9C6E-4310-9943-10AA3CF6C359}" type="datetimeFigureOut">
              <a:rPr lang="en-US" smtClean="0"/>
              <a:pPr/>
              <a:t>10/25/2023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73AF5C3-F24E-4D1A-BAD7-9E322ABF4F4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656BA39-9C6E-4310-9943-10AA3CF6C359}" type="datetimeFigureOut">
              <a:rPr lang="en-US" smtClean="0"/>
              <a:pPr/>
              <a:t>10/25/2023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73AF5C3-F24E-4D1A-BAD7-9E322ABF4F4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56BA39-9C6E-4310-9943-10AA3CF6C359}" type="datetimeFigureOut">
              <a:rPr lang="en-US" smtClean="0"/>
              <a:pPr/>
              <a:t>10/25/2023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73AF5C3-F24E-4D1A-BAD7-9E322ABF4F4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56BA39-9C6E-4310-9943-10AA3CF6C359}" type="datetimeFigureOut">
              <a:rPr lang="en-US" smtClean="0"/>
              <a:pPr/>
              <a:t>10/25/2023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3AF5C3-F24E-4D1A-BAD7-9E322ABF4F4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56BA39-9C6E-4310-9943-10AA3CF6C359}" type="datetimeFigureOut">
              <a:rPr lang="en-US" smtClean="0"/>
              <a:pPr/>
              <a:t>10/25/2023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3AF5C3-F24E-4D1A-BAD7-9E322ABF4F4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656BA39-9C6E-4310-9943-10AA3CF6C359}" type="datetimeFigureOut">
              <a:rPr lang="en-US" smtClean="0"/>
              <a:pPr/>
              <a:t>10/25/2023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3AF5C3-F24E-4D1A-BAD7-9E322ABF4F4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656BA39-9C6E-4310-9943-10AA3CF6C359}" type="datetimeFigureOut">
              <a:rPr lang="en-US" smtClean="0"/>
              <a:pPr/>
              <a:t>10/25/2023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3AF5C3-F24E-4D1A-BAD7-9E322ABF4F4D}"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56BA39-9C6E-4310-9943-10AA3CF6C359}" type="datetimeFigureOut">
              <a:rPr lang="en-US" smtClean="0"/>
              <a:pPr/>
              <a:t>10/25/2023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3AF5C3-F24E-4D1A-BAD7-9E322ABF4F4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 /><Relationship Id="rId2" Type="http://schemas.openxmlformats.org/officeDocument/2006/relationships/image" Target="../media/image1.png" /><Relationship Id="rId1" Type="http://schemas.openxmlformats.org/officeDocument/2006/relationships/slideLayout" Target="../slideLayouts/slideLayout1.xml"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6.xml" /></Relationships>
</file>

<file path=ppt/slides/_rels/slide13.xml.rels><?xml version="1.0" encoding="UTF-8" standalone="yes"?>
<Relationships xmlns="http://schemas.openxmlformats.org/package/2006/relationships"><Relationship Id="rId3" Type="http://schemas.openxmlformats.org/officeDocument/2006/relationships/hyperlink" Target="https://tenders.nddb.coop/SitePages/Tenders.aspx" TargetMode="External" /><Relationship Id="rId2" Type="http://schemas.openxmlformats.org/officeDocument/2006/relationships/hyperlink" Target="http://www.nddb.coop/information/establishment-of-breed-multiplication-farms" TargetMode="External" /><Relationship Id="rId1" Type="http://schemas.openxmlformats.org/officeDocument/2006/relationships/slideLayout" Target="../slideLayouts/slideLayout7.xml" /><Relationship Id="rId4" Type="http://schemas.openxmlformats.org/officeDocument/2006/relationships/hyperlink" Target="https://eoi.nddb.coop/" TargetMode="External" /></Relationships>
</file>

<file path=ppt/slides/_rels/slide14.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3" Type="http://schemas.openxmlformats.org/officeDocument/2006/relationships/image" Target="../media/image8.svg" /><Relationship Id="rId2" Type="http://schemas.openxmlformats.org/officeDocument/2006/relationships/image" Target="../media/image7.png" /><Relationship Id="rId1" Type="http://schemas.openxmlformats.org/officeDocument/2006/relationships/slideLayout" Target="../slideLayouts/slideLayout7.xml" /><Relationship Id="rId4" Type="http://schemas.openxmlformats.org/officeDocument/2006/relationships/hyperlink" Target="http://tenders.nddb.coop/SitePages/Tenders.aspx" TargetMode="Externa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1.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1.xml" /><Relationship Id="rId1" Type="http://schemas.openxmlformats.org/officeDocument/2006/relationships/slideLayout" Target="../slideLayouts/slideLayout7.xml" /><Relationship Id="rId5" Type="http://schemas.openxmlformats.org/officeDocument/2006/relationships/image" Target="../media/image11.png" /><Relationship Id="rId4" Type="http://schemas.openxmlformats.org/officeDocument/2006/relationships/image" Target="../media/image10.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8243918" cy="1470025"/>
          </a:xfrm>
        </p:spPr>
        <p:txBody>
          <a:bodyPr>
            <a:normAutofit/>
          </a:bodyPr>
          <a:lstStyle/>
          <a:p>
            <a:r>
              <a:rPr lang="mr-IN" altLang="en-US" sz="4000" b="1" dirty="0">
                <a:solidFill>
                  <a:srgbClr val="00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राष्ट्रीय गोकुळ मिशन </a:t>
            </a:r>
            <a:br>
              <a:rPr lang="mr-IN" altLang="en-US" sz="4000" b="1" dirty="0">
                <a:solidFill>
                  <a:srgbClr val="00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br>
            <a:r>
              <a:rPr lang="en-US" sz="4000" b="1" i="0" dirty="0">
                <a:solidFill>
                  <a:srgbClr val="0000FF"/>
                </a:solidFill>
                <a:effectLst>
                  <a:outerShdw blurRad="38100" dist="38100" dir="2700000" algn="tl">
                    <a:srgbClr val="000000">
                      <a:alpha val="43137"/>
                    </a:srgbClr>
                  </a:outerShdw>
                </a:effectLst>
                <a:latin typeface="Helvetica Neue"/>
              </a:rPr>
              <a:t>(RGM)</a:t>
            </a:r>
          </a:p>
        </p:txBody>
      </p:sp>
      <p:sp>
        <p:nvSpPr>
          <p:cNvPr id="3" name="Subtitle 2"/>
          <p:cNvSpPr>
            <a:spLocks noGrp="1"/>
          </p:cNvSpPr>
          <p:nvPr>
            <p:ph type="subTitle" idx="1"/>
          </p:nvPr>
        </p:nvSpPr>
        <p:spPr/>
        <p:txBody>
          <a:bodyPr>
            <a:normAutofit lnSpcReduction="10000"/>
          </a:bodyPr>
          <a:lstStyle/>
          <a:p>
            <a:r>
              <a:rPr lang="mr-IN" sz="2400" dirty="0">
                <a:latin typeface="Sakal Marathi" panose="02000400000000000000" pitchFamily="2" charset="0"/>
                <a:cs typeface="Sakal Marathi" panose="02000400000000000000" pitchFamily="2" charset="0"/>
              </a:rPr>
              <a:t>डॉ.राजू एम. कोलते</a:t>
            </a:r>
          </a:p>
          <a:p>
            <a:r>
              <a:rPr lang="mr-IN" sz="2400" dirty="0">
                <a:latin typeface="Sakal Marathi" panose="02000400000000000000" pitchFamily="2" charset="0"/>
                <a:cs typeface="Sakal Marathi" panose="02000400000000000000" pitchFamily="2" charset="0"/>
              </a:rPr>
              <a:t>सहाय्यक आयुक्त पशुसंवर्धन</a:t>
            </a:r>
          </a:p>
          <a:p>
            <a:r>
              <a:rPr lang="mr-IN" sz="2400" dirty="0">
                <a:latin typeface="Sakal Marathi" panose="02000400000000000000" pitchFamily="2" charset="0"/>
                <a:cs typeface="Sakal Marathi" panose="02000400000000000000" pitchFamily="2" charset="0"/>
              </a:rPr>
              <a:t>नियोजन आणि अंदाज विभाग </a:t>
            </a:r>
          </a:p>
          <a:p>
            <a:r>
              <a:rPr lang="mr-IN" sz="2400" dirty="0">
                <a:latin typeface="Sakal Marathi" panose="02000400000000000000" pitchFamily="2" charset="0"/>
                <a:cs typeface="Sakal Marathi" panose="02000400000000000000" pitchFamily="2" charset="0"/>
              </a:rPr>
              <a:t>पशुसंवर्धन आयुक्तालय, पुणे.</a:t>
            </a:r>
            <a:endParaRPr lang="en-IN" sz="2400" dirty="0">
              <a:latin typeface="Sakal Marathi" panose="02000400000000000000" pitchFamily="2" charset="0"/>
              <a:cs typeface="Sakal Marathi" panose="02000400000000000000" pitchFamily="2" charset="0"/>
            </a:endParaRPr>
          </a:p>
        </p:txBody>
      </p:sp>
      <p:pic>
        <p:nvPicPr>
          <p:cNvPr id="4" name="Picture 5" descr="D:\Untitled Export\logoEnglish.png"/>
          <p:cNvPicPr>
            <a:picLocks noChangeAspect="1" noChangeArrowheads="1"/>
          </p:cNvPicPr>
          <p:nvPr/>
        </p:nvPicPr>
        <p:blipFill>
          <a:blip r:embed="rId2" cstate="print"/>
          <a:srcRect/>
          <a:stretch>
            <a:fillRect/>
          </a:stretch>
        </p:blipFill>
        <p:spPr bwMode="auto">
          <a:xfrm>
            <a:off x="285720" y="642918"/>
            <a:ext cx="1258244" cy="1447800"/>
          </a:xfrm>
          <a:prstGeom prst="rect">
            <a:avLst/>
          </a:prstGeom>
          <a:noFill/>
        </p:spPr>
      </p:pic>
      <p:pic>
        <p:nvPicPr>
          <p:cNvPr id="5" name="Picture 4" descr="D:\Untitled Export\india.gif"/>
          <p:cNvPicPr>
            <a:picLocks noChangeAspect="1" noChangeArrowheads="1"/>
          </p:cNvPicPr>
          <p:nvPr/>
        </p:nvPicPr>
        <p:blipFill>
          <a:blip r:embed="rId3" cstate="print"/>
          <a:srcRect/>
          <a:stretch>
            <a:fillRect/>
          </a:stretch>
        </p:blipFill>
        <p:spPr bwMode="auto">
          <a:xfrm>
            <a:off x="3886201" y="76201"/>
            <a:ext cx="838199" cy="942974"/>
          </a:xfrm>
          <a:prstGeom prst="rect">
            <a:avLst/>
          </a:prstGeom>
          <a:noFill/>
        </p:spPr>
      </p:pic>
      <p:pic>
        <p:nvPicPr>
          <p:cNvPr id="6" name="Picture 8"/>
          <p:cNvPicPr>
            <a:picLocks noChangeAspect="1" noChangeArrowheads="1"/>
          </p:cNvPicPr>
          <p:nvPr/>
        </p:nvPicPr>
        <p:blipFill>
          <a:blip r:embed="rId4" cstate="print"/>
          <a:srcRect/>
          <a:stretch>
            <a:fillRect/>
          </a:stretch>
        </p:blipFill>
        <p:spPr bwMode="auto">
          <a:xfrm>
            <a:off x="7500958" y="571480"/>
            <a:ext cx="1081882" cy="1006999"/>
          </a:xfrm>
          <a:prstGeom prst="rect">
            <a:avLst/>
          </a:prstGeom>
          <a:noFill/>
          <a:ln w="9525">
            <a:noFill/>
            <a:miter lim="800000"/>
            <a:headEnd/>
            <a:tailEnd/>
          </a:ln>
        </p:spPr>
      </p:pic>
      <p:sp>
        <p:nvSpPr>
          <p:cNvPr id="9" name="Rectangle 3">
            <a:extLst>
              <a:ext uri="{FF2B5EF4-FFF2-40B4-BE49-F238E27FC236}">
                <a16:creationId xmlns:a16="http://schemas.microsoft.com/office/drawing/2014/main" id="{9FE2FEC5-2D09-EAB7-DD50-DB1747D34AF7}"/>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2F28E9-B590-13E5-BFFA-054F67E8E235}"/>
              </a:ext>
            </a:extLst>
          </p:cNvPr>
          <p:cNvSpPr txBox="1"/>
          <p:nvPr/>
        </p:nvSpPr>
        <p:spPr>
          <a:xfrm>
            <a:off x="323528" y="567284"/>
            <a:ext cx="8712968" cy="6140142"/>
          </a:xfrm>
          <a:prstGeom prst="rect">
            <a:avLst/>
          </a:prstGeom>
          <a:noFill/>
        </p:spPr>
        <p:txBody>
          <a:bodyPr wrap="square">
            <a:spAutoFit/>
          </a:bodyPr>
          <a:lstStyle/>
          <a:p>
            <a:pPr algn="just">
              <a:lnSpc>
                <a:spcPct val="150000"/>
              </a:lnSpc>
            </a:pPr>
            <a:r>
              <a:rPr lang="en-US" sz="2400" dirty="0"/>
              <a:t>	</a:t>
            </a:r>
            <a:r>
              <a:rPr lang="mr-IN" sz="2400" dirty="0">
                <a:latin typeface="Sakal Marathi" panose="02000400000000000000" pitchFamily="2" charset="0"/>
                <a:cs typeface="Sakal Marathi" panose="02000400000000000000" pitchFamily="2" charset="0"/>
              </a:rPr>
              <a:t>राष्ट्रीय गोकुळ मिशन (</a:t>
            </a:r>
            <a:r>
              <a:rPr lang="en-US" sz="2400" dirty="0">
                <a:latin typeface="Sakal Marathi" panose="02000400000000000000" pitchFamily="2" charset="0"/>
                <a:cs typeface="Sakal Marathi" panose="02000400000000000000" pitchFamily="2" charset="0"/>
              </a:rPr>
              <a:t>RGM) </a:t>
            </a:r>
            <a:r>
              <a:rPr lang="mr-IN" sz="2400" dirty="0">
                <a:latin typeface="Sakal Marathi" panose="02000400000000000000" pitchFamily="2" charset="0"/>
                <a:cs typeface="Sakal Marathi" panose="02000400000000000000" pitchFamily="2" charset="0"/>
              </a:rPr>
              <a:t>डिसेंबर 2014 पासून देशी गोवंशाच्या जातींच्या विकास आणि संवर्धनासाठी राबविण्यात येत आहे. दुधाची वाढती मागणी पूर्ण करण्यासाठी आणि दुग्धव्यवसाय अधिक फायदेशीर बनवण्यासाठी ही योजना दुग्धोत्पादन आणि गोवंशांची उत्पादकता वाढवण्यासाठी महत्त्वपूर्ण आहे.</a:t>
            </a:r>
            <a:endParaRPr lang="en-US" sz="2400" dirty="0">
              <a:latin typeface="Sakal Marathi" panose="02000400000000000000" pitchFamily="2" charset="0"/>
              <a:cs typeface="Sakal Marathi" panose="02000400000000000000" pitchFamily="2" charset="0"/>
            </a:endParaRPr>
          </a:p>
          <a:p>
            <a:pPr algn="just">
              <a:lnSpc>
                <a:spcPct val="150000"/>
              </a:lnSpc>
            </a:pPr>
            <a:r>
              <a:rPr lang="en-US" sz="2400" dirty="0">
                <a:latin typeface="Sakal Marathi" panose="02000400000000000000" pitchFamily="2" charset="0"/>
                <a:cs typeface="Sakal Marathi" panose="02000400000000000000" pitchFamily="2" charset="0"/>
              </a:rPr>
              <a:t>	</a:t>
            </a:r>
            <a:r>
              <a:rPr lang="mr-IN" sz="2400" dirty="0">
                <a:latin typeface="Sakal Marathi" panose="02000400000000000000" pitchFamily="2" charset="0"/>
                <a:cs typeface="Sakal Marathi" panose="02000400000000000000" pitchFamily="2" charset="0"/>
              </a:rPr>
              <a:t>ही योजना राष्ट्रीय पशुधन विकास योजनेअंतर्गत 2021 ते 2026 या कालावधीत </a:t>
            </a:r>
            <a:r>
              <a:rPr lang="mr-IN" sz="2400" b="1" dirty="0">
                <a:latin typeface="Sakal Marathi" panose="02000400000000000000" pitchFamily="2" charset="0"/>
                <a:cs typeface="Sakal Marathi" panose="02000400000000000000" pitchFamily="2" charset="0"/>
              </a:rPr>
              <a:t>रु. 2400 कोटी </a:t>
            </a:r>
            <a:r>
              <a:rPr lang="mr-IN" sz="2400" dirty="0">
                <a:latin typeface="Sakal Marathi" panose="02000400000000000000" pitchFamily="2" charset="0"/>
                <a:cs typeface="Sakal Marathi" panose="02000400000000000000" pitchFamily="2" charset="0"/>
              </a:rPr>
              <a:t>बजेट खर्चासह चालू ठेवली आहे.</a:t>
            </a:r>
          </a:p>
          <a:p>
            <a:pPr algn="just">
              <a:lnSpc>
                <a:spcPct val="150000"/>
              </a:lnSpc>
            </a:pPr>
            <a:r>
              <a:rPr lang="mr-IN" sz="2400" dirty="0">
                <a:latin typeface="Sakal Marathi" panose="02000400000000000000" pitchFamily="2" charset="0"/>
                <a:cs typeface="Sakal Marathi" panose="02000400000000000000" pitchFamily="2" charset="0"/>
              </a:rPr>
              <a:t>	</a:t>
            </a:r>
            <a:r>
              <a:rPr lang="en-US" sz="2400" dirty="0">
                <a:latin typeface="Sakal Marathi" panose="02000400000000000000" pitchFamily="2" charset="0"/>
                <a:cs typeface="Sakal Marathi" panose="02000400000000000000" pitchFamily="2" charset="0"/>
              </a:rPr>
              <a:t>RGM </a:t>
            </a:r>
            <a:r>
              <a:rPr lang="mr-IN" sz="2400" dirty="0">
                <a:latin typeface="Sakal Marathi" panose="02000400000000000000" pitchFamily="2" charset="0"/>
                <a:cs typeface="Sakal Marathi" panose="02000400000000000000" pitchFamily="2" charset="0"/>
              </a:rPr>
              <a:t>मुळे भारतातील सर्व गायी आणि म्हशींना विशेषत: लहान आणि अल्पभूधारक शेतकर्‍यांपर्यंत पोहोचून या कार्यक्रमाची उत्पादकता आणि लाभ वाढेल. या कार्यक्रमाचा विशेषत: महिलांनाही फायदा होईल कारण पशुपालनातील 70% पेक्षा जास्त काम महिलांनीच केले आहे.</a:t>
            </a:r>
            <a:endParaRPr lang="en-US" sz="2000" dirty="0">
              <a:latin typeface="Sakal Marathi" panose="02000400000000000000" pitchFamily="2" charset="0"/>
              <a:cs typeface="Sakal Marathi" panose="02000400000000000000" pitchFamily="2" charset="0"/>
            </a:endParaRPr>
          </a:p>
        </p:txBody>
      </p:sp>
      <p:sp>
        <p:nvSpPr>
          <p:cNvPr id="5" name="TextBox 4">
            <a:extLst>
              <a:ext uri="{FF2B5EF4-FFF2-40B4-BE49-F238E27FC236}">
                <a16:creationId xmlns:a16="http://schemas.microsoft.com/office/drawing/2014/main" id="{FF37A932-2065-5D9C-CEC3-6B35F5BF0620}"/>
              </a:ext>
            </a:extLst>
          </p:cNvPr>
          <p:cNvSpPr txBox="1"/>
          <p:nvPr/>
        </p:nvSpPr>
        <p:spPr>
          <a:xfrm>
            <a:off x="2555776" y="116632"/>
            <a:ext cx="4572000" cy="461665"/>
          </a:xfrm>
          <a:prstGeom prst="rect">
            <a:avLst/>
          </a:prstGeom>
          <a:noFill/>
        </p:spPr>
        <p:txBody>
          <a:bodyPr wrap="square">
            <a:spAutoFit/>
          </a:bodyPr>
          <a:lstStyle/>
          <a:p>
            <a:pPr algn="ctr"/>
            <a:r>
              <a:rPr lang="mr-IN" sz="24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राष्ट्रीय गोकुळ मिशन </a:t>
            </a:r>
            <a:endParaRPr lang="en-US" sz="24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endParaRPr>
          </a:p>
        </p:txBody>
      </p:sp>
    </p:spTree>
    <p:extLst>
      <p:ext uri="{BB962C8B-B14F-4D97-AF65-F5344CB8AC3E}">
        <p14:creationId xmlns:p14="http://schemas.microsoft.com/office/powerpoint/2010/main" val="3498425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0D3ED-C221-FFBF-E3CF-520A76D87266}"/>
              </a:ext>
            </a:extLst>
          </p:cNvPr>
          <p:cNvSpPr>
            <a:spLocks noGrp="1"/>
          </p:cNvSpPr>
          <p:nvPr>
            <p:ph type="title"/>
          </p:nvPr>
        </p:nvSpPr>
        <p:spPr/>
        <p:txBody>
          <a:bodyPr>
            <a:normAutofit fontScale="90000"/>
          </a:bodyPr>
          <a:lstStyle/>
          <a:p>
            <a:r>
              <a:rPr lang="en-US" b="0" i="0" dirty="0">
                <a:solidFill>
                  <a:srgbClr val="000000"/>
                </a:solidFill>
                <a:effectLst/>
                <a:latin typeface="Calibri" panose="020F0502020204030204" pitchFamily="34" charset="0"/>
              </a:rPr>
              <a:t>Approved BMF applications in Maharashtra</a:t>
            </a:r>
            <a:endParaRPr lang="en-US" dirty="0"/>
          </a:p>
        </p:txBody>
      </p:sp>
      <p:graphicFrame>
        <p:nvGraphicFramePr>
          <p:cNvPr id="3" name="Table 2">
            <a:extLst>
              <a:ext uri="{FF2B5EF4-FFF2-40B4-BE49-F238E27FC236}">
                <a16:creationId xmlns:a16="http://schemas.microsoft.com/office/drawing/2014/main" id="{BAC83E1F-AD79-F8A8-5FF0-8BDA4558F992}"/>
              </a:ext>
            </a:extLst>
          </p:cNvPr>
          <p:cNvGraphicFramePr>
            <a:graphicFrameLocks noGrp="1"/>
          </p:cNvGraphicFramePr>
          <p:nvPr>
            <p:extLst>
              <p:ext uri="{D42A27DB-BD31-4B8C-83A1-F6EECF244321}">
                <p14:modId xmlns:p14="http://schemas.microsoft.com/office/powerpoint/2010/main" val="3710596716"/>
              </p:ext>
            </p:extLst>
          </p:nvPr>
        </p:nvGraphicFramePr>
        <p:xfrm>
          <a:off x="251520" y="1441649"/>
          <a:ext cx="7704853" cy="5017770"/>
        </p:xfrm>
        <a:graphic>
          <a:graphicData uri="http://schemas.openxmlformats.org/drawingml/2006/table">
            <a:tbl>
              <a:tblPr/>
              <a:tblGrid>
                <a:gridCol w="504056">
                  <a:extLst>
                    <a:ext uri="{9D8B030D-6E8A-4147-A177-3AD203B41FA5}">
                      <a16:colId xmlns:a16="http://schemas.microsoft.com/office/drawing/2014/main" val="140845583"/>
                    </a:ext>
                  </a:extLst>
                </a:gridCol>
                <a:gridCol w="3555988">
                  <a:extLst>
                    <a:ext uri="{9D8B030D-6E8A-4147-A177-3AD203B41FA5}">
                      <a16:colId xmlns:a16="http://schemas.microsoft.com/office/drawing/2014/main" val="687878997"/>
                    </a:ext>
                  </a:extLst>
                </a:gridCol>
                <a:gridCol w="1061148">
                  <a:extLst>
                    <a:ext uri="{9D8B030D-6E8A-4147-A177-3AD203B41FA5}">
                      <a16:colId xmlns:a16="http://schemas.microsoft.com/office/drawing/2014/main" val="3383132925"/>
                    </a:ext>
                  </a:extLst>
                </a:gridCol>
                <a:gridCol w="1107285">
                  <a:extLst>
                    <a:ext uri="{9D8B030D-6E8A-4147-A177-3AD203B41FA5}">
                      <a16:colId xmlns:a16="http://schemas.microsoft.com/office/drawing/2014/main" val="2839449734"/>
                    </a:ext>
                  </a:extLst>
                </a:gridCol>
                <a:gridCol w="738188">
                  <a:extLst>
                    <a:ext uri="{9D8B030D-6E8A-4147-A177-3AD203B41FA5}">
                      <a16:colId xmlns:a16="http://schemas.microsoft.com/office/drawing/2014/main" val="1462551052"/>
                    </a:ext>
                  </a:extLst>
                </a:gridCol>
                <a:gridCol w="738188">
                  <a:extLst>
                    <a:ext uri="{9D8B030D-6E8A-4147-A177-3AD203B41FA5}">
                      <a16:colId xmlns:a16="http://schemas.microsoft.com/office/drawing/2014/main" val="243043189"/>
                    </a:ext>
                  </a:extLst>
                </a:gridCol>
              </a:tblGrid>
              <a:tr h="0">
                <a:tc>
                  <a:txBody>
                    <a:bodyPr/>
                    <a:lstStyle/>
                    <a:p>
                      <a:pPr algn="l" fontAlgn="ctr"/>
                      <a:r>
                        <a:rPr lang="en-US" sz="1200" b="0" i="0" u="none" strike="noStrike" dirty="0" err="1">
                          <a:solidFill>
                            <a:srgbClr val="000000"/>
                          </a:solidFill>
                          <a:effectLst/>
                          <a:latin typeface="Calibri" panose="020F0502020204030204" pitchFamily="34" charset="0"/>
                        </a:rPr>
                        <a:t>Sr.No</a:t>
                      </a:r>
                      <a:r>
                        <a:rPr lang="en-US" sz="1200" b="0" i="0" u="none" strike="noStrike" dirty="0">
                          <a:solidFill>
                            <a:srgbClr val="000000"/>
                          </a:solidFill>
                          <a:effectLst/>
                          <a:latin typeface="Calibri" panose="020F0502020204030204" pitchFamily="34" charset="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latin typeface="Calibri" panose="020F0502020204030204" pitchFamily="34" charset="0"/>
                        </a:rPr>
                        <a:t>Name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latin typeface="Calibri" panose="020F0502020204030204" pitchFamily="34" charset="0"/>
                        </a:rPr>
                        <a:t>State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latin typeface="Calibri" panose="020F0502020204030204" pitchFamily="34" charset="0"/>
                        </a:rPr>
                        <a:t>District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Status of Subsidy released (Lakh)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96559257"/>
                  </a:ext>
                </a:extLst>
              </a:tr>
              <a:tr h="400050">
                <a:tc>
                  <a:txBody>
                    <a:bodyPr/>
                    <a:lstStyle/>
                    <a:p>
                      <a:pPr algn="l" fontAlgn="ctr"/>
                      <a:r>
                        <a:rPr lang="en-US" sz="1200" b="0" i="0" u="none" strike="noStrike" dirty="0">
                          <a:solidFill>
                            <a:srgbClr val="000000"/>
                          </a:solidFill>
                          <a:effectLst/>
                          <a:highlight>
                            <a:srgbClr val="FFFF00"/>
                          </a:highlight>
                          <a:latin typeface="Calibri" panose="020F050202020403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dirty="0">
                          <a:solidFill>
                            <a:srgbClr val="000000"/>
                          </a:solidFill>
                          <a:effectLst/>
                          <a:highlight>
                            <a:srgbClr val="FFFF00"/>
                          </a:highlight>
                          <a:latin typeface="Calibri" panose="020F0502020204030204" pitchFamily="34" charset="0"/>
                        </a:rPr>
                        <a:t>AIC-ADT Baramati Foundation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FFFF00"/>
                          </a:highlight>
                          <a:latin typeface="Calibri" panose="020F0502020204030204" pitchFamily="34" charset="0"/>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FFFF00"/>
                          </a:highlight>
                          <a:latin typeface="Calibri" panose="020F0502020204030204" pitchFamily="34" charset="0"/>
                        </a:rPr>
                        <a:t>Pune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dirty="0">
                          <a:solidFill>
                            <a:srgbClr val="000000"/>
                          </a:solidFill>
                          <a:effectLst/>
                          <a:highlight>
                            <a:srgbClr val="FFFF00"/>
                          </a:highlight>
                          <a:latin typeface="Calibri" panose="020F0502020204030204" pitchFamily="34" charset="0"/>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dirty="0">
                          <a:solidFill>
                            <a:srgbClr val="000000"/>
                          </a:solidFill>
                          <a:effectLst/>
                          <a:highlight>
                            <a:srgbClr val="FFFF00"/>
                          </a:highlight>
                          <a:latin typeface="Calibri" panose="020F0502020204030204" pitchFamily="34" charset="0"/>
                        </a:rPr>
                        <a:t> 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63658439"/>
                  </a:ext>
                </a:extLst>
              </a:tr>
              <a:tr h="200025">
                <a:tc>
                  <a:txBody>
                    <a:bodyPr/>
                    <a:lstStyle/>
                    <a:p>
                      <a:pPr algn="l" fontAlgn="ctr"/>
                      <a:r>
                        <a:rPr lang="en-US" sz="1200" b="0" i="0" u="none" strike="noStrike" dirty="0">
                          <a:solidFill>
                            <a:srgbClr val="000000"/>
                          </a:solidFill>
                          <a:effectLst/>
                          <a:highlight>
                            <a:srgbClr val="FF00FF"/>
                          </a:highlight>
                          <a:latin typeface="Calibri" panose="020F0502020204030204" pitchFamily="34"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FF00FF"/>
                          </a:highlight>
                          <a:latin typeface="Calibri" panose="020F0502020204030204" pitchFamily="34" charset="0"/>
                        </a:rPr>
                        <a:t>Bhaskar Balajirao Unchadkar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FF00FF"/>
                          </a:highlight>
                          <a:latin typeface="Calibri" panose="020F0502020204030204" pitchFamily="34" charset="0"/>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dirty="0">
                          <a:solidFill>
                            <a:srgbClr val="000000"/>
                          </a:solidFill>
                          <a:effectLst/>
                          <a:highlight>
                            <a:srgbClr val="FF00FF"/>
                          </a:highlight>
                          <a:latin typeface="Calibri" panose="020F0502020204030204" pitchFamily="34" charset="0"/>
                        </a:rPr>
                        <a:t>Nanded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100" b="0" i="0" u="none" strike="noStrike" dirty="0">
                          <a:solidFill>
                            <a:srgbClr val="000000"/>
                          </a:solidFill>
                          <a:effectLst/>
                          <a:highlight>
                            <a:srgbClr val="FF00FF"/>
                          </a:highligh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highlight>
                            <a:srgbClr val="FF00FF"/>
                          </a:highligh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282153"/>
                  </a:ext>
                </a:extLst>
              </a:tr>
              <a:tr h="200025">
                <a:tc>
                  <a:txBody>
                    <a:bodyPr/>
                    <a:lstStyle/>
                    <a:p>
                      <a:pPr algn="l" fontAlgn="ctr"/>
                      <a:r>
                        <a:rPr lang="en-US" sz="1200" b="0" i="0" u="none" strike="noStrike" kern="1200" dirty="0">
                          <a:solidFill>
                            <a:srgbClr val="000000"/>
                          </a:solidFill>
                          <a:effectLst/>
                          <a:highlight>
                            <a:srgbClr val="FFFF00"/>
                          </a:highlight>
                          <a:latin typeface="Calibri" panose="020F0502020204030204" pitchFamily="34" charset="0"/>
                          <a:ea typeface="+mn-ea"/>
                          <a:cs typeface="+mn-cs"/>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Dattatray Sambhaji Doifode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Pune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200" b="0" i="0" u="none" strike="noStrike" kern="1200" dirty="0">
                          <a:solidFill>
                            <a:srgbClr val="000000"/>
                          </a:solidFill>
                          <a:effectLst/>
                          <a:highlight>
                            <a:srgbClr val="FFFF00"/>
                          </a:highlight>
                          <a:latin typeface="Calibri" panose="020F0502020204030204" pitchFamily="34" charset="0"/>
                          <a:ea typeface="+mn-ea"/>
                          <a:cs typeface="+mn-cs"/>
                        </a:rPr>
                        <a:t> 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200" b="0" i="0" u="none" strike="noStrike" kern="1200" dirty="0">
                        <a:solidFill>
                          <a:srgbClr val="000000"/>
                        </a:solidFill>
                        <a:effectLst/>
                        <a:highlight>
                          <a:srgbClr val="FFFF00"/>
                        </a:highligh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5816815"/>
                  </a:ext>
                </a:extLst>
              </a:tr>
              <a:tr h="228600">
                <a:tc>
                  <a:txBody>
                    <a:bodyPr/>
                    <a:lstStyle/>
                    <a:p>
                      <a:pPr algn="l" fontAlgn="ctr"/>
                      <a:r>
                        <a:rPr lang="en-US" sz="1200" b="0" i="0" u="none" strike="noStrike" kern="1200" dirty="0">
                          <a:solidFill>
                            <a:srgbClr val="000000"/>
                          </a:solidFill>
                          <a:effectLst/>
                          <a:highlight>
                            <a:srgbClr val="FFFF00"/>
                          </a:highlight>
                          <a:latin typeface="Calibri" panose="020F0502020204030204" pitchFamily="34" charset="0"/>
                          <a:ea typeface="+mn-ea"/>
                          <a:cs typeface="+mn-cs"/>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DINESH CHHAGANLAL RATHOD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Pune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200" b="0" i="0" u="none" strike="noStrike" kern="1200" dirty="0">
                          <a:solidFill>
                            <a:srgbClr val="000000"/>
                          </a:solidFill>
                          <a:effectLst/>
                          <a:highlight>
                            <a:srgbClr val="FFFF00"/>
                          </a:highlight>
                          <a:latin typeface="Calibri" panose="020F0502020204030204" pitchFamily="34" charset="0"/>
                          <a:ea typeface="+mn-ea"/>
                          <a:cs typeface="+mn-cs"/>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200" b="0" i="0" u="none" strike="noStrike" kern="1200" dirty="0">
                        <a:solidFill>
                          <a:srgbClr val="000000"/>
                        </a:solidFill>
                        <a:effectLst/>
                        <a:highlight>
                          <a:srgbClr val="FFFF00"/>
                        </a:highligh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3806084"/>
                  </a:ext>
                </a:extLst>
              </a:tr>
              <a:tr h="200025">
                <a:tc>
                  <a:txBody>
                    <a:bodyPr/>
                    <a:lstStyle/>
                    <a:p>
                      <a:pPr algn="l" fontAlgn="ctr"/>
                      <a:r>
                        <a:rPr lang="en-US" sz="1200" b="0" i="0" u="none" strike="noStrike" dirty="0">
                          <a:solidFill>
                            <a:srgbClr val="000000"/>
                          </a:solidFill>
                          <a:effectLst/>
                          <a:highlight>
                            <a:srgbClr val="00FF00"/>
                          </a:highlight>
                          <a:latin typeface="Calibri" panose="020F0502020204030204" pitchFamily="34"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00FF00"/>
                          </a:highlight>
                          <a:latin typeface="Calibri" panose="020F0502020204030204" pitchFamily="34" charset="0"/>
                        </a:rPr>
                        <a:t>Faruk isak chaus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00FF00"/>
                          </a:highlight>
                          <a:latin typeface="Calibri" panose="020F0502020204030204" pitchFamily="34" charset="0"/>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dirty="0">
                          <a:solidFill>
                            <a:srgbClr val="000000"/>
                          </a:solidFill>
                          <a:effectLst/>
                          <a:highlight>
                            <a:srgbClr val="00FF00"/>
                          </a:highlight>
                          <a:latin typeface="Calibri" panose="020F0502020204030204" pitchFamily="34" charset="0"/>
                        </a:rPr>
                        <a:t>Sangli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100" b="0" i="0" u="none" strike="noStrike" dirty="0">
                          <a:solidFill>
                            <a:srgbClr val="000000"/>
                          </a:solidFill>
                          <a:effectLst/>
                          <a:highlight>
                            <a:srgbClr val="00FF00"/>
                          </a:highligh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highlight>
                            <a:srgbClr val="00FF00"/>
                          </a:highligh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4087805"/>
                  </a:ext>
                </a:extLst>
              </a:tr>
              <a:tr h="200025">
                <a:tc>
                  <a:txBody>
                    <a:bodyPr/>
                    <a:lstStyle/>
                    <a:p>
                      <a:pPr marL="0" algn="l" defTabSz="914400" rtl="0" eaLnBrk="1" fontAlgn="ctr" latinLnBrk="0" hangingPunct="1"/>
                      <a:r>
                        <a:rPr lang="en-US" sz="1200" b="0" i="0" u="none" strike="noStrike" kern="1200" dirty="0">
                          <a:solidFill>
                            <a:srgbClr val="000000"/>
                          </a:solidFill>
                          <a:effectLst/>
                          <a:highlight>
                            <a:srgbClr val="FF00FF"/>
                          </a:highlight>
                          <a:latin typeface="Calibri" panose="020F0502020204030204" pitchFamily="34" charset="0"/>
                          <a:ea typeface="+mn-ea"/>
                          <a:cs typeface="+mn-cs"/>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l" defTabSz="914400" rtl="0" eaLnBrk="1" fontAlgn="ctr" latinLnBrk="0" hangingPunct="1"/>
                      <a:r>
                        <a:rPr lang="en-US" sz="1200" b="0" i="0" u="none" strike="noStrike" kern="1200">
                          <a:solidFill>
                            <a:srgbClr val="000000"/>
                          </a:solidFill>
                          <a:effectLst/>
                          <a:highlight>
                            <a:srgbClr val="FF00FF"/>
                          </a:highlight>
                          <a:latin typeface="Calibri" panose="020F0502020204030204" pitchFamily="34" charset="0"/>
                          <a:ea typeface="+mn-ea"/>
                          <a:cs typeface="+mn-cs"/>
                        </a:rPr>
                        <a:t>Gajarabai Nivrutti Wadgaonkar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l" defTabSz="914400" rtl="0" eaLnBrk="1" fontAlgn="ctr" latinLnBrk="0" hangingPunct="1"/>
                      <a:r>
                        <a:rPr lang="en-US" sz="1200" b="0" i="0" u="none" strike="noStrike" kern="1200">
                          <a:solidFill>
                            <a:srgbClr val="000000"/>
                          </a:solidFill>
                          <a:effectLst/>
                          <a:highlight>
                            <a:srgbClr val="FF00FF"/>
                          </a:highlight>
                          <a:latin typeface="Calibri" panose="020F0502020204030204" pitchFamily="34" charset="0"/>
                          <a:ea typeface="+mn-ea"/>
                          <a:cs typeface="+mn-cs"/>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l" defTabSz="914400" rtl="0" eaLnBrk="1" fontAlgn="ctr" latinLnBrk="0" hangingPunct="1"/>
                      <a:r>
                        <a:rPr lang="en-US" sz="1200" b="0" i="0" u="none" strike="noStrike" kern="1200">
                          <a:solidFill>
                            <a:srgbClr val="000000"/>
                          </a:solidFill>
                          <a:effectLst/>
                          <a:highlight>
                            <a:srgbClr val="FF00FF"/>
                          </a:highlight>
                          <a:latin typeface="Calibri" panose="020F0502020204030204" pitchFamily="34" charset="0"/>
                          <a:ea typeface="+mn-ea"/>
                          <a:cs typeface="+mn-cs"/>
                        </a:rPr>
                        <a:t>Nanded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l" defTabSz="914400" rtl="0" eaLnBrk="1" fontAlgn="ctr" latinLnBrk="0" hangingPunct="1"/>
                      <a:r>
                        <a:rPr lang="en-US" sz="1200" b="0" i="0" u="none" strike="noStrike" kern="1200" dirty="0">
                          <a:solidFill>
                            <a:srgbClr val="000000"/>
                          </a:solidFill>
                          <a:effectLst/>
                          <a:highlight>
                            <a:srgbClr val="FF00FF"/>
                          </a:highlight>
                          <a:latin typeface="Calibri" panose="020F0502020204030204" pitchFamily="34" charset="0"/>
                          <a:ea typeface="+mn-ea"/>
                          <a:cs typeface="+mn-cs"/>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endParaRPr lang="en-US" sz="1200" b="0" i="0" u="none" strike="noStrike" kern="1200" dirty="0">
                        <a:solidFill>
                          <a:srgbClr val="000000"/>
                        </a:solidFill>
                        <a:effectLst/>
                        <a:highlight>
                          <a:srgbClr val="FF00FF"/>
                        </a:highligh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620345"/>
                  </a:ext>
                </a:extLst>
              </a:tr>
              <a:tr h="200025">
                <a:tc>
                  <a:txBody>
                    <a:bodyPr/>
                    <a:lstStyle/>
                    <a:p>
                      <a:pPr algn="l" fontAlgn="ctr"/>
                      <a:r>
                        <a:rPr lang="en-US" sz="1200" b="0" i="0" u="none" strike="noStrike" kern="1200" dirty="0">
                          <a:solidFill>
                            <a:srgbClr val="000000"/>
                          </a:solidFill>
                          <a:effectLst/>
                          <a:highlight>
                            <a:srgbClr val="FFFF00"/>
                          </a:highlight>
                          <a:latin typeface="Calibri" panose="020F0502020204030204" pitchFamily="34" charset="0"/>
                          <a:ea typeface="+mn-ea"/>
                          <a:cs typeface="+mn-cs"/>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GANESH AMRUT SATAV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Pune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200" b="0" i="0" u="none" strike="noStrike" kern="1200" dirty="0">
                          <a:solidFill>
                            <a:srgbClr val="000000"/>
                          </a:solidFill>
                          <a:effectLst/>
                          <a:highlight>
                            <a:srgbClr val="FFFF00"/>
                          </a:highlight>
                          <a:latin typeface="Calibri" panose="020F0502020204030204" pitchFamily="34" charset="0"/>
                          <a:ea typeface="+mn-ea"/>
                          <a:cs typeface="+mn-cs"/>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200" b="0" i="0" u="none" strike="noStrike" kern="1200" dirty="0">
                        <a:solidFill>
                          <a:srgbClr val="000000"/>
                        </a:solidFill>
                        <a:effectLst/>
                        <a:highlight>
                          <a:srgbClr val="FFFF00"/>
                        </a:highligh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6487605"/>
                  </a:ext>
                </a:extLst>
              </a:tr>
              <a:tr h="200025">
                <a:tc>
                  <a:txBody>
                    <a:bodyPr/>
                    <a:lstStyle/>
                    <a:p>
                      <a:pPr algn="l" fontAlgn="ctr"/>
                      <a:r>
                        <a:rPr lang="en-US" sz="1200" b="0" i="0" u="none" strike="noStrike" dirty="0">
                          <a:solidFill>
                            <a:srgbClr val="000000"/>
                          </a:solidFill>
                          <a:effectLst/>
                          <a:latin typeface="Calibri" panose="020F0502020204030204" pitchFamily="34"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latin typeface="Calibri" panose="020F0502020204030204" pitchFamily="34" charset="0"/>
                        </a:rPr>
                        <a:t>Kamlakar Dhanraj Chopade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latin typeface="Calibri" panose="020F0502020204030204" pitchFamily="34" charset="0"/>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latin typeface="Calibri" panose="020F0502020204030204" pitchFamily="34" charset="0"/>
                        </a:rPr>
                        <a:t>Nagpur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1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7361068"/>
                  </a:ext>
                </a:extLst>
              </a:tr>
              <a:tr h="200025">
                <a:tc>
                  <a:txBody>
                    <a:bodyPr/>
                    <a:lstStyle/>
                    <a:p>
                      <a:pPr algn="l" fontAlgn="ctr"/>
                      <a:r>
                        <a:rPr lang="en-US" sz="1200" b="0" i="0" u="none" strike="noStrike" kern="1200" dirty="0">
                          <a:solidFill>
                            <a:srgbClr val="000000"/>
                          </a:solidFill>
                          <a:effectLst/>
                          <a:highlight>
                            <a:srgbClr val="FFFF00"/>
                          </a:highlight>
                          <a:latin typeface="Calibri" panose="020F0502020204030204" pitchFamily="34" charset="0"/>
                          <a:ea typeface="+mn-ea"/>
                          <a:cs typeface="+mn-cs"/>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MR. AMIT DATTATRAY SHINDE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Pune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200" b="0" i="0" u="none" strike="noStrike" kern="1200" dirty="0">
                          <a:solidFill>
                            <a:srgbClr val="000000"/>
                          </a:solidFill>
                          <a:effectLst/>
                          <a:highlight>
                            <a:srgbClr val="FFFF00"/>
                          </a:highlight>
                          <a:latin typeface="Calibri" panose="020F0502020204030204" pitchFamily="34" charset="0"/>
                          <a:ea typeface="+mn-ea"/>
                          <a:cs typeface="+mn-cs"/>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200" b="0" i="0" u="none" strike="noStrike" kern="1200" dirty="0">
                        <a:solidFill>
                          <a:srgbClr val="000000"/>
                        </a:solidFill>
                        <a:effectLst/>
                        <a:highlight>
                          <a:srgbClr val="FFFF00"/>
                        </a:highligh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988303"/>
                  </a:ext>
                </a:extLst>
              </a:tr>
              <a:tr h="200025">
                <a:tc>
                  <a:txBody>
                    <a:bodyPr/>
                    <a:lstStyle/>
                    <a:p>
                      <a:pPr algn="l" fontAlgn="ctr"/>
                      <a:r>
                        <a:rPr lang="en-US" sz="1200" b="0" i="0" u="none" strike="noStrike" dirty="0">
                          <a:solidFill>
                            <a:srgbClr val="000000"/>
                          </a:solidFill>
                          <a:effectLst/>
                          <a:highlight>
                            <a:srgbClr val="008080"/>
                          </a:highlight>
                          <a:latin typeface="Calibri" panose="020F0502020204030204" pitchFamily="34"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008080"/>
                          </a:highlight>
                          <a:latin typeface="Calibri" panose="020F0502020204030204" pitchFamily="34" charset="0"/>
                        </a:rPr>
                        <a:t>Oasis Farmers Producer Company Ltd.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008080"/>
                          </a:highlight>
                          <a:latin typeface="Calibri" panose="020F0502020204030204" pitchFamily="34" charset="0"/>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008080"/>
                          </a:highlight>
                          <a:latin typeface="Calibri" panose="020F0502020204030204" pitchFamily="34" charset="0"/>
                        </a:rPr>
                        <a:t>Beed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100" b="0" i="0" u="none" strike="noStrike" dirty="0">
                          <a:solidFill>
                            <a:srgbClr val="000000"/>
                          </a:solidFill>
                          <a:effectLst/>
                          <a:highlight>
                            <a:srgbClr val="008080"/>
                          </a:highligh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highlight>
                            <a:srgbClr val="008080"/>
                          </a:highligh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2150634"/>
                  </a:ext>
                </a:extLst>
              </a:tr>
              <a:tr h="238125">
                <a:tc>
                  <a:txBody>
                    <a:bodyPr/>
                    <a:lstStyle/>
                    <a:p>
                      <a:pPr algn="l" fontAlgn="ctr"/>
                      <a:r>
                        <a:rPr lang="en-US" sz="1200" b="0" i="0" u="none" strike="noStrike" dirty="0">
                          <a:solidFill>
                            <a:srgbClr val="000000"/>
                          </a:solidFill>
                          <a:effectLst/>
                          <a:highlight>
                            <a:srgbClr val="800080"/>
                          </a:highlight>
                          <a:latin typeface="Calibri" panose="020F0502020204030204" pitchFamily="34" charset="0"/>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dirty="0">
                          <a:solidFill>
                            <a:srgbClr val="000000"/>
                          </a:solidFill>
                          <a:effectLst/>
                          <a:highlight>
                            <a:srgbClr val="808000"/>
                          </a:highlight>
                          <a:latin typeface="Calibri" panose="020F0502020204030204" pitchFamily="34" charset="0"/>
                        </a:rPr>
                        <a:t>Prabhakar Desai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808000"/>
                          </a:highlight>
                          <a:latin typeface="Calibri" panose="020F0502020204030204" pitchFamily="34" charset="0"/>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808000"/>
                          </a:highlight>
                          <a:latin typeface="Calibri" panose="020F0502020204030204" pitchFamily="34" charset="0"/>
                        </a:rPr>
                        <a:t>Sindhudurg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100" b="0" i="0" u="none" strike="noStrike" dirty="0">
                          <a:solidFill>
                            <a:srgbClr val="000000"/>
                          </a:solidFill>
                          <a:effectLst/>
                          <a:highlight>
                            <a:srgbClr val="808000"/>
                          </a:highligh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highlight>
                            <a:srgbClr val="808000"/>
                          </a:highligh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0439137"/>
                  </a:ext>
                </a:extLst>
              </a:tr>
              <a:tr h="200025">
                <a:tc>
                  <a:txBody>
                    <a:bodyPr/>
                    <a:lstStyle/>
                    <a:p>
                      <a:pPr algn="l" fontAlgn="ctr"/>
                      <a:r>
                        <a:rPr lang="en-US" sz="1200" b="0" i="0" u="none" strike="noStrike" kern="1200" dirty="0">
                          <a:solidFill>
                            <a:srgbClr val="000000"/>
                          </a:solidFill>
                          <a:effectLst/>
                          <a:highlight>
                            <a:srgbClr val="FFFF00"/>
                          </a:highlight>
                          <a:latin typeface="Calibri" panose="020F0502020204030204" pitchFamily="34" charset="0"/>
                          <a:ea typeface="+mn-ea"/>
                          <a:cs typeface="+mn-cs"/>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Prakash Mohanlal Bafna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Pune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200" b="0" i="0" u="none" strike="noStrike" kern="1200" dirty="0">
                          <a:solidFill>
                            <a:srgbClr val="000000"/>
                          </a:solidFill>
                          <a:effectLst/>
                          <a:highlight>
                            <a:srgbClr val="FFFF00"/>
                          </a:highlight>
                          <a:latin typeface="Calibri" panose="020F0502020204030204" pitchFamily="34" charset="0"/>
                          <a:ea typeface="+mn-ea"/>
                          <a:cs typeface="+mn-cs"/>
                        </a:rPr>
                        <a:t> 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200" b="0" i="0" u="none" strike="noStrike" kern="1200" dirty="0">
                        <a:solidFill>
                          <a:srgbClr val="000000"/>
                        </a:solidFill>
                        <a:effectLst/>
                        <a:highlight>
                          <a:srgbClr val="FFFF00"/>
                        </a:highligh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1579279"/>
                  </a:ext>
                </a:extLst>
              </a:tr>
              <a:tr h="200025">
                <a:tc>
                  <a:txBody>
                    <a:bodyPr/>
                    <a:lstStyle/>
                    <a:p>
                      <a:pPr marL="0" algn="l" defTabSz="914400" rtl="0" eaLnBrk="1" fontAlgn="ctr" latinLnBrk="0" hangingPunct="1"/>
                      <a:r>
                        <a:rPr lang="en-US" sz="1200" b="0" i="0" u="none" strike="noStrike" kern="1200" dirty="0">
                          <a:solidFill>
                            <a:srgbClr val="000000"/>
                          </a:solidFill>
                          <a:effectLst/>
                          <a:highlight>
                            <a:srgbClr val="FF00FF"/>
                          </a:highlight>
                          <a:latin typeface="Calibri" panose="020F0502020204030204" pitchFamily="34" charset="0"/>
                          <a:ea typeface="+mn-ea"/>
                          <a:cs typeface="+mn-cs"/>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l" defTabSz="914400" rtl="0" eaLnBrk="1" fontAlgn="ctr" latinLnBrk="0" hangingPunct="1"/>
                      <a:r>
                        <a:rPr lang="en-US" sz="1200" b="0" i="0" u="none" strike="noStrike" kern="1200">
                          <a:solidFill>
                            <a:srgbClr val="000000"/>
                          </a:solidFill>
                          <a:effectLst/>
                          <a:highlight>
                            <a:srgbClr val="FF00FF"/>
                          </a:highlight>
                          <a:latin typeface="Calibri" panose="020F0502020204030204" pitchFamily="34" charset="0"/>
                          <a:ea typeface="+mn-ea"/>
                          <a:cs typeface="+mn-cs"/>
                        </a:rPr>
                        <a:t>Ramesh Nivratti Wadgaonkar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l" defTabSz="914400" rtl="0" eaLnBrk="1" fontAlgn="ctr" latinLnBrk="0" hangingPunct="1"/>
                      <a:r>
                        <a:rPr lang="en-US" sz="1200" b="0" i="0" u="none" strike="noStrike" kern="1200">
                          <a:solidFill>
                            <a:srgbClr val="000000"/>
                          </a:solidFill>
                          <a:effectLst/>
                          <a:highlight>
                            <a:srgbClr val="FF00FF"/>
                          </a:highlight>
                          <a:latin typeface="Calibri" panose="020F0502020204030204" pitchFamily="34" charset="0"/>
                          <a:ea typeface="+mn-ea"/>
                          <a:cs typeface="+mn-cs"/>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l" defTabSz="914400" rtl="0" eaLnBrk="1" fontAlgn="ctr" latinLnBrk="0" hangingPunct="1"/>
                      <a:r>
                        <a:rPr lang="en-US" sz="1200" b="0" i="0" u="none" strike="noStrike" kern="1200">
                          <a:solidFill>
                            <a:srgbClr val="000000"/>
                          </a:solidFill>
                          <a:effectLst/>
                          <a:highlight>
                            <a:srgbClr val="FF00FF"/>
                          </a:highlight>
                          <a:latin typeface="Calibri" panose="020F0502020204030204" pitchFamily="34" charset="0"/>
                          <a:ea typeface="+mn-ea"/>
                          <a:cs typeface="+mn-cs"/>
                        </a:rPr>
                        <a:t>Nanded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l" defTabSz="914400" rtl="0" eaLnBrk="1" fontAlgn="ctr" latinLnBrk="0" hangingPunct="1"/>
                      <a:r>
                        <a:rPr lang="en-US" sz="1200" b="0" i="0" u="none" strike="noStrike" kern="1200" dirty="0">
                          <a:solidFill>
                            <a:srgbClr val="000000"/>
                          </a:solidFill>
                          <a:effectLst/>
                          <a:highlight>
                            <a:srgbClr val="FF00FF"/>
                          </a:highlight>
                          <a:latin typeface="Calibri" panose="020F0502020204030204" pitchFamily="34" charset="0"/>
                          <a:ea typeface="+mn-ea"/>
                          <a:cs typeface="+mn-cs"/>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endParaRPr lang="en-US" sz="1200" b="0" i="0" u="none" strike="noStrike" kern="1200" dirty="0">
                        <a:solidFill>
                          <a:srgbClr val="000000"/>
                        </a:solidFill>
                        <a:effectLst/>
                        <a:highlight>
                          <a:srgbClr val="FF00FF"/>
                        </a:highligh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8311217"/>
                  </a:ext>
                </a:extLst>
              </a:tr>
              <a:tr h="200025">
                <a:tc>
                  <a:txBody>
                    <a:bodyPr/>
                    <a:lstStyle/>
                    <a:p>
                      <a:pPr algn="l" fontAlgn="ctr"/>
                      <a:r>
                        <a:rPr lang="en-US" sz="1200" b="0" i="0" u="none" strike="noStrike" dirty="0">
                          <a:solidFill>
                            <a:srgbClr val="000000"/>
                          </a:solidFill>
                          <a:effectLst/>
                          <a:highlight>
                            <a:srgbClr val="00FFFF"/>
                          </a:highlight>
                          <a:latin typeface="Calibri" panose="020F0502020204030204" pitchFamily="34" charset="0"/>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00FFFF"/>
                          </a:highlight>
                          <a:latin typeface="Calibri" panose="020F0502020204030204" pitchFamily="34" charset="0"/>
                        </a:rPr>
                        <a:t>Sadashiv Dhondiba More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00FFFF"/>
                          </a:highlight>
                          <a:latin typeface="Calibri" panose="020F0502020204030204" pitchFamily="34" charset="0"/>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00FFFF"/>
                          </a:highlight>
                          <a:latin typeface="Calibri" panose="020F0502020204030204" pitchFamily="34" charset="0"/>
                        </a:rPr>
                        <a:t>Kolhapur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100" b="0" i="0" u="none" strike="noStrike" dirty="0">
                          <a:solidFill>
                            <a:srgbClr val="000000"/>
                          </a:solidFill>
                          <a:effectLst/>
                          <a:highlight>
                            <a:srgbClr val="00FFFF"/>
                          </a:highlight>
                          <a:latin typeface="Calibri" panose="020F0502020204030204" pitchFamily="34" charset="0"/>
                        </a:rPr>
                        <a:t> 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highlight>
                            <a:srgbClr val="00FFFF"/>
                          </a:highligh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9569988"/>
                  </a:ext>
                </a:extLst>
              </a:tr>
              <a:tr h="200025">
                <a:tc>
                  <a:txBody>
                    <a:bodyPr/>
                    <a:lstStyle/>
                    <a:p>
                      <a:pPr algn="l" fontAlgn="ctr"/>
                      <a:r>
                        <a:rPr lang="en-US" sz="1100" b="0" i="0" u="none" strike="noStrike" kern="1200" dirty="0">
                          <a:solidFill>
                            <a:srgbClr val="000000"/>
                          </a:solidFill>
                          <a:effectLst/>
                          <a:highlight>
                            <a:srgbClr val="C0C0C0"/>
                          </a:highlight>
                          <a:latin typeface="Calibri" panose="020F0502020204030204" pitchFamily="34" charset="0"/>
                          <a:ea typeface="+mn-ea"/>
                          <a:cs typeface="+mn-cs"/>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100" b="0" i="0" u="none" strike="noStrike" kern="1200">
                          <a:solidFill>
                            <a:srgbClr val="000000"/>
                          </a:solidFill>
                          <a:effectLst/>
                          <a:highlight>
                            <a:srgbClr val="C0C0C0"/>
                          </a:highlight>
                          <a:latin typeface="Calibri" panose="020F0502020204030204" pitchFamily="34" charset="0"/>
                          <a:ea typeface="+mn-ea"/>
                          <a:cs typeface="+mn-cs"/>
                        </a:rPr>
                        <a:t>SHARAYU ANAND GAVALI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100" b="0" i="0" u="none" strike="noStrike" kern="1200">
                          <a:solidFill>
                            <a:srgbClr val="000000"/>
                          </a:solidFill>
                          <a:effectLst/>
                          <a:highlight>
                            <a:srgbClr val="C0C0C0"/>
                          </a:highlight>
                          <a:latin typeface="Calibri" panose="020F0502020204030204" pitchFamily="34" charset="0"/>
                          <a:ea typeface="+mn-ea"/>
                          <a:cs typeface="+mn-cs"/>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100" b="0" i="0" u="none" strike="noStrike" kern="1200">
                          <a:solidFill>
                            <a:srgbClr val="000000"/>
                          </a:solidFill>
                          <a:effectLst/>
                          <a:highlight>
                            <a:srgbClr val="C0C0C0"/>
                          </a:highlight>
                          <a:latin typeface="Calibri" panose="020F0502020204030204" pitchFamily="34" charset="0"/>
                          <a:ea typeface="+mn-ea"/>
                          <a:cs typeface="+mn-cs"/>
                        </a:rPr>
                        <a:t>Solapur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100" b="0" i="0" u="none" strike="noStrike" kern="1200">
                          <a:solidFill>
                            <a:srgbClr val="000000"/>
                          </a:solidFill>
                          <a:effectLst/>
                          <a:highlight>
                            <a:srgbClr val="C0C0C0"/>
                          </a:highlight>
                          <a:latin typeface="Calibri" panose="020F0502020204030204" pitchFamily="34" charset="0"/>
                          <a:ea typeface="+mn-ea"/>
                          <a:cs typeface="+mn-cs"/>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kern="1200" dirty="0">
                          <a:solidFill>
                            <a:srgbClr val="000000"/>
                          </a:solidFill>
                          <a:effectLst/>
                          <a:highlight>
                            <a:srgbClr val="C0C0C0"/>
                          </a:highlight>
                          <a:latin typeface="Calibri" panose="020F0502020204030204" pitchFamily="34" charset="0"/>
                          <a:ea typeface="+mn-ea"/>
                          <a:cs typeface="+mn-cs"/>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8120592"/>
                  </a:ext>
                </a:extLst>
              </a:tr>
              <a:tr h="200025">
                <a:tc>
                  <a:txBody>
                    <a:bodyPr/>
                    <a:lstStyle/>
                    <a:p>
                      <a:pPr algn="l" fontAlgn="ctr"/>
                      <a:r>
                        <a:rPr lang="en-US" sz="1200" b="0" i="0" u="none" strike="noStrike" kern="1200" dirty="0">
                          <a:solidFill>
                            <a:srgbClr val="000000"/>
                          </a:solidFill>
                          <a:effectLst/>
                          <a:highlight>
                            <a:srgbClr val="FFFF00"/>
                          </a:highlight>
                          <a:latin typeface="Calibri" panose="020F0502020204030204" pitchFamily="34" charset="0"/>
                          <a:ea typeface="+mn-ea"/>
                          <a:cs typeface="+mn-cs"/>
                        </a:rPr>
                        <a:t>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Siddharth Vishnu Hinge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kern="1200">
                          <a:solidFill>
                            <a:srgbClr val="000000"/>
                          </a:solidFill>
                          <a:effectLst/>
                          <a:highlight>
                            <a:srgbClr val="FFFF00"/>
                          </a:highlight>
                          <a:latin typeface="Calibri" panose="020F0502020204030204" pitchFamily="34" charset="0"/>
                          <a:ea typeface="+mn-ea"/>
                          <a:cs typeface="+mn-cs"/>
                        </a:rPr>
                        <a:t>Pune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200" b="0" i="0" u="none" strike="noStrike" kern="1200" dirty="0">
                          <a:solidFill>
                            <a:srgbClr val="000000"/>
                          </a:solidFill>
                          <a:effectLst/>
                          <a:highlight>
                            <a:srgbClr val="FFFF00"/>
                          </a:highlight>
                          <a:latin typeface="Calibri" panose="020F0502020204030204" pitchFamily="34" charset="0"/>
                          <a:ea typeface="+mn-ea"/>
                          <a:cs typeface="+mn-cs"/>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200" b="0" i="0" u="none" strike="noStrike" kern="1200" dirty="0">
                        <a:solidFill>
                          <a:srgbClr val="000000"/>
                        </a:solidFill>
                        <a:effectLst/>
                        <a:highlight>
                          <a:srgbClr val="FFFF00"/>
                        </a:highligh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2674198"/>
                  </a:ext>
                </a:extLst>
              </a:tr>
              <a:tr h="200025">
                <a:tc>
                  <a:txBody>
                    <a:bodyPr/>
                    <a:lstStyle/>
                    <a:p>
                      <a:pPr algn="l" fontAlgn="ctr"/>
                      <a:r>
                        <a:rPr lang="en-US" sz="1200" b="0" i="0" u="none" strike="noStrike" dirty="0">
                          <a:solidFill>
                            <a:srgbClr val="000000"/>
                          </a:solidFill>
                          <a:effectLst/>
                          <a:highlight>
                            <a:srgbClr val="FF0000"/>
                          </a:highlight>
                          <a:latin typeface="Calibri" panose="020F0502020204030204" pitchFamily="34" charset="0"/>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FF0000"/>
                          </a:highlight>
                          <a:latin typeface="Calibri" panose="020F0502020204030204" pitchFamily="34" charset="0"/>
                        </a:rPr>
                        <a:t>Vaishali Bhausaheb Chavan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FF0000"/>
                          </a:highlight>
                          <a:latin typeface="Calibri" panose="020F0502020204030204" pitchFamily="34" charset="0"/>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FF0000"/>
                          </a:highlight>
                          <a:latin typeface="Calibri" panose="020F0502020204030204" pitchFamily="34" charset="0"/>
                        </a:rPr>
                        <a:t>Aurangabad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100" b="0" i="0" u="none" strike="noStrike" dirty="0">
                          <a:solidFill>
                            <a:srgbClr val="000000"/>
                          </a:solidFill>
                          <a:effectLst/>
                          <a:highlight>
                            <a:srgbClr val="FF0000"/>
                          </a:highlight>
                          <a:latin typeface="Calibri" panose="020F0502020204030204" pitchFamily="34" charset="0"/>
                        </a:rPr>
                        <a:t> 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highlight>
                            <a:srgbClr val="FF0000"/>
                          </a:highligh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5867473"/>
                  </a:ext>
                </a:extLst>
              </a:tr>
              <a:tr h="209550">
                <a:tc>
                  <a:txBody>
                    <a:bodyPr/>
                    <a:lstStyle/>
                    <a:p>
                      <a:pPr algn="l" fontAlgn="ctr"/>
                      <a:r>
                        <a:rPr lang="en-US" sz="1100" b="0" i="0" u="none" strike="noStrike" kern="1200" dirty="0">
                          <a:solidFill>
                            <a:srgbClr val="000000"/>
                          </a:solidFill>
                          <a:effectLst/>
                          <a:highlight>
                            <a:srgbClr val="008080"/>
                          </a:highlight>
                          <a:latin typeface="Calibri" panose="020F0502020204030204" pitchFamily="34" charset="0"/>
                          <a:ea typeface="+mn-ea"/>
                          <a:cs typeface="+mn-cs"/>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100" b="0" i="0" u="none" strike="noStrike" kern="1200">
                          <a:solidFill>
                            <a:srgbClr val="000000"/>
                          </a:solidFill>
                          <a:effectLst/>
                          <a:highlight>
                            <a:srgbClr val="008080"/>
                          </a:highlight>
                          <a:latin typeface="Calibri" panose="020F0502020204030204" pitchFamily="34" charset="0"/>
                          <a:ea typeface="+mn-ea"/>
                          <a:cs typeface="+mn-cs"/>
                        </a:rPr>
                        <a:t>Yogeshwari Livestock Cluster Association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100" b="0" i="0" u="none" strike="noStrike" kern="1200">
                          <a:solidFill>
                            <a:srgbClr val="000000"/>
                          </a:solidFill>
                          <a:effectLst/>
                          <a:highlight>
                            <a:srgbClr val="008080"/>
                          </a:highlight>
                          <a:latin typeface="Calibri" panose="020F0502020204030204" pitchFamily="34" charset="0"/>
                          <a:ea typeface="+mn-ea"/>
                          <a:cs typeface="+mn-cs"/>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100" b="0" i="0" u="none" strike="noStrike" kern="1200">
                          <a:solidFill>
                            <a:srgbClr val="000000"/>
                          </a:solidFill>
                          <a:effectLst/>
                          <a:highlight>
                            <a:srgbClr val="008080"/>
                          </a:highlight>
                          <a:latin typeface="Calibri" panose="020F0502020204030204" pitchFamily="34" charset="0"/>
                          <a:ea typeface="+mn-ea"/>
                          <a:cs typeface="+mn-cs"/>
                        </a:rPr>
                        <a:t>Beed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100" b="0" i="0" u="none" strike="noStrike" kern="1200">
                          <a:solidFill>
                            <a:srgbClr val="000000"/>
                          </a:solidFill>
                          <a:effectLst/>
                          <a:highlight>
                            <a:srgbClr val="008080"/>
                          </a:highlight>
                          <a:latin typeface="Calibri" panose="020F0502020204030204" pitchFamily="34" charset="0"/>
                          <a:ea typeface="+mn-ea"/>
                          <a:cs typeface="+mn-cs"/>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100" b="0" i="0" u="none" strike="noStrike" kern="1200" dirty="0">
                        <a:solidFill>
                          <a:srgbClr val="000000"/>
                        </a:solidFill>
                        <a:effectLst/>
                        <a:highlight>
                          <a:srgbClr val="008080"/>
                        </a:highligh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9368740"/>
                  </a:ext>
                </a:extLst>
              </a:tr>
              <a:tr h="200025">
                <a:tc>
                  <a:txBody>
                    <a:bodyPr/>
                    <a:lstStyle/>
                    <a:p>
                      <a:pPr algn="l" fontAlgn="ctr"/>
                      <a:r>
                        <a:rPr lang="en-US" sz="1200" b="0" i="0" u="none" strike="noStrike" dirty="0">
                          <a:solidFill>
                            <a:srgbClr val="000000"/>
                          </a:solidFill>
                          <a:effectLst/>
                          <a:highlight>
                            <a:srgbClr val="C0C0C0"/>
                          </a:highlight>
                          <a:latin typeface="Calibri" panose="020F0502020204030204" pitchFamily="34" charset="0"/>
                        </a:rPr>
                        <a:t>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C0C0C0"/>
                          </a:highlight>
                          <a:latin typeface="Calibri" panose="020F0502020204030204" pitchFamily="34" charset="0"/>
                        </a:rPr>
                        <a:t>Sudha Surwase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C0C0C0"/>
                          </a:highlight>
                          <a:latin typeface="Calibri" panose="020F0502020204030204" pitchFamily="34" charset="0"/>
                        </a:rPr>
                        <a:t>MAHARASHTRA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200" b="0" i="0" u="none" strike="noStrike">
                          <a:solidFill>
                            <a:srgbClr val="000000"/>
                          </a:solidFill>
                          <a:effectLst/>
                          <a:highlight>
                            <a:srgbClr val="C0C0C0"/>
                          </a:highlight>
                          <a:latin typeface="Calibri" panose="020F0502020204030204" pitchFamily="34" charset="0"/>
                        </a:rPr>
                        <a:t>Solapur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100" b="0" i="0" u="none" strike="noStrike" dirty="0">
                          <a:solidFill>
                            <a:srgbClr val="000000"/>
                          </a:solidFill>
                          <a:effectLst/>
                          <a:highlight>
                            <a:srgbClr val="C0C0C0"/>
                          </a:highligh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effectLst/>
                        <a:highlight>
                          <a:srgbClr val="C0C0C0"/>
                        </a:highligh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92155916"/>
                  </a:ext>
                </a:extLst>
              </a:tr>
              <a:tr h="200025">
                <a:tc>
                  <a:txBody>
                    <a:bodyPr/>
                    <a:lstStyle/>
                    <a:p>
                      <a:pPr algn="l" fontAlgn="ctr"/>
                      <a:endParaRPr lang="en-US" sz="12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US" sz="12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US" sz="1200" b="0" i="0" u="none" strike="noStrike">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en-US" sz="1200" b="0" i="0" u="none" strike="noStrike">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r>
                        <a:rPr lang="en-US" sz="1100" b="0" i="0" u="none" strike="noStrike" dirty="0">
                          <a:solidFill>
                            <a:srgbClr val="000000"/>
                          </a:solidFill>
                          <a:effectLst/>
                          <a:latin typeface="Calibri" panose="020F0502020204030204" pitchFamily="34" charset="0"/>
                        </a:rPr>
                        <a:t>250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2444649"/>
                  </a:ext>
                </a:extLst>
              </a:tr>
            </a:tbl>
          </a:graphicData>
        </a:graphic>
      </p:graphicFrame>
    </p:spTree>
    <p:extLst>
      <p:ext uri="{BB962C8B-B14F-4D97-AF65-F5344CB8AC3E}">
        <p14:creationId xmlns:p14="http://schemas.microsoft.com/office/powerpoint/2010/main" val="1445202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0387D0-9078-6980-7ABE-BEA1A9E67D12}"/>
              </a:ext>
            </a:extLst>
          </p:cNvPr>
          <p:cNvSpPr txBox="1"/>
          <p:nvPr/>
        </p:nvSpPr>
        <p:spPr>
          <a:xfrm>
            <a:off x="683568" y="655933"/>
            <a:ext cx="7632848" cy="4939814"/>
          </a:xfrm>
          <a:prstGeom prst="rect">
            <a:avLst/>
          </a:prstGeom>
          <a:noFill/>
        </p:spPr>
        <p:txBody>
          <a:bodyPr wrap="square">
            <a:spAutoFit/>
          </a:bodyPr>
          <a:lstStyle/>
          <a:p>
            <a:pPr>
              <a:lnSpc>
                <a:spcPct val="200000"/>
              </a:lnSpc>
            </a:pPr>
            <a:r>
              <a:rPr lang="mr-IN" sz="2000" b="1" dirty="0">
                <a:latin typeface="Sakal Marathi" panose="02000400000000000000" pitchFamily="2" charset="0"/>
                <a:cs typeface="Sakal Marathi" panose="02000400000000000000" pitchFamily="2" charset="0"/>
              </a:rPr>
              <a:t>उद्दिष्टे</a:t>
            </a:r>
          </a:p>
          <a:p>
            <a:pPr marL="361950" indent="-361950">
              <a:lnSpc>
                <a:spcPct val="200000"/>
              </a:lnSpc>
            </a:pPr>
            <a:r>
              <a:rPr lang="mr-IN" sz="2000" dirty="0">
                <a:latin typeface="Sakal Marathi" panose="02000400000000000000" pitchFamily="2" charset="0"/>
                <a:cs typeface="Sakal Marathi" panose="02000400000000000000" pitchFamily="2" charset="0"/>
              </a:rPr>
              <a:t>अ) गोवंशाची उत्पादकता वाढवणे आणि अत्याधुनिक तंत्रज्ञानाचा वापर करून शाश्वत पद्धतीने दूध उत्पादन वाढवणे.</a:t>
            </a:r>
          </a:p>
          <a:p>
            <a:pPr marL="361950" indent="-361950">
              <a:lnSpc>
                <a:spcPct val="200000"/>
              </a:lnSpc>
            </a:pPr>
            <a:r>
              <a:rPr lang="en-US" sz="2000" dirty="0">
                <a:latin typeface="Sakal Marathi" panose="02000400000000000000" pitchFamily="2" charset="0"/>
                <a:cs typeface="Sakal Marathi" panose="02000400000000000000" pitchFamily="2" charset="0"/>
              </a:rPr>
              <a:t>b) </a:t>
            </a:r>
            <a:r>
              <a:rPr lang="mr-IN" sz="2000" dirty="0">
                <a:latin typeface="Sakal Marathi" panose="02000400000000000000" pitchFamily="2" charset="0"/>
                <a:cs typeface="Sakal Marathi" panose="02000400000000000000" pitchFamily="2" charset="0"/>
              </a:rPr>
              <a:t>प्रजननासाठी उच्च अनुवांशिक गुणवत्तेच्या वळूंच्या वापराचा प्रसार करणे.</a:t>
            </a:r>
          </a:p>
          <a:p>
            <a:pPr marL="361950" indent="-361950">
              <a:lnSpc>
                <a:spcPct val="200000"/>
              </a:lnSpc>
            </a:pPr>
            <a:r>
              <a:rPr lang="en-US" sz="2000" dirty="0">
                <a:latin typeface="Sakal Marathi" panose="02000400000000000000" pitchFamily="2" charset="0"/>
                <a:cs typeface="Sakal Marathi" panose="02000400000000000000" pitchFamily="2" charset="0"/>
              </a:rPr>
              <a:t>c) </a:t>
            </a:r>
            <a:r>
              <a:rPr lang="mr-IN" sz="2000" dirty="0">
                <a:latin typeface="Sakal Marathi" panose="02000400000000000000" pitchFamily="2" charset="0"/>
                <a:cs typeface="Sakal Marathi" panose="02000400000000000000" pitchFamily="2" charset="0"/>
              </a:rPr>
              <a:t>प्रजनन नेटवर्क बळकट करून आणि शेतकऱ्यांच्या दारात कृत्रिम रेतन सेवा पुरवून कृत्रिम रेतन कव्हरेज वाढवणे.</a:t>
            </a:r>
          </a:p>
          <a:p>
            <a:pPr marL="361950" indent="-361950">
              <a:lnSpc>
                <a:spcPct val="200000"/>
              </a:lnSpc>
            </a:pPr>
            <a:r>
              <a:rPr lang="en-US" sz="2000" dirty="0">
                <a:latin typeface="Sakal Marathi" panose="02000400000000000000" pitchFamily="2" charset="0"/>
                <a:cs typeface="Sakal Marathi" panose="02000400000000000000" pitchFamily="2" charset="0"/>
              </a:rPr>
              <a:t>d) </a:t>
            </a:r>
            <a:r>
              <a:rPr lang="mr-IN" sz="2000" dirty="0">
                <a:latin typeface="Sakal Marathi" panose="02000400000000000000" pitchFamily="2" charset="0"/>
                <a:cs typeface="Sakal Marathi" panose="02000400000000000000" pitchFamily="2" charset="0"/>
              </a:rPr>
              <a:t>वैज्ञानिक आणि सर्वांगीण पद्धतीने देशी गायी आणि म्हशींचे संगोपन आणि संवर्धनाला प्रोत्साहन देणे.</a:t>
            </a:r>
          </a:p>
        </p:txBody>
      </p:sp>
    </p:spTree>
    <p:extLst>
      <p:ext uri="{BB962C8B-B14F-4D97-AF65-F5344CB8AC3E}">
        <p14:creationId xmlns:p14="http://schemas.microsoft.com/office/powerpoint/2010/main" val="831329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C9A5D3-0364-4921-A9A6-4D4971C269C2}"/>
              </a:ext>
            </a:extLst>
          </p:cNvPr>
          <p:cNvSpPr txBox="1"/>
          <p:nvPr/>
        </p:nvSpPr>
        <p:spPr>
          <a:xfrm>
            <a:off x="467544" y="213023"/>
            <a:ext cx="7848872" cy="5439951"/>
          </a:xfrm>
          <a:prstGeom prst="rect">
            <a:avLst/>
          </a:prstGeom>
          <a:noFill/>
        </p:spPr>
        <p:txBody>
          <a:bodyPr wrap="square">
            <a:spAutoFit/>
          </a:bodyPr>
          <a:lstStyle/>
          <a:p>
            <a:r>
              <a:rPr lang="mr-IN" sz="2000" b="1" dirty="0">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निधी उपलब्धता </a:t>
            </a:r>
          </a:p>
          <a:p>
            <a:pPr algn="just">
              <a:lnSpc>
                <a:spcPct val="150000"/>
              </a:lnSpc>
            </a:pPr>
            <a:r>
              <a:rPr lang="mr-IN" sz="2000" dirty="0">
                <a:latin typeface="Sakal Marathi" panose="02000400000000000000" pitchFamily="2" charset="0"/>
                <a:cs typeface="Sakal Marathi" panose="02000400000000000000" pitchFamily="2" charset="0"/>
              </a:rPr>
              <a:t>खालील घटक वगळता योजनेचे सर्व घटक 100% अनुदानाच्या आधारावर लागू केले जातील:</a:t>
            </a:r>
          </a:p>
          <a:p>
            <a:pPr marL="342900" indent="-342900" algn="just">
              <a:lnSpc>
                <a:spcPct val="150000"/>
              </a:lnSpc>
              <a:buFont typeface="Wingdings" panose="05000000000000000000" pitchFamily="2" charset="2"/>
              <a:buChar char="Ø"/>
            </a:pPr>
            <a:r>
              <a:rPr lang="mr-IN" sz="2000" b="1" dirty="0">
                <a:latin typeface="Sakal Marathi" panose="02000400000000000000" pitchFamily="2" charset="0"/>
                <a:cs typeface="Sakal Marathi" panose="02000400000000000000" pitchFamily="2" charset="0"/>
              </a:rPr>
              <a:t>प्रति </a:t>
            </a:r>
            <a:r>
              <a:rPr lang="en-US" sz="2000" b="1" dirty="0">
                <a:latin typeface="Sakal Marathi" panose="02000400000000000000" pitchFamily="2" charset="0"/>
                <a:cs typeface="Sakal Marathi" panose="02000400000000000000" pitchFamily="2" charset="0"/>
              </a:rPr>
              <a:t>IVF </a:t>
            </a:r>
            <a:r>
              <a:rPr lang="mr-IN" sz="2000" b="1" dirty="0">
                <a:latin typeface="Sakal Marathi" panose="02000400000000000000" pitchFamily="2" charset="0"/>
                <a:cs typeface="Sakal Marathi" panose="02000400000000000000" pitchFamily="2" charset="0"/>
              </a:rPr>
              <a:t>गर्भधारणा </a:t>
            </a:r>
            <a:r>
              <a:rPr lang="mr-IN" sz="2000" dirty="0">
                <a:latin typeface="Sakal Marathi" panose="02000400000000000000" pitchFamily="2" charset="0"/>
                <a:cs typeface="Sakal Marathi" panose="02000400000000000000" pitchFamily="2" charset="0"/>
              </a:rPr>
              <a:t>5000 रुपये घटक सबसिडी अंतर्गत अनुवांशिक सुधारणा कार्यक्रम सहभागी शेतकऱ्यांना भारत सरकारचा हिस्सा म्हणून उपलब्ध करून दिला जाईल;</a:t>
            </a:r>
          </a:p>
          <a:p>
            <a:pPr marL="342900" indent="-342900" algn="just">
              <a:lnSpc>
                <a:spcPct val="150000"/>
              </a:lnSpc>
              <a:buFont typeface="Wingdings" panose="05000000000000000000" pitchFamily="2" charset="2"/>
              <a:buChar char="Ø"/>
            </a:pPr>
            <a:r>
              <a:rPr lang="mr-IN" sz="2000" b="1" dirty="0">
                <a:latin typeface="Sakal Marathi" panose="02000400000000000000" pitchFamily="2" charset="0"/>
                <a:cs typeface="Sakal Marathi" panose="02000400000000000000" pitchFamily="2" charset="0"/>
              </a:rPr>
              <a:t>लिंग वर्गीकरण केलेल्या वीर्याला </a:t>
            </a:r>
            <a:r>
              <a:rPr lang="mr-IN" sz="2000" dirty="0">
                <a:latin typeface="Sakal Marathi" panose="02000400000000000000" pitchFamily="2" charset="0"/>
                <a:cs typeface="Sakal Marathi" panose="02000400000000000000" pitchFamily="2" charset="0"/>
              </a:rPr>
              <a:t>घटक अनुदानाअंतर्गत प्रोत्साहन देणे लिंग वर्गीकरण केलेल्या वीर्याच्या किमतीच्या 50% पर्यंत सहभागी शेतकऱ्यांना उपलब्ध करून दिले जाईल आणि</a:t>
            </a:r>
          </a:p>
          <a:p>
            <a:pPr marL="342900" indent="-342900" algn="just">
              <a:lnSpc>
                <a:spcPct val="150000"/>
              </a:lnSpc>
              <a:buFont typeface="Wingdings" panose="05000000000000000000" pitchFamily="2" charset="2"/>
              <a:buChar char="Ø"/>
            </a:pPr>
            <a:r>
              <a:rPr lang="mr-IN" sz="2000" b="1" dirty="0">
                <a:latin typeface="Sakal Marathi" panose="02000400000000000000" pitchFamily="2" charset="0"/>
                <a:cs typeface="Sakal Marathi" panose="02000400000000000000" pitchFamily="2" charset="0"/>
              </a:rPr>
              <a:t>देशी जातींचा विकास आणि संवर्धन</a:t>
            </a:r>
            <a:r>
              <a:rPr lang="en-US" sz="2000" b="1" dirty="0">
                <a:latin typeface="Sakal Marathi" panose="02000400000000000000" pitchFamily="2" charset="0"/>
                <a:cs typeface="Sakal Marathi" panose="02000400000000000000" pitchFamily="2" charset="0"/>
              </a:rPr>
              <a:t> </a:t>
            </a:r>
            <a:r>
              <a:rPr lang="mr-IN" sz="2000" b="1" dirty="0">
                <a:latin typeface="Sakal Marathi" panose="02000400000000000000" pitchFamily="2" charset="0"/>
                <a:cs typeface="Sakal Marathi" panose="02000400000000000000" pitchFamily="2" charset="0"/>
              </a:rPr>
              <a:t>फार्मची स्थापना</a:t>
            </a:r>
            <a:r>
              <a:rPr lang="mr-IN" sz="2000" dirty="0">
                <a:latin typeface="Sakal Marathi" panose="02000400000000000000" pitchFamily="2" charset="0"/>
                <a:cs typeface="Sakal Marathi" panose="02000400000000000000" pitchFamily="2" charset="0"/>
              </a:rPr>
              <a:t>, भांडवली खर्चाच्या 50% पर्यंत जास्तीत जास्त रु. 2.00 कोटी पर्यंतची रक्कम उद्योजकांना उपलब्ध करून दिली जाईल.</a:t>
            </a:r>
            <a:endParaRPr lang="en-US" sz="2000" dirty="0">
              <a:latin typeface="Sakal Marathi" panose="02000400000000000000" pitchFamily="2" charset="0"/>
              <a:cs typeface="Sakal Marathi" panose="02000400000000000000" pitchFamily="2" charset="0"/>
            </a:endParaRPr>
          </a:p>
        </p:txBody>
      </p:sp>
    </p:spTree>
    <p:extLst>
      <p:ext uri="{BB962C8B-B14F-4D97-AF65-F5344CB8AC3E}">
        <p14:creationId xmlns:p14="http://schemas.microsoft.com/office/powerpoint/2010/main" val="1984085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6D023F-ECE5-7138-A7DC-E6A1BB64DD6B}"/>
              </a:ext>
            </a:extLst>
          </p:cNvPr>
          <p:cNvSpPr txBox="1"/>
          <p:nvPr/>
        </p:nvSpPr>
        <p:spPr>
          <a:xfrm>
            <a:off x="348036" y="548680"/>
            <a:ext cx="8784976" cy="6363280"/>
          </a:xfrm>
          <a:prstGeom prst="rect">
            <a:avLst/>
          </a:prstGeom>
          <a:noFill/>
        </p:spPr>
        <p:txBody>
          <a:bodyPr wrap="square">
            <a:spAutoFit/>
          </a:bodyPr>
          <a:lstStyle/>
          <a:p>
            <a:r>
              <a:rPr lang="en-US" sz="2000" b="1" dirty="0"/>
              <a:t>RGM </a:t>
            </a:r>
            <a:r>
              <a:rPr lang="mr-IN" sz="2000" b="1" dirty="0"/>
              <a:t>चे घटक</a:t>
            </a:r>
          </a:p>
          <a:p>
            <a:pPr>
              <a:lnSpc>
                <a:spcPct val="150000"/>
              </a:lnSpc>
            </a:pPr>
            <a:r>
              <a:rPr lang="mr-IN" sz="2000" dirty="0">
                <a:latin typeface="Sakal Marathi" panose="02000400000000000000" pitchFamily="2" charset="0"/>
                <a:cs typeface="Sakal Marathi" panose="02000400000000000000" pitchFamily="2" charset="0"/>
              </a:rPr>
              <a:t>उच्च अनुवांशिक गुणवत्ता जर्मप्लाझमची उपलब्धता:</a:t>
            </a:r>
          </a:p>
          <a:p>
            <a:pPr marL="447675" indent="-447675">
              <a:lnSpc>
                <a:spcPct val="150000"/>
              </a:lnSpc>
              <a:buFont typeface="+mj-lt"/>
              <a:buAutoNum type="alphaUcPeriod"/>
              <a:tabLst>
                <a:tab pos="447675" algn="l"/>
              </a:tabLst>
            </a:pPr>
            <a:r>
              <a:rPr lang="mr-IN" sz="2000" dirty="0">
                <a:latin typeface="Sakal Marathi" panose="02000400000000000000" pitchFamily="2" charset="0"/>
                <a:cs typeface="Sakal Marathi" panose="02000400000000000000" pitchFamily="2" charset="0"/>
              </a:rPr>
              <a:t>बैल उत्पादन कार्यक्रम (Bull </a:t>
            </a:r>
            <a:r>
              <a:rPr lang="en-US" sz="2000" dirty="0">
                <a:latin typeface="Sakal Marathi" panose="02000400000000000000" pitchFamily="2" charset="0"/>
                <a:cs typeface="Sakal Marathi" panose="02000400000000000000" pitchFamily="2" charset="0"/>
              </a:rPr>
              <a:t>Production Programme)</a:t>
            </a:r>
            <a:endParaRPr lang="mr-IN" sz="2000" dirty="0">
              <a:latin typeface="Sakal Marathi" panose="02000400000000000000" pitchFamily="2" charset="0"/>
              <a:cs typeface="Sakal Marathi" panose="02000400000000000000" pitchFamily="2" charset="0"/>
            </a:endParaRPr>
          </a:p>
          <a:p>
            <a:pPr marL="342900" indent="-76200">
              <a:lnSpc>
                <a:spcPct val="150000"/>
              </a:lnSpc>
              <a:buFont typeface="Wingdings" panose="05000000000000000000" pitchFamily="2" charset="2"/>
              <a:buChar char="Ø"/>
            </a:pPr>
            <a:r>
              <a:rPr lang="mr-IN" sz="2000" dirty="0">
                <a:latin typeface="Sakal Marathi" panose="02000400000000000000" pitchFamily="2" charset="0"/>
                <a:cs typeface="Sakal Marathi" panose="02000400000000000000" pitchFamily="2" charset="0"/>
              </a:rPr>
              <a:t>संतती चाचणी</a:t>
            </a:r>
            <a:r>
              <a:rPr lang="en-US" sz="2000" dirty="0">
                <a:latin typeface="Sakal Marathi" panose="02000400000000000000" pitchFamily="2" charset="0"/>
                <a:cs typeface="Sakal Marathi" panose="02000400000000000000" pitchFamily="2" charset="0"/>
              </a:rPr>
              <a:t> (Progeny Testing)</a:t>
            </a:r>
            <a:endParaRPr lang="mr-IN" sz="2000" dirty="0">
              <a:latin typeface="Sakal Marathi" panose="02000400000000000000" pitchFamily="2" charset="0"/>
              <a:cs typeface="Sakal Marathi" panose="02000400000000000000" pitchFamily="2" charset="0"/>
            </a:endParaRPr>
          </a:p>
          <a:p>
            <a:pPr marL="342900" indent="-76200">
              <a:lnSpc>
                <a:spcPct val="150000"/>
              </a:lnSpc>
              <a:buFont typeface="Wingdings" panose="05000000000000000000" pitchFamily="2" charset="2"/>
              <a:buChar char="Ø"/>
            </a:pPr>
            <a:r>
              <a:rPr lang="mr-IN" sz="2000" dirty="0">
                <a:latin typeface="Sakal Marathi" panose="02000400000000000000" pitchFamily="2" charset="0"/>
                <a:cs typeface="Sakal Marathi" panose="02000400000000000000" pitchFamily="2" charset="0"/>
              </a:rPr>
              <a:t>वंशावळ निवड</a:t>
            </a:r>
            <a:r>
              <a:rPr lang="en-US" sz="2000" dirty="0">
                <a:latin typeface="Sakal Marathi" panose="02000400000000000000" pitchFamily="2" charset="0"/>
                <a:cs typeface="Sakal Marathi" panose="02000400000000000000" pitchFamily="2" charset="0"/>
              </a:rPr>
              <a:t> (</a:t>
            </a:r>
            <a:r>
              <a:rPr lang="en-US" sz="2000" dirty="0"/>
              <a:t>Pedigree Selection)</a:t>
            </a:r>
            <a:endParaRPr lang="mr-IN" sz="2000" dirty="0">
              <a:latin typeface="Sakal Marathi" panose="02000400000000000000" pitchFamily="2" charset="0"/>
              <a:cs typeface="Sakal Marathi" panose="02000400000000000000" pitchFamily="2" charset="0"/>
            </a:endParaRPr>
          </a:p>
          <a:p>
            <a:pPr marL="342900" indent="-76200">
              <a:lnSpc>
                <a:spcPct val="150000"/>
              </a:lnSpc>
              <a:buFont typeface="Wingdings" panose="05000000000000000000" pitchFamily="2" charset="2"/>
              <a:buChar char="Ø"/>
            </a:pPr>
            <a:r>
              <a:rPr lang="mr-IN" sz="2000" dirty="0">
                <a:latin typeface="Sakal Marathi" panose="02000400000000000000" pitchFamily="2" charset="0"/>
                <a:cs typeface="Sakal Marathi" panose="02000400000000000000" pitchFamily="2" charset="0"/>
              </a:rPr>
              <a:t>जीनोमिक निवड</a:t>
            </a:r>
            <a:r>
              <a:rPr lang="en-US" sz="2000" dirty="0">
                <a:latin typeface="Sakal Marathi" panose="02000400000000000000" pitchFamily="2" charset="0"/>
                <a:cs typeface="Sakal Marathi" panose="02000400000000000000" pitchFamily="2" charset="0"/>
              </a:rPr>
              <a:t> (</a:t>
            </a:r>
            <a:r>
              <a:rPr lang="en-US" sz="2000" dirty="0"/>
              <a:t>Genomic Selection </a:t>
            </a:r>
            <a:r>
              <a:rPr lang="en-US" sz="2000" dirty="0">
                <a:latin typeface="Sakal Marathi" panose="02000400000000000000" pitchFamily="2" charset="0"/>
                <a:cs typeface="Sakal Marathi" panose="02000400000000000000" pitchFamily="2" charset="0"/>
              </a:rPr>
              <a:t>)</a:t>
            </a:r>
            <a:endParaRPr lang="mr-IN" sz="2000" dirty="0">
              <a:latin typeface="Sakal Marathi" panose="02000400000000000000" pitchFamily="2" charset="0"/>
              <a:cs typeface="Sakal Marathi" panose="02000400000000000000" pitchFamily="2" charset="0"/>
            </a:endParaRPr>
          </a:p>
          <a:p>
            <a:pPr marL="342900" indent="-76200">
              <a:lnSpc>
                <a:spcPct val="150000"/>
              </a:lnSpc>
              <a:buFont typeface="Wingdings" panose="05000000000000000000" pitchFamily="2" charset="2"/>
              <a:buChar char="Ø"/>
            </a:pPr>
            <a:r>
              <a:rPr lang="mr-IN" sz="2000" dirty="0">
                <a:latin typeface="Sakal Marathi" panose="02000400000000000000" pitchFamily="2" charset="0"/>
                <a:cs typeface="Sakal Marathi" panose="02000400000000000000" pitchFamily="2" charset="0"/>
              </a:rPr>
              <a:t>जर्मप्लाझमची आयात</a:t>
            </a:r>
            <a:r>
              <a:rPr lang="en-US" sz="2000" dirty="0">
                <a:latin typeface="Sakal Marathi" panose="02000400000000000000" pitchFamily="2" charset="0"/>
                <a:cs typeface="Sakal Marathi" panose="02000400000000000000" pitchFamily="2" charset="0"/>
              </a:rPr>
              <a:t> (</a:t>
            </a:r>
            <a:r>
              <a:rPr lang="en-US" sz="2000" dirty="0"/>
              <a:t>Import of Germplasm)</a:t>
            </a:r>
            <a:endParaRPr lang="mr-IN" sz="2000" dirty="0">
              <a:latin typeface="Sakal Marathi" panose="02000400000000000000" pitchFamily="2" charset="0"/>
              <a:cs typeface="Sakal Marathi" panose="02000400000000000000" pitchFamily="2" charset="0"/>
            </a:endParaRPr>
          </a:p>
          <a:p>
            <a:pPr marL="457200" indent="-457200">
              <a:lnSpc>
                <a:spcPct val="150000"/>
              </a:lnSpc>
              <a:buFont typeface="+mj-lt"/>
              <a:buAutoNum type="alphaUcPeriod" startAt="2"/>
            </a:pPr>
            <a:r>
              <a:rPr lang="mr-IN" sz="2000" dirty="0">
                <a:latin typeface="Sakal Marathi" panose="02000400000000000000" pitchFamily="2" charset="0"/>
                <a:cs typeface="Sakal Marathi" panose="02000400000000000000" pitchFamily="2" charset="0"/>
              </a:rPr>
              <a:t>वीर्य केंद्रांना समर्थन</a:t>
            </a:r>
            <a:r>
              <a:rPr lang="en-US" sz="2000" dirty="0">
                <a:latin typeface="Sakal Marathi" panose="02000400000000000000" pitchFamily="2" charset="0"/>
                <a:cs typeface="Sakal Marathi" panose="02000400000000000000" pitchFamily="2" charset="0"/>
              </a:rPr>
              <a:t> (</a:t>
            </a:r>
            <a:r>
              <a:rPr lang="en-US" sz="2000" b="1" dirty="0"/>
              <a:t>Support to semen stations ) </a:t>
            </a:r>
            <a:r>
              <a:rPr lang="mr-IN" sz="2000" dirty="0">
                <a:latin typeface="Sakal Marathi" panose="02000400000000000000" pitchFamily="2" charset="0"/>
                <a:cs typeface="Sakal Marathi" panose="02000400000000000000" pitchFamily="2" charset="0"/>
              </a:rPr>
              <a:t>: विद्यमान वीर्य स्थानकांचे बळकटीकरण.</a:t>
            </a:r>
          </a:p>
          <a:p>
            <a:pPr marL="457200" indent="-457200">
              <a:lnSpc>
                <a:spcPct val="150000"/>
              </a:lnSpc>
              <a:buFont typeface="+mj-lt"/>
              <a:buAutoNum type="alphaUcPeriod" startAt="3"/>
            </a:pPr>
            <a:r>
              <a:rPr lang="mr-IN" sz="2000" dirty="0">
                <a:latin typeface="Sakal Marathi" panose="02000400000000000000" pitchFamily="2" charset="0"/>
                <a:cs typeface="Sakal Marathi" panose="02000400000000000000" pitchFamily="2" charset="0"/>
              </a:rPr>
              <a:t>आयव्हीएफ तंत्रज्ञानाची अंमलबजावणी</a:t>
            </a:r>
            <a:r>
              <a:rPr lang="en-US" sz="2000" dirty="0">
                <a:latin typeface="Sakal Marathi" panose="02000400000000000000" pitchFamily="2" charset="0"/>
                <a:cs typeface="Sakal Marathi" panose="02000400000000000000" pitchFamily="2" charset="0"/>
              </a:rPr>
              <a:t> (</a:t>
            </a:r>
            <a:r>
              <a:rPr lang="en-US" sz="2000" b="1" dirty="0"/>
              <a:t>Implementation of IVF Technology )</a:t>
            </a:r>
            <a:r>
              <a:rPr lang="mr-IN" sz="2000" dirty="0">
                <a:latin typeface="Sakal Marathi" panose="02000400000000000000" pitchFamily="2" charset="0"/>
                <a:cs typeface="Sakal Marathi" panose="02000400000000000000" pitchFamily="2" charset="0"/>
              </a:rPr>
              <a:t>:</a:t>
            </a:r>
          </a:p>
          <a:p>
            <a:pPr marL="342900" indent="-76200">
              <a:lnSpc>
                <a:spcPct val="150000"/>
              </a:lnSpc>
              <a:buFont typeface="Wingdings" panose="05000000000000000000" pitchFamily="2" charset="2"/>
              <a:buChar char="Ø"/>
            </a:pPr>
            <a:r>
              <a:rPr lang="mr-IN" sz="2000" dirty="0">
                <a:latin typeface="Sakal Marathi" panose="02000400000000000000" pitchFamily="2" charset="0"/>
                <a:cs typeface="Sakal Marathi" panose="02000400000000000000" pitchFamily="2" charset="0"/>
              </a:rPr>
              <a:t>आयव्हीएफ प्रयोगशाळा</a:t>
            </a:r>
          </a:p>
          <a:p>
            <a:pPr marL="342900" indent="-76200">
              <a:lnSpc>
                <a:spcPct val="150000"/>
              </a:lnSpc>
              <a:buFont typeface="Wingdings" panose="05000000000000000000" pitchFamily="2" charset="2"/>
              <a:buChar char="Ø"/>
            </a:pPr>
            <a:r>
              <a:rPr lang="mr-IN" sz="2000" dirty="0">
                <a:latin typeface="Sakal Marathi" panose="02000400000000000000" pitchFamily="2" charset="0"/>
                <a:cs typeface="Sakal Marathi" panose="02000400000000000000" pitchFamily="2" charset="0"/>
              </a:rPr>
              <a:t>इन विट्रो भ्रूण उत्पादन तंत्रज्ञानाची अंमलबजावणी</a:t>
            </a:r>
          </a:p>
          <a:p>
            <a:pPr marL="342900" indent="-76200">
              <a:lnSpc>
                <a:spcPct val="150000"/>
              </a:lnSpc>
              <a:buFont typeface="Wingdings" panose="05000000000000000000" pitchFamily="2" charset="2"/>
              <a:buChar char="Ø"/>
            </a:pPr>
            <a:r>
              <a:rPr lang="mr-IN" sz="2000" dirty="0">
                <a:latin typeface="Sakal Marathi" panose="02000400000000000000" pitchFamily="2" charset="0"/>
                <a:cs typeface="Sakal Marathi" panose="02000400000000000000" pitchFamily="2" charset="0"/>
              </a:rPr>
              <a:t>खात्रीपूर्वक गर्भधारणा मिळवण्यासाठी </a:t>
            </a:r>
            <a:r>
              <a:rPr lang="en-US" sz="2000" dirty="0">
                <a:latin typeface="Sakal Marathi" panose="02000400000000000000" pitchFamily="2" charset="0"/>
                <a:cs typeface="Sakal Marathi" panose="02000400000000000000" pitchFamily="2" charset="0"/>
              </a:rPr>
              <a:t>IVF </a:t>
            </a:r>
            <a:r>
              <a:rPr lang="mr-IN" sz="2000" dirty="0">
                <a:latin typeface="Sakal Marathi" panose="02000400000000000000" pitchFamily="2" charset="0"/>
                <a:cs typeface="Sakal Marathi" panose="02000400000000000000" pitchFamily="2" charset="0"/>
              </a:rPr>
              <a:t>तंत्रज्ञानाची अंमलबजावणी</a:t>
            </a:r>
          </a:p>
          <a:p>
            <a:pPr marL="457200" indent="-457200">
              <a:lnSpc>
                <a:spcPct val="150000"/>
              </a:lnSpc>
              <a:buFont typeface="+mj-lt"/>
              <a:buAutoNum type="alphaUcPeriod" startAt="4"/>
            </a:pPr>
            <a:r>
              <a:rPr lang="mr-IN" sz="2000" b="1" dirty="0">
                <a:latin typeface="Sakal Marathi" panose="02000400000000000000" pitchFamily="2" charset="0"/>
                <a:cs typeface="Sakal Marathi" panose="02000400000000000000" pitchFamily="2" charset="0"/>
              </a:rPr>
              <a:t>देशी जातींचा विकास आणि संवर्धन </a:t>
            </a:r>
            <a:r>
              <a:rPr lang="mr-IN" sz="1800" b="1" dirty="0">
                <a:latin typeface="Sakal Marathi" panose="02000400000000000000" pitchFamily="2" charset="0"/>
                <a:cs typeface="Sakal Marathi" panose="02000400000000000000" pitchFamily="2" charset="0"/>
              </a:rPr>
              <a:t>फार्मची स्थापना</a:t>
            </a:r>
            <a:endParaRPr lang="en-US" b="1" dirty="0"/>
          </a:p>
        </p:txBody>
      </p:sp>
    </p:spTree>
    <p:extLst>
      <p:ext uri="{BB962C8B-B14F-4D97-AF65-F5344CB8AC3E}">
        <p14:creationId xmlns:p14="http://schemas.microsoft.com/office/powerpoint/2010/main" val="3737744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B06F8-4787-EF4B-9FA3-73BF329E0BAB}"/>
              </a:ext>
            </a:extLst>
          </p:cNvPr>
          <p:cNvSpPr>
            <a:spLocks noGrp="1"/>
          </p:cNvSpPr>
          <p:nvPr>
            <p:ph type="title"/>
          </p:nvPr>
        </p:nvSpPr>
        <p:spPr>
          <a:xfrm>
            <a:off x="179512" y="-90993"/>
            <a:ext cx="9144000" cy="1143000"/>
          </a:xfrm>
        </p:spPr>
        <p:txBody>
          <a:bodyPr>
            <a:noAutofit/>
          </a:bodyPr>
          <a:lstStyle/>
          <a:p>
            <a:r>
              <a:rPr lang="mr-IN" sz="3200" b="1" dirty="0">
                <a:solidFill>
                  <a:srgbClr val="FF00FF"/>
                </a:solidFill>
                <a:latin typeface="Sakal Marathi" panose="02000400000000000000" pitchFamily="2" charset="0"/>
                <a:cs typeface="Sakal Marathi" panose="02000400000000000000" pitchFamily="2" charset="0"/>
              </a:rPr>
              <a:t>देशी जातींचा विकास आणि संवर्धन फार्मची स्थापना</a:t>
            </a:r>
            <a:endParaRPr lang="en-US" sz="3200" b="1" dirty="0">
              <a:solidFill>
                <a:srgbClr val="FF00FF"/>
              </a:solidFill>
              <a:latin typeface="Sakal Marathi" panose="02000400000000000000" pitchFamily="2" charset="0"/>
              <a:cs typeface="Sakal Marathi" panose="02000400000000000000" pitchFamily="2" charset="0"/>
            </a:endParaRPr>
          </a:p>
        </p:txBody>
      </p:sp>
      <p:sp>
        <p:nvSpPr>
          <p:cNvPr id="4" name="TextBox 3">
            <a:extLst>
              <a:ext uri="{FF2B5EF4-FFF2-40B4-BE49-F238E27FC236}">
                <a16:creationId xmlns:a16="http://schemas.microsoft.com/office/drawing/2014/main" id="{234391FA-78C1-CB79-E7E5-50A1728DAA98}"/>
              </a:ext>
            </a:extLst>
          </p:cNvPr>
          <p:cNvSpPr txBox="1"/>
          <p:nvPr/>
        </p:nvSpPr>
        <p:spPr>
          <a:xfrm>
            <a:off x="0" y="692696"/>
            <a:ext cx="9071992" cy="5945858"/>
          </a:xfrm>
          <a:prstGeom prst="rect">
            <a:avLst/>
          </a:prstGeom>
          <a:noFill/>
        </p:spPr>
        <p:txBody>
          <a:bodyPr wrap="square">
            <a:spAutoFit/>
          </a:bodyPr>
          <a:lstStyle/>
          <a:p>
            <a:pPr algn="just">
              <a:lnSpc>
                <a:spcPct val="150000"/>
              </a:lnSpc>
            </a:pPr>
            <a:r>
              <a:rPr lang="mr-IN" sz="1700" dirty="0">
                <a:latin typeface="Sakal Marathi" panose="02000400000000000000" pitchFamily="2" charset="0"/>
                <a:cs typeface="Sakal Marathi" panose="02000400000000000000" pitchFamily="2" charset="0"/>
              </a:rPr>
              <a:t>	सध्या दुग्धव्यवसाय सुरू करू इच्छिणाऱ्या उद्योजक/शेतकऱ्यांना रोगमुक्त उच्च उत्पादक गायी मिळण्यात अडचणी येत आहेत. शेतकऱ्यांना एकतर दुग्ध व्यवसायात गुंतलेल्या इतर शेतकऱ्यांकडून कमी उत्पन्न देणारी जनावरे घेण्यास भाग पाडले जाते. दुग्धव्यवसाय करणाऱ्या मध्यस्थांवर किंवा इतर शेतकऱ्यांवर अवलंबून असतात. देशी जातीच्या गायी-म्हशी किंवा परदेशी जातीच्या गुरांच्या रोगमुक्त दर्जाच्या गुरांची निर्मिती करण्यासाठी देशात कोणतीही यंत्रणा उपलब्ध नाही. म्हणून, देशात रोगमुक्त उच्च उत्पादक क्षमता असलेल्या पारड्या /गाभण पारड्या /गायी/शक्यतो देशी जातीच्या गायी/म्हशी उपलब्ध करून देण्यासाठी प्रजनन फार्म स्थापन करण्याचा प्रस्ताव आहे.अशा प्राण्यांची कमतरता भरून काढण्यासाठी, शेतकऱ्यांना उच्च अनुवांशिक गुणवत्तेची मुलं (</a:t>
            </a:r>
            <a:r>
              <a:rPr lang="en-US" sz="1700" dirty="0">
                <a:latin typeface="Sakal Marathi" panose="02000400000000000000" pitchFamily="2" charset="0"/>
                <a:cs typeface="Sakal Marathi" panose="02000400000000000000" pitchFamily="2" charset="0"/>
              </a:rPr>
              <a:t>HGM) </a:t>
            </a:r>
            <a:r>
              <a:rPr lang="mr-IN" sz="1700" dirty="0">
                <a:latin typeface="Sakal Marathi" panose="02000400000000000000" pitchFamily="2" charset="0"/>
                <a:cs typeface="Sakal Marathi" panose="02000400000000000000" pitchFamily="2" charset="0"/>
              </a:rPr>
              <a:t>उपलब्ध करून देण्यासाठी उद्योजकता मॉडेलद्वारे प्रजनन संवर्धन फार्म स्थापन करण्याचा प्रस्ताव आहे.इच्छुक उद्योजकांना गोठ्याचे बांधकाम, उपकरणे, उत्कृष्ट बैल माता खरेदी इत्यादीसाठी 50% भांडवली अनुदान देण्याचा प्रस्ताव आहे. उद्योजक ब्रीड एन्हान्समेंट फार्म (</a:t>
            </a:r>
            <a:r>
              <a:rPr lang="en-US" sz="1700" dirty="0">
                <a:latin typeface="Sakal Marathi" panose="02000400000000000000" pitchFamily="2" charset="0"/>
                <a:cs typeface="Sakal Marathi" panose="02000400000000000000" pitchFamily="2" charset="0"/>
              </a:rPr>
              <a:t>BMF) </a:t>
            </a:r>
            <a:r>
              <a:rPr lang="mr-IN" sz="1700" dirty="0">
                <a:latin typeface="Sakal Marathi" panose="02000400000000000000" pitchFamily="2" charset="0"/>
                <a:cs typeface="Sakal Marathi" panose="02000400000000000000" pitchFamily="2" charset="0"/>
              </a:rPr>
              <a:t>ची स्थापना करेल आणि लिंग वर्गीकृत वीर्य किंवा </a:t>
            </a:r>
            <a:r>
              <a:rPr lang="en-US" sz="1700" dirty="0">
                <a:latin typeface="Sakal Marathi" panose="02000400000000000000" pitchFamily="2" charset="0"/>
                <a:cs typeface="Sakal Marathi" panose="02000400000000000000" pitchFamily="2" charset="0"/>
              </a:rPr>
              <a:t>IVF </a:t>
            </a:r>
            <a:r>
              <a:rPr lang="mr-IN" sz="1700" dirty="0">
                <a:latin typeface="Sakal Marathi" panose="02000400000000000000" pitchFamily="2" charset="0"/>
                <a:cs typeface="Sakal Marathi" panose="02000400000000000000" pitchFamily="2" charset="0"/>
              </a:rPr>
              <a:t>तंत्रज्ञान वापरून उत्कृष्ट गाईचे उत्पादन करेल.बीएमएफमध्ये उत्पादित होणारी रोगमुक्त गायी इच्छुक शेतकऱ्यांना किमतीनुसार उपलब्ध करून दिली जाईल. बीएमएफमध्ये जन्मलेले एचजीएम बैल वीर्य निर्मितीसाठी वीर्य केंद्रांद्वारे खरेदी केले जातील. </a:t>
            </a:r>
            <a:r>
              <a:rPr lang="en-US" sz="1700" dirty="0">
                <a:latin typeface="Sakal Marathi" panose="02000400000000000000" pitchFamily="2" charset="0"/>
                <a:cs typeface="Sakal Marathi" panose="02000400000000000000" pitchFamily="2" charset="0"/>
              </a:rPr>
              <a:t>BMF </a:t>
            </a:r>
            <a:r>
              <a:rPr lang="mr-IN" sz="1700" dirty="0">
                <a:latin typeface="Sakal Marathi" panose="02000400000000000000" pitchFamily="2" charset="0"/>
                <a:cs typeface="Sakal Marathi" panose="02000400000000000000" pitchFamily="2" charset="0"/>
              </a:rPr>
              <a:t>शेतकरी आणि उद्योजकांसाठी प्रशिक्षण आयोजित करण्यासाठी प्रशिक्षण केंद्र म्हणूनही काम करेल.</a:t>
            </a:r>
            <a:endParaRPr lang="en-US" sz="1700" dirty="0">
              <a:latin typeface="Sakal Marathi" panose="02000400000000000000" pitchFamily="2" charset="0"/>
              <a:cs typeface="Sakal Marathi" panose="02000400000000000000" pitchFamily="2" charset="0"/>
            </a:endParaRPr>
          </a:p>
        </p:txBody>
      </p:sp>
    </p:spTree>
    <p:extLst>
      <p:ext uri="{BB962C8B-B14F-4D97-AF65-F5344CB8AC3E}">
        <p14:creationId xmlns:p14="http://schemas.microsoft.com/office/powerpoint/2010/main" val="3401230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661DDF-D51A-51D9-4022-9373ECD0DE30}"/>
              </a:ext>
            </a:extLst>
          </p:cNvPr>
          <p:cNvSpPr txBox="1"/>
          <p:nvPr/>
        </p:nvSpPr>
        <p:spPr>
          <a:xfrm>
            <a:off x="287524" y="188640"/>
            <a:ext cx="8568952" cy="6647974"/>
          </a:xfrm>
          <a:prstGeom prst="rect">
            <a:avLst/>
          </a:prstGeom>
          <a:noFill/>
        </p:spPr>
        <p:txBody>
          <a:bodyPr wrap="square">
            <a:spAutoFit/>
          </a:bodyPr>
          <a:lstStyle/>
          <a:p>
            <a:pPr algn="just"/>
            <a:r>
              <a:rPr lang="en-US" dirty="0">
                <a:latin typeface="Sakal Marathi" panose="02000400000000000000" pitchFamily="2" charset="0"/>
                <a:cs typeface="Sakal Marathi" panose="02000400000000000000" pitchFamily="2" charset="0"/>
              </a:rPr>
              <a:t>	</a:t>
            </a:r>
            <a:r>
              <a:rPr lang="mr-IN" sz="1700" dirty="0">
                <a:latin typeface="Sakal Marathi" panose="02000400000000000000" pitchFamily="2" charset="0"/>
                <a:cs typeface="Sakal Marathi" panose="02000400000000000000" pitchFamily="2" charset="0"/>
              </a:rPr>
              <a:t>इच्छुक उद्योजकांना गोठ्याचे बांधकाम, उपकरणे, उत्कृष्ट बैल माता खरेदी इत्यादीसाठी 50% भांडवली अनुदान देण्याचा प्रस्ताव आहे. उद्योजक ब्रीड एन्हान्समेंट फार्म (</a:t>
            </a:r>
            <a:r>
              <a:rPr lang="en-US" sz="1700" dirty="0">
                <a:latin typeface="Sakal Marathi" panose="02000400000000000000" pitchFamily="2" charset="0"/>
                <a:cs typeface="Sakal Marathi" panose="02000400000000000000" pitchFamily="2" charset="0"/>
              </a:rPr>
              <a:t>BMF) </a:t>
            </a:r>
            <a:r>
              <a:rPr lang="mr-IN" sz="1700" dirty="0">
                <a:latin typeface="Sakal Marathi" panose="02000400000000000000" pitchFamily="2" charset="0"/>
                <a:cs typeface="Sakal Marathi" panose="02000400000000000000" pitchFamily="2" charset="0"/>
              </a:rPr>
              <a:t>ची स्थापना करेल आणि लिंग वर्गीकृत वीर्य किंवा </a:t>
            </a:r>
            <a:r>
              <a:rPr lang="en-US" sz="1700" dirty="0">
                <a:latin typeface="Sakal Marathi" panose="02000400000000000000" pitchFamily="2" charset="0"/>
                <a:cs typeface="Sakal Marathi" panose="02000400000000000000" pitchFamily="2" charset="0"/>
              </a:rPr>
              <a:t>IVF </a:t>
            </a:r>
            <a:r>
              <a:rPr lang="mr-IN" sz="1700" dirty="0">
                <a:latin typeface="Sakal Marathi" panose="02000400000000000000" pitchFamily="2" charset="0"/>
                <a:cs typeface="Sakal Marathi" panose="02000400000000000000" pitchFamily="2" charset="0"/>
              </a:rPr>
              <a:t>तंत्रज्ञान वापरून उत्कृष्ट गाईचे उत्पादन करेल.बीएमएफमध्ये उत्पादित होणारी रोगमुक्त गायी इच्छुक शेतकऱ्यांना किमतीनुसार उपलब्ध करून दिली जाईल. बीएमएफमध्ये जन्मलेले एचजीएम बैल वीर्य निर्मितीसाठी वीर्य केंद्रांद्वारे खरेदी केले जातील. </a:t>
            </a:r>
            <a:r>
              <a:rPr lang="en-US" sz="1700" dirty="0">
                <a:latin typeface="Sakal Marathi" panose="02000400000000000000" pitchFamily="2" charset="0"/>
                <a:cs typeface="Sakal Marathi" panose="02000400000000000000" pitchFamily="2" charset="0"/>
              </a:rPr>
              <a:t>BMF </a:t>
            </a:r>
            <a:r>
              <a:rPr lang="mr-IN" sz="1700" dirty="0">
                <a:latin typeface="Sakal Marathi" panose="02000400000000000000" pitchFamily="2" charset="0"/>
                <a:cs typeface="Sakal Marathi" panose="02000400000000000000" pitchFamily="2" charset="0"/>
              </a:rPr>
              <a:t>शेतकरी आणि उद्योजकांसाठी प्रशिक्षण आयोजित करण्यासाठी प्रशिक्षण केंद्र म्हणूनही काम करेल.</a:t>
            </a:r>
            <a:endParaRPr lang="en-US" sz="1700" dirty="0">
              <a:latin typeface="Sakal Marathi" panose="02000400000000000000" pitchFamily="2" charset="0"/>
              <a:cs typeface="Sakal Marathi" panose="02000400000000000000" pitchFamily="2" charset="0"/>
            </a:endParaRPr>
          </a:p>
          <a:p>
            <a:pPr algn="just"/>
            <a:r>
              <a:rPr lang="mr-IN" sz="1700" b="1" dirty="0">
                <a:latin typeface="Sakal Marathi" panose="02000400000000000000" pitchFamily="2" charset="0"/>
                <a:cs typeface="Sakal Marathi" panose="02000400000000000000" pitchFamily="2" charset="0"/>
              </a:rPr>
              <a:t>उद्दिष्टे:</a:t>
            </a:r>
            <a:endParaRPr lang="en-US" sz="1700" b="1" dirty="0">
              <a:latin typeface="Sakal Marathi" panose="02000400000000000000" pitchFamily="2" charset="0"/>
              <a:cs typeface="Sakal Marathi" panose="02000400000000000000" pitchFamily="2" charset="0"/>
            </a:endParaRPr>
          </a:p>
          <a:p>
            <a:pPr algn="just"/>
            <a:r>
              <a:rPr lang="en-US" sz="1700" dirty="0">
                <a:latin typeface="Sakal Marathi" panose="02000400000000000000" pitchFamily="2" charset="0"/>
                <a:cs typeface="Sakal Marathi" panose="02000400000000000000" pitchFamily="2" charset="0"/>
              </a:rPr>
              <a:t>	</a:t>
            </a:r>
            <a:r>
              <a:rPr lang="mr-IN" sz="1700" dirty="0">
                <a:latin typeface="Sakal Marathi" panose="02000400000000000000" pitchFamily="2" charset="0"/>
                <a:cs typeface="Sakal Marathi" panose="02000400000000000000" pitchFamily="2" charset="0"/>
              </a:rPr>
              <a:t>गायी आणि म्हशींच्या संवर्धनासाठी खाजगी उद्योजक विकसित करणे• रोगमुक्त उच्च उत्पन्न देणारी गाय/गर्भण गायी, शक्यतो देशी गायी/म्हशी प्रदान करणे.• खाजगी व्यक्ती, उद्योजक, </a:t>
            </a:r>
            <a:r>
              <a:rPr lang="en-US" sz="1700" dirty="0">
                <a:latin typeface="Sakal Marathi" panose="02000400000000000000" pitchFamily="2" charset="0"/>
                <a:cs typeface="Sakal Marathi" panose="02000400000000000000" pitchFamily="2" charset="0"/>
              </a:rPr>
              <a:t>FPO, SHGs, FCOs, JLGs </a:t>
            </a:r>
            <a:r>
              <a:rPr lang="mr-IN" sz="1700" dirty="0">
                <a:latin typeface="Sakal Marathi" panose="02000400000000000000" pitchFamily="2" charset="0"/>
                <a:cs typeface="Sakal Marathi" panose="02000400000000000000" pitchFamily="2" charset="0"/>
              </a:rPr>
              <a:t>आणि कलम 8 कंपन्यांना प्रजनन फार्म स्थापन करण्यासाठी प्रोत्साहित करणेपशु पोषण, रोग प्रतिबंधक इत्यादींसह वैज्ञानिक व्यवस्थापन पद्धतींबद्दल जागरूकता पसरवणे.वैज्ञानिक पुनरुत्पादनाद्वारे ज्यामध्ये </a:t>
            </a:r>
            <a:r>
              <a:rPr lang="en-US" sz="1700" dirty="0">
                <a:latin typeface="Sakal Marathi" panose="02000400000000000000" pitchFamily="2" charset="0"/>
                <a:cs typeface="Sakal Marathi" panose="02000400000000000000" pitchFamily="2" charset="0"/>
              </a:rPr>
              <a:t>IVF </a:t>
            </a:r>
            <a:r>
              <a:rPr lang="mr-IN" sz="1700" dirty="0">
                <a:latin typeface="Sakal Marathi" panose="02000400000000000000" pitchFamily="2" charset="0"/>
                <a:cs typeface="Sakal Marathi" panose="02000400000000000000" pitchFamily="2" charset="0"/>
              </a:rPr>
              <a:t>तंत्रज्ञान आणि लिंग क्रमवारीत वीर्य समाविष्ट आहेजास्त उत्पन्न देणाऱ्या दुभत्या जनावरांची वाढ</a:t>
            </a:r>
            <a:endParaRPr lang="en-US" sz="1700" dirty="0">
              <a:latin typeface="Sakal Marathi" panose="02000400000000000000" pitchFamily="2" charset="0"/>
              <a:cs typeface="Sakal Marathi" panose="02000400000000000000" pitchFamily="2" charset="0"/>
            </a:endParaRPr>
          </a:p>
          <a:p>
            <a:pPr algn="just"/>
            <a:r>
              <a:rPr lang="mr-IN" sz="1700" b="1" dirty="0">
                <a:latin typeface="Sakal Marathi" panose="02000400000000000000" pitchFamily="2" charset="0"/>
                <a:cs typeface="Sakal Marathi" panose="02000400000000000000" pitchFamily="2" charset="0"/>
              </a:rPr>
              <a:t>उद्योजक निवडीसाठी 3 आवश्यक निकष:</a:t>
            </a:r>
            <a:endParaRPr lang="en-US" sz="1700" b="1" dirty="0">
              <a:latin typeface="Sakal Marathi" panose="02000400000000000000" pitchFamily="2" charset="0"/>
              <a:cs typeface="Sakal Marathi" panose="02000400000000000000" pitchFamily="2" charset="0"/>
            </a:endParaRPr>
          </a:p>
          <a:p>
            <a:pPr algn="just"/>
            <a:r>
              <a:rPr lang="en-US" sz="1700" b="1" dirty="0">
                <a:latin typeface="Sakal Marathi" panose="02000400000000000000" pitchFamily="2" charset="0"/>
                <a:cs typeface="Sakal Marathi" panose="02000400000000000000" pitchFamily="2" charset="0"/>
              </a:rPr>
              <a:t>	</a:t>
            </a:r>
            <a:r>
              <a:rPr lang="mr-IN" sz="1700" dirty="0">
                <a:latin typeface="Sakal Marathi" panose="02000400000000000000" pitchFamily="2" charset="0"/>
                <a:cs typeface="Sakal Marathi" panose="02000400000000000000" pitchFamily="2" charset="0"/>
              </a:rPr>
              <a:t>उद्योजक-एकत्रित व्यक्ती/</a:t>
            </a:r>
            <a:r>
              <a:rPr lang="en-US" sz="1700" dirty="0">
                <a:latin typeface="Sakal Marathi" panose="02000400000000000000" pitchFamily="2" charset="0"/>
                <a:cs typeface="Sakal Marathi" panose="02000400000000000000" pitchFamily="2" charset="0"/>
              </a:rPr>
              <a:t>FPO/FCO/SHG/JLG </a:t>
            </a:r>
            <a:r>
              <a:rPr lang="mr-IN" sz="1700" dirty="0">
                <a:latin typeface="Sakal Marathi" panose="02000400000000000000" pitchFamily="2" charset="0"/>
                <a:cs typeface="Sakal Marathi" panose="02000400000000000000" pitchFamily="2" charset="0"/>
              </a:rPr>
              <a:t>आणि कलम 8 कंपनी असू शकते.• उद्योजकाला शेतातील जनावरांचे प्रजनन किंवा संगोपन करण्याचा योग्य अनुभव असावायोग्य आकाराच्या जमिनीची व्यवस्था आणि स्थान यासाठी उद्योजक जबाबदार असेल. त्याच्याकडे किमान 200 प्राणी आणि त्यांचे अनुयायी ठेवण्यासाठी योग्य आकाराच्या जमिनीची मालकी/लीज डीड असावी.• कोणत्याही व्यक्ती/संस्थेला पशुसंवर्धन पायाभूत सुविधा विकास निधी (एएचआयडीएफ) अंतर्गत जाती संवर्धन फार्मच्या स्थापनेसाठी कर्ज सुविधेचा लाभ घेता येईल, त्यांनाही जाती संवर्धन फार्म अंतर्गत अनुदानाचा लाभ घेण्याची परवानगी दिली जाईल.शेतीच्या आवश्यकतेनुसार चारा व चारा खरेदी करण्याची व्यवस्था उद्योजक स्वत: करेल.उद्योजक किमान 200 दुभत्या गायी/म्हशींसह एक प्रजनन संवर्धन फार्म तयार करेल आणि स्टॉक सतत अपग्रेड करण्यासाठी नवीनतम प्रजनन तंत्र वापरेल.</a:t>
            </a:r>
            <a:endParaRPr lang="en-US" sz="1700" dirty="0">
              <a:latin typeface="Sakal Marathi" panose="02000400000000000000" pitchFamily="2" charset="0"/>
              <a:cs typeface="Sakal Marathi" panose="02000400000000000000" pitchFamily="2" charset="0"/>
            </a:endParaRPr>
          </a:p>
        </p:txBody>
      </p:sp>
    </p:spTree>
    <p:extLst>
      <p:ext uri="{BB962C8B-B14F-4D97-AF65-F5344CB8AC3E}">
        <p14:creationId xmlns:p14="http://schemas.microsoft.com/office/powerpoint/2010/main" val="1571194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EA0096-4400-F020-9FBA-370F15234543}"/>
              </a:ext>
            </a:extLst>
          </p:cNvPr>
          <p:cNvSpPr txBox="1"/>
          <p:nvPr/>
        </p:nvSpPr>
        <p:spPr>
          <a:xfrm>
            <a:off x="179512" y="0"/>
            <a:ext cx="8964488" cy="6991658"/>
          </a:xfrm>
          <a:prstGeom prst="rect">
            <a:avLst/>
          </a:prstGeom>
          <a:noFill/>
        </p:spPr>
        <p:txBody>
          <a:bodyPr wrap="square">
            <a:spAutoFit/>
          </a:bodyPr>
          <a:lstStyle/>
          <a:p>
            <a:pPr algn="just">
              <a:spcAft>
                <a:spcPts val="400"/>
              </a:spcAft>
            </a:pPr>
            <a:r>
              <a:rPr lang="mr-IN" sz="1500" dirty="0">
                <a:latin typeface="Sakal Marathi" panose="02000400000000000000" pitchFamily="2" charset="0"/>
                <a:cs typeface="Sakal Marathi" panose="02000400000000000000" pitchFamily="2" charset="0"/>
              </a:rPr>
              <a:t>उद्योजक यांचे कडे जन्मलेल्या 160 वासरांपैकी 116 उत्कृष्ट मादी वासरे शेतकऱ्यांना खर्चाच्या आधारे देऊ शकतात. लिंग क्रमवारी केलेले वीर्य आणि आयव्हीएफ तंत्रज्ञानाचा उपयोग उद्योजकाने गाईचे उत्पादन करण्यासाठी केला जाईल. उरलेल्या वासरांचा उपयोग शेतात उपलब्ध असलेला साठा बदलण्यासाठी केला जाऊ शकतो.दुग्ध व्यवसाय सुरू करण्यास इच्छुक असलेल्या शेतकरी/लघु उद्योजकांना उद्योजक उच्च उत्पन्न देणाऱ्या गार्‍या/गर्भवती गायी/गाई देईल. उद्योजक शेतकऱ्यांना पशु पोषण, लसीकरण, रोग तपासणी, जैवसुरक्षा राखणे इत्यादींबाबत मार्गदर्शन करतील आणि शेतकऱ्याला पशुवैद्यकीय सहाय्य देखील देईल.</a:t>
            </a:r>
          </a:p>
          <a:p>
            <a:pPr algn="just">
              <a:spcAft>
                <a:spcPts val="400"/>
              </a:spcAft>
            </a:pPr>
            <a:r>
              <a:rPr lang="mr-IN" sz="1500" b="1" dirty="0">
                <a:latin typeface="Sakal Marathi" panose="02000400000000000000" pitchFamily="2" charset="0"/>
                <a:cs typeface="Sakal Marathi" panose="02000400000000000000" pitchFamily="2" charset="0"/>
              </a:rPr>
              <a:t>निधी उपलब्धता:</a:t>
            </a:r>
          </a:p>
          <a:p>
            <a:pPr marL="400050" indent="-400050" algn="just">
              <a:spcAft>
                <a:spcPts val="400"/>
              </a:spcAft>
              <a:buAutoNum type="romanLcParenBoth"/>
            </a:pPr>
            <a:r>
              <a:rPr lang="mr-IN" sz="1500" dirty="0">
                <a:latin typeface="Sakal Marathi" panose="02000400000000000000" pitchFamily="2" charset="0"/>
                <a:cs typeface="Sakal Marathi" panose="02000400000000000000" pitchFamily="2" charset="0"/>
              </a:rPr>
              <a:t>ब्रीडर फार्म उभारण्यासाठी प्रत्येक उद्योजकाला केंद्र सरकारकडून प्रकल्प खर्चाच्या 50% दराने एकवेळ मदत दिली जाईल. उर्वरित 50% ची व्यवस्था लाभार्थ्याने अनुसूचित बँका/एनसीडीसी सारख्या इतर कोणत्याही वित्तीय संस्थांकडून कर्ज मिळवून केली पाहिजे. कर्जाची मुदत, मार्जिन मनी आणि तारण हे वित्तीय संस्थेने ठरवल्याप्रमाणे असेल.</a:t>
            </a:r>
          </a:p>
          <a:p>
            <a:pPr marL="400050" indent="-400050" algn="just">
              <a:spcAft>
                <a:spcPts val="400"/>
              </a:spcAft>
              <a:buAutoNum type="romanLcParenBoth"/>
            </a:pPr>
            <a:r>
              <a:rPr lang="mr-IN" sz="1500" dirty="0">
                <a:latin typeface="Sakal Marathi" panose="02000400000000000000" pitchFamily="2" charset="0"/>
                <a:cs typeface="Sakal Marathi" panose="02000400000000000000" pitchFamily="2" charset="0"/>
              </a:rPr>
              <a:t>गृहनिर्माण खर्च, प्रजनन जनावरांची खरेदी तसेच वाहतूक आणि विमा खर्च, उपकरणे/यंत्रसामग्री खर्चासाठी भांडवली खर्च (जमीन वगळता) भांडवली अनुदान दिले जाईल.</a:t>
            </a:r>
          </a:p>
          <a:p>
            <a:pPr marL="400050" indent="-400050" algn="just">
              <a:spcAft>
                <a:spcPts val="400"/>
              </a:spcAft>
              <a:buAutoNum type="romanLcParenBoth"/>
            </a:pPr>
            <a:r>
              <a:rPr lang="mr-IN" sz="1500" dirty="0">
                <a:latin typeface="Sakal Marathi" panose="02000400000000000000" pitchFamily="2" charset="0"/>
                <a:cs typeface="Sakal Marathi" panose="02000400000000000000" pitchFamily="2" charset="0"/>
              </a:rPr>
              <a:t>अनुदान </a:t>
            </a:r>
            <a:r>
              <a:rPr lang="en-US" sz="1500" dirty="0">
                <a:latin typeface="Sakal Marathi" panose="02000400000000000000" pitchFamily="2" charset="0"/>
                <a:cs typeface="Sakal Marathi" panose="02000400000000000000" pitchFamily="2" charset="0"/>
              </a:rPr>
              <a:t>NDDB </a:t>
            </a:r>
            <a:r>
              <a:rPr lang="mr-IN" sz="1500" dirty="0">
                <a:latin typeface="Sakal Marathi" panose="02000400000000000000" pitchFamily="2" charset="0"/>
                <a:cs typeface="Sakal Marathi" panose="02000400000000000000" pitchFamily="2" charset="0"/>
              </a:rPr>
              <a:t>द्वारे दिले जाईल.</a:t>
            </a:r>
          </a:p>
          <a:p>
            <a:pPr algn="just">
              <a:spcAft>
                <a:spcPts val="400"/>
              </a:spcAft>
            </a:pPr>
            <a:r>
              <a:rPr lang="mr-IN" sz="1500" b="1" dirty="0">
                <a:latin typeface="Sakal Marathi" panose="02000400000000000000" pitchFamily="2" charset="0"/>
                <a:cs typeface="Sakal Marathi" panose="02000400000000000000" pitchFamily="2" charset="0"/>
              </a:rPr>
              <a:t>अंमलबजावणी करणारी संस्था आणि निधी प्रवाह यंत्रणा:</a:t>
            </a:r>
          </a:p>
          <a:p>
            <a:pPr algn="just">
              <a:spcAft>
                <a:spcPts val="400"/>
              </a:spcAft>
            </a:pPr>
            <a:r>
              <a:rPr lang="mr-IN" sz="1500" dirty="0">
                <a:latin typeface="Sakal Marathi" panose="02000400000000000000" pitchFamily="2" charset="0"/>
                <a:cs typeface="Sakal Marathi" panose="02000400000000000000" pitchFamily="2" charset="0"/>
              </a:rPr>
              <a:t>	प्रकल्पाची अंमलबजावणी करणारी एजन्सी म्हणून </a:t>
            </a:r>
            <a:r>
              <a:rPr lang="en-US" sz="1500" dirty="0">
                <a:latin typeface="Sakal Marathi" panose="02000400000000000000" pitchFamily="2" charset="0"/>
                <a:cs typeface="Sakal Marathi" panose="02000400000000000000" pitchFamily="2" charset="0"/>
              </a:rPr>
              <a:t>NDDB </a:t>
            </a:r>
            <a:r>
              <a:rPr lang="mr-IN" sz="1500" dirty="0">
                <a:latin typeface="Sakal Marathi" panose="02000400000000000000" pitchFamily="2" charset="0"/>
                <a:cs typeface="Sakal Marathi" panose="02000400000000000000" pitchFamily="2" charset="0"/>
              </a:rPr>
              <a:t>मार्फत हा प्रकल्प राबविला /अंमलबजावणी केली जाईल. </a:t>
            </a:r>
          </a:p>
          <a:p>
            <a:pPr algn="just">
              <a:spcAft>
                <a:spcPts val="400"/>
              </a:spcAft>
            </a:pPr>
            <a:r>
              <a:rPr lang="mr-IN" sz="1500" dirty="0">
                <a:latin typeface="Sakal Marathi" panose="02000400000000000000" pitchFamily="2" charset="0"/>
                <a:cs typeface="Sakal Marathi" panose="02000400000000000000" pitchFamily="2" charset="0"/>
              </a:rPr>
              <a:t>	</a:t>
            </a:r>
            <a:r>
              <a:rPr lang="en-US" sz="1500" dirty="0">
                <a:latin typeface="Sakal Marathi" panose="02000400000000000000" pitchFamily="2" charset="0"/>
                <a:cs typeface="Sakal Marathi" panose="02000400000000000000" pitchFamily="2" charset="0"/>
              </a:rPr>
              <a:t>NDDB </a:t>
            </a:r>
            <a:r>
              <a:rPr lang="mr-IN" sz="1500" dirty="0">
                <a:latin typeface="Sakal Marathi" panose="02000400000000000000" pitchFamily="2" charset="0"/>
                <a:cs typeface="Sakal Marathi" panose="02000400000000000000" pitchFamily="2" charset="0"/>
              </a:rPr>
              <a:t>द्वारे लाभार्थीच्या कर्ज खात्यात थेट अनुदानजारी केले जाईल.</a:t>
            </a:r>
          </a:p>
          <a:p>
            <a:pPr algn="just">
              <a:spcAft>
                <a:spcPts val="400"/>
              </a:spcAft>
            </a:pPr>
            <a:r>
              <a:rPr lang="mr-IN" sz="1500" dirty="0">
                <a:latin typeface="Sakal Marathi" panose="02000400000000000000" pitchFamily="2" charset="0"/>
                <a:cs typeface="Sakal Marathi" panose="02000400000000000000" pitchFamily="2" charset="0"/>
              </a:rPr>
              <a:t> </a:t>
            </a:r>
            <a:r>
              <a:rPr lang="mr-IN" sz="1500" b="1" dirty="0">
                <a:latin typeface="Sakal Marathi" panose="02000400000000000000" pitchFamily="2" charset="0"/>
                <a:cs typeface="Sakal Marathi" panose="02000400000000000000" pitchFamily="2" charset="0"/>
              </a:rPr>
              <a:t>प्रकल्प मंजूरी आणि देखरेख:</a:t>
            </a:r>
          </a:p>
          <a:p>
            <a:pPr marL="285750" indent="-285750" algn="just">
              <a:spcAft>
                <a:spcPts val="400"/>
              </a:spcAft>
              <a:buFont typeface="Arial" panose="020B0604020202020204" pitchFamily="34" charset="0"/>
              <a:buChar char="•"/>
            </a:pPr>
            <a:r>
              <a:rPr lang="mr-IN" sz="1500" dirty="0">
                <a:latin typeface="Sakal Marathi" panose="02000400000000000000" pitchFamily="2" charset="0"/>
                <a:cs typeface="Sakal Marathi" panose="02000400000000000000" pitchFamily="2" charset="0"/>
              </a:rPr>
              <a:t>योजनेच्या मार्गदर्शक तत्त्वांनुसार </a:t>
            </a:r>
            <a:r>
              <a:rPr lang="en-US" sz="1500" dirty="0">
                <a:latin typeface="Sakal Marathi" panose="02000400000000000000" pitchFamily="2" charset="0"/>
                <a:cs typeface="Sakal Marathi" panose="02000400000000000000" pitchFamily="2" charset="0"/>
              </a:rPr>
              <a:t>NDDB </a:t>
            </a:r>
            <a:r>
              <a:rPr lang="mr-IN" sz="1500" dirty="0">
                <a:latin typeface="Sakal Marathi" panose="02000400000000000000" pitchFamily="2" charset="0"/>
                <a:cs typeface="Sakal Marathi" panose="02000400000000000000" pitchFamily="2" charset="0"/>
              </a:rPr>
              <a:t>प्रकल्प सबमिशनसाठी इच्छुक अभिव्यक्ती जारी करेल.</a:t>
            </a:r>
          </a:p>
          <a:p>
            <a:pPr marL="285750" indent="-285750" algn="just">
              <a:spcAft>
                <a:spcPts val="400"/>
              </a:spcAft>
              <a:buFont typeface="Arial" panose="020B0604020202020204" pitchFamily="34" charset="0"/>
              <a:buChar char="•"/>
            </a:pPr>
            <a:r>
              <a:rPr lang="mr-IN" sz="1500" dirty="0">
                <a:latin typeface="Sakal Marathi" panose="02000400000000000000" pitchFamily="2" charset="0"/>
                <a:cs typeface="Sakal Marathi" panose="02000400000000000000" pitchFamily="2" charset="0"/>
              </a:rPr>
              <a:t>उद्योजक मार्गदर्शक तत्त्वांनुसार बँक करण्यायोग्य प्रस्ताव तयार करेल आणि प्रस्ताव थेट </a:t>
            </a:r>
            <a:r>
              <a:rPr lang="en-US" sz="1500" dirty="0">
                <a:latin typeface="Sakal Marathi" panose="02000400000000000000" pitchFamily="2" charset="0"/>
                <a:cs typeface="Sakal Marathi" panose="02000400000000000000" pitchFamily="2" charset="0"/>
              </a:rPr>
              <a:t>NDDB </a:t>
            </a:r>
            <a:r>
              <a:rPr lang="mr-IN" sz="1500" dirty="0">
                <a:latin typeface="Sakal Marathi" panose="02000400000000000000" pitchFamily="2" charset="0"/>
                <a:cs typeface="Sakal Marathi" panose="02000400000000000000" pitchFamily="2" charset="0"/>
              </a:rPr>
              <a:t>कडे सादर करेल. </a:t>
            </a:r>
          </a:p>
          <a:p>
            <a:pPr marL="285750" indent="-285750" algn="just">
              <a:spcAft>
                <a:spcPts val="400"/>
              </a:spcAft>
              <a:buFont typeface="Arial" panose="020B0604020202020204" pitchFamily="34" charset="0"/>
              <a:buChar char="•"/>
            </a:pPr>
            <a:r>
              <a:rPr lang="mr-IN" sz="1500" dirty="0">
                <a:latin typeface="Sakal Marathi" panose="02000400000000000000" pitchFamily="2" charset="0"/>
                <a:cs typeface="Sakal Marathi" panose="02000400000000000000" pitchFamily="2" charset="0"/>
              </a:rPr>
              <a:t>प्रकल्पाच्या किमतीच्या 50% रक्कम कर्ज म्हणून मिळवण्यासाठी उद्योजक बँक/वित्तीय संस्थेशीही करार करेल.</a:t>
            </a:r>
          </a:p>
          <a:p>
            <a:pPr marL="285750" indent="-285750" algn="just">
              <a:spcAft>
                <a:spcPts val="400"/>
              </a:spcAft>
              <a:buFont typeface="Arial" panose="020B0604020202020204" pitchFamily="34" charset="0"/>
              <a:buChar char="•"/>
            </a:pPr>
            <a:r>
              <a:rPr lang="mr-IN" sz="1500" dirty="0">
                <a:latin typeface="Sakal Marathi" panose="02000400000000000000" pitchFamily="2" charset="0"/>
                <a:cs typeface="Sakal Marathi" panose="02000400000000000000" pitchFamily="2" charset="0"/>
              </a:rPr>
              <a:t>उद्योजकांकडून असे प्रस्ताव प्राप्त झाल्यानंतर, अंमलबजावणी एजन्सी (</a:t>
            </a:r>
            <a:r>
              <a:rPr lang="en-US" sz="1500" dirty="0">
                <a:latin typeface="Sakal Marathi" panose="02000400000000000000" pitchFamily="2" charset="0"/>
                <a:cs typeface="Sakal Marathi" panose="02000400000000000000" pitchFamily="2" charset="0"/>
              </a:rPr>
              <a:t>NDDB) </a:t>
            </a:r>
            <a:r>
              <a:rPr lang="mr-IN" sz="1500" dirty="0">
                <a:latin typeface="Sakal Marathi" panose="02000400000000000000" pitchFamily="2" charset="0"/>
                <a:cs typeface="Sakal Marathi" panose="02000400000000000000" pitchFamily="2" charset="0"/>
              </a:rPr>
              <a:t>द्वारे स्थापन केलेली समिती पात्रतेसाठी सर्व अर्जांची छाननी करेल.</a:t>
            </a:r>
          </a:p>
          <a:p>
            <a:pPr marL="285750" indent="-285750" algn="just">
              <a:spcAft>
                <a:spcPts val="400"/>
              </a:spcAft>
              <a:buFont typeface="Arial" panose="020B0604020202020204" pitchFamily="34" charset="0"/>
              <a:buChar char="•"/>
            </a:pPr>
            <a:r>
              <a:rPr lang="mr-IN" sz="1500" dirty="0">
                <a:latin typeface="Sakal Marathi" panose="02000400000000000000" pitchFamily="2" charset="0"/>
                <a:cs typeface="Sakal Marathi" panose="02000400000000000000" pitchFamily="2" charset="0"/>
              </a:rPr>
              <a:t>अंमलबजावणी एजन्सी (</a:t>
            </a:r>
            <a:r>
              <a:rPr lang="en-US" sz="1500" dirty="0">
                <a:latin typeface="Sakal Marathi" panose="02000400000000000000" pitchFamily="2" charset="0"/>
                <a:cs typeface="Sakal Marathi" panose="02000400000000000000" pitchFamily="2" charset="0"/>
              </a:rPr>
              <a:t>NDDB) </a:t>
            </a:r>
            <a:r>
              <a:rPr lang="mr-IN" sz="1500" dirty="0">
                <a:latin typeface="Sakal Marathi" panose="02000400000000000000" pitchFamily="2" charset="0"/>
                <a:cs typeface="Sakal Marathi" panose="02000400000000000000" pitchFamily="2" charset="0"/>
              </a:rPr>
              <a:t>द्वारे पात्र प्रकल्पांची शिफारस कर्ज मंजूर करण्यासाठी संबंधित बँक / वित्तीय संस्थेकडे केली जाईल.</a:t>
            </a:r>
            <a:endParaRPr lang="en-US" sz="1500" dirty="0">
              <a:latin typeface="Sakal Marathi" panose="02000400000000000000" pitchFamily="2" charset="0"/>
              <a:cs typeface="Sakal Marathi" panose="02000400000000000000" pitchFamily="2" charset="0"/>
            </a:endParaRPr>
          </a:p>
        </p:txBody>
      </p:sp>
    </p:spTree>
    <p:extLst>
      <p:ext uri="{BB962C8B-B14F-4D97-AF65-F5344CB8AC3E}">
        <p14:creationId xmlns:p14="http://schemas.microsoft.com/office/powerpoint/2010/main" val="1448420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D4931B-20B8-1256-B9AD-887B99CA92BB}"/>
              </a:ext>
            </a:extLst>
          </p:cNvPr>
          <p:cNvSpPr txBox="1"/>
          <p:nvPr/>
        </p:nvSpPr>
        <p:spPr>
          <a:xfrm>
            <a:off x="107504" y="116632"/>
            <a:ext cx="8928992" cy="6309420"/>
          </a:xfrm>
          <a:prstGeom prst="rect">
            <a:avLst/>
          </a:prstGeom>
          <a:noFill/>
        </p:spPr>
        <p:txBody>
          <a:bodyPr wrap="square">
            <a:spAutoFit/>
          </a:bodyPr>
          <a:lstStyle/>
          <a:p>
            <a:pPr algn="ctr"/>
            <a:r>
              <a:rPr lang="mr-IN" sz="2000" b="1" dirty="0">
                <a:solidFill>
                  <a:srgbClr val="00B050"/>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मॉडेल प्रकल्प:</a:t>
            </a:r>
            <a:endParaRPr lang="en-US" sz="2000" b="1" dirty="0">
              <a:solidFill>
                <a:srgbClr val="00B050"/>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endParaRPr>
          </a:p>
          <a:p>
            <a:r>
              <a:rPr lang="mr-IN" sz="1600" b="1" dirty="0">
                <a:latin typeface="Sakal Marathi" panose="02000400000000000000" pitchFamily="2" charset="0"/>
                <a:cs typeface="Sakal Marathi" panose="02000400000000000000" pitchFamily="2" charset="0"/>
              </a:rPr>
              <a:t>तांत्रिक कार्यक्रम:</a:t>
            </a:r>
            <a:endParaRPr lang="en-US" sz="1600" b="1" dirty="0">
              <a:latin typeface="Sakal Marathi" panose="02000400000000000000" pitchFamily="2" charset="0"/>
              <a:cs typeface="Sakal Marathi" panose="02000400000000000000" pitchFamily="2" charset="0"/>
            </a:endParaRPr>
          </a:p>
          <a:p>
            <a:pPr algn="just"/>
            <a:r>
              <a:rPr lang="en-US" sz="1600" dirty="0">
                <a:latin typeface="Sakal Marathi" panose="02000400000000000000" pitchFamily="2" charset="0"/>
                <a:cs typeface="Sakal Marathi" panose="02000400000000000000" pitchFamily="2" charset="0"/>
              </a:rPr>
              <a:t>	</a:t>
            </a:r>
            <a:r>
              <a:rPr lang="mr-IN" sz="1600" dirty="0">
                <a:latin typeface="Sakal Marathi" panose="02000400000000000000" pitchFamily="2" charset="0"/>
                <a:cs typeface="Sakal Marathi" panose="02000400000000000000" pitchFamily="2" charset="0"/>
              </a:rPr>
              <a:t>फार्ममध्ये 200 गायी/म्हशींचा समावेश असेल, शक्यतो उच्च उत्पादन क्षमता असलेल्या देशी जातींच्या. गुरांच्या बाबतीत गीर, साहिवाल, लाल सिंधी, थारपारकर इत्यादी देशी जातींची जनावरे आणि म्हशींच्या बाबतीत मुर्रा, मेहसाणा, बन्नी, जाफ्राबादी, नीली रवी इत्यादी जातीच्या प्रजनन मुलूखातून खरेदी करण्यात येईल. मूळ गुरे प्रति दुग्धपान (मानक दुग्ध उत्पादन) 3000 किलोपेक्षा जास्त उत्पादन करतील. एचएफच्या बाबतीत प्रति दुग्धपान 8000 किलो पेक्षा जास्त आणि जर्सीच्या बाबतीत 5000 किलो प्रति दुग्धपान उत्पादन करणाऱ्या विदेशी गुरांना ठेवण्याची परवानगी दिली जाईल. संकरित प्राणी </a:t>
            </a:r>
            <a:r>
              <a:rPr lang="en-US" sz="1600" dirty="0">
                <a:latin typeface="Sakal Marathi" panose="02000400000000000000" pitchFamily="2" charset="0"/>
                <a:cs typeface="Sakal Marathi" panose="02000400000000000000" pitchFamily="2" charset="0"/>
              </a:rPr>
              <a:t>CBHF </a:t>
            </a:r>
            <a:r>
              <a:rPr lang="mr-IN" sz="1600" dirty="0">
                <a:latin typeface="Sakal Marathi" panose="02000400000000000000" pitchFamily="2" charset="0"/>
                <a:cs typeface="Sakal Marathi" panose="02000400000000000000" pitchFamily="2" charset="0"/>
              </a:rPr>
              <a:t>च्या बाबतीत 5000 किलो</a:t>
            </a:r>
            <a:r>
              <a:rPr lang="en-US" sz="1600" dirty="0">
                <a:latin typeface="Sakal Marathi" panose="02000400000000000000" pitchFamily="2" charset="0"/>
                <a:cs typeface="Sakal Marathi" panose="02000400000000000000" pitchFamily="2" charset="0"/>
              </a:rPr>
              <a:t> </a:t>
            </a:r>
            <a:r>
              <a:rPr lang="mr-IN" sz="1600" dirty="0">
                <a:latin typeface="Sakal Marathi" panose="02000400000000000000" pitchFamily="2" charset="0"/>
                <a:cs typeface="Sakal Marathi" panose="02000400000000000000" pitchFamily="2" charset="0"/>
              </a:rPr>
              <a:t>आणि </a:t>
            </a:r>
            <a:r>
              <a:rPr lang="en-US" sz="1600" dirty="0">
                <a:latin typeface="Sakal Marathi" panose="02000400000000000000" pitchFamily="2" charset="0"/>
                <a:cs typeface="Sakal Marathi" panose="02000400000000000000" pitchFamily="2" charset="0"/>
              </a:rPr>
              <a:t>CB Jersey </a:t>
            </a:r>
            <a:r>
              <a:rPr lang="mr-IN" sz="1600" dirty="0">
                <a:latin typeface="Sakal Marathi" panose="02000400000000000000" pitchFamily="2" charset="0"/>
                <a:cs typeface="Sakal Marathi" panose="02000400000000000000" pitchFamily="2" charset="0"/>
              </a:rPr>
              <a:t>च्या बाबतीत 4000 किलो</a:t>
            </a:r>
            <a:r>
              <a:rPr lang="en-US" sz="1600" dirty="0">
                <a:latin typeface="Sakal Marathi" panose="02000400000000000000" pitchFamily="2" charset="0"/>
                <a:cs typeface="Sakal Marathi" panose="02000400000000000000" pitchFamily="2" charset="0"/>
              </a:rPr>
              <a:t> </a:t>
            </a:r>
            <a:r>
              <a:rPr lang="mr-IN" sz="1600" dirty="0">
                <a:latin typeface="Sakal Marathi" panose="02000400000000000000" pitchFamily="2" charset="0"/>
                <a:cs typeface="Sakal Marathi" panose="02000400000000000000" pitchFamily="2" charset="0"/>
              </a:rPr>
              <a:t>पेक्षा जास्त उत्पादन घेतील.देशी गायी/म्हशींच्या जातींच्या बाबतीत, 4000 किलो पेक्षा जास्त दुग्धोत्पादन असलेल्या बैलांना  शक्यतो संतती चाचणी केलेल्या बैलांच्या लिंग वर्गीकृत वीर्याने बीजारोपण करावे. देशातील विविध वीर्य केंद्रांवरून वीर्य कांड्या खरेदी केला जाईल.फार्म आयव्हीएफ तंत्रज्ञान वापरू शकतो आणि उच्च उत्पादक क्षमता असलेल्या देशी गायी/म्हशींच्या भ्रूणांचे रोपण करू शकतो. भ्रूण उत्पादनात देशी गाय/म्हशीच्या जाती 4000 किलोपेक्षा जास्त उत्पादनक्षमतेच्या दाता असू शकतात.</a:t>
            </a:r>
          </a:p>
          <a:p>
            <a:pPr algn="just"/>
            <a:r>
              <a:rPr lang="en-US" sz="1600" dirty="0">
                <a:latin typeface="Sakal Marathi" panose="02000400000000000000" pitchFamily="2" charset="0"/>
                <a:cs typeface="Sakal Marathi" panose="02000400000000000000" pitchFamily="2" charset="0"/>
              </a:rPr>
              <a:t>	</a:t>
            </a:r>
            <a:r>
              <a:rPr lang="mr-IN" sz="1600" dirty="0">
                <a:latin typeface="Sakal Marathi" panose="02000400000000000000" pitchFamily="2" charset="0"/>
                <a:cs typeface="Sakal Marathi" panose="02000400000000000000" pitchFamily="2" charset="0"/>
              </a:rPr>
              <a:t>ज्यांचे दूध उत्पादन 4000 पेक्षा जास्त आहे अशा देशी गायी/म्हशींच्या बैलांपासून वीर्य मिळवता येते</a:t>
            </a:r>
            <a:r>
              <a:rPr lang="en-US" sz="1600" dirty="0">
                <a:latin typeface="Sakal Marathi" panose="02000400000000000000" pitchFamily="2" charset="0"/>
                <a:cs typeface="Sakal Marathi" panose="02000400000000000000" pitchFamily="2" charset="0"/>
              </a:rPr>
              <a:t>.</a:t>
            </a:r>
            <a:r>
              <a:rPr lang="mr-IN" sz="1600" dirty="0">
                <a:latin typeface="Sakal Marathi" panose="02000400000000000000" pitchFamily="2" charset="0"/>
                <a:cs typeface="Sakal Marathi" panose="02000400000000000000" pitchFamily="2" charset="0"/>
              </a:rPr>
              <a:t> (कांकरेजच्या बाबतीत 3000 किलोपेक्षा जास्त आणि थरपारकरच्या बाबतीत 3500 किलोपेक्षा जास्त). भ्रूण उत्पादनासाठी वापरल्या जाणार्‍या बैलांची प्राधान्याने संतती चाचणी / जीनोमिकली चाचणी केली पाहिजे.फार्म दरवर्षी सुमारे 140 माद्या आणि 15 नर वासरे तयार करेल. सर्वोत्कृष्ट अनुवांशिक क्षमतेच्या 20 माद्या प्रतिवर्षी कळपाच्या 20% बदलीसाठी प्रक्षेत्रावर ठेवल्या जातील. सुमारे 116 माद्या शेतकऱ्यांस विक्री साठी उपलब्ध होणार आहेत.क्षयरोग, जॉन्स डिसीज (जेडी) आणि ब्रुसेलोसिससाठी दरवर्षी प्राण्यांची चाचणी केली जाईल आणि रोगग्रस्त जनावरांना कळपातून काढून टाकले जाईल. कळप वर नमूद केलेल्या रोगांपासून मुक्त घोषित केला जाईल. प्राण्यांना </a:t>
            </a:r>
            <a:r>
              <a:rPr lang="en-US" sz="1600" dirty="0">
                <a:latin typeface="Sakal Marathi" panose="02000400000000000000" pitchFamily="2" charset="0"/>
                <a:cs typeface="Sakal Marathi" panose="02000400000000000000" pitchFamily="2" charset="0"/>
              </a:rPr>
              <a:t>FMD (</a:t>
            </a:r>
            <a:r>
              <a:rPr lang="mr-IN" sz="1600" dirty="0">
                <a:latin typeface="Sakal Marathi" panose="02000400000000000000" pitchFamily="2" charset="0"/>
                <a:cs typeface="Sakal Marathi" panose="02000400000000000000" pitchFamily="2" charset="0"/>
              </a:rPr>
              <a:t>सहा महिन्यांच्या अंतराने), </a:t>
            </a:r>
            <a:r>
              <a:rPr lang="en-US" sz="1600" dirty="0">
                <a:latin typeface="Sakal Marathi" panose="02000400000000000000" pitchFamily="2" charset="0"/>
                <a:cs typeface="Sakal Marathi" panose="02000400000000000000" pitchFamily="2" charset="0"/>
              </a:rPr>
              <a:t>HS (</a:t>
            </a:r>
            <a:r>
              <a:rPr lang="mr-IN" sz="1600" dirty="0">
                <a:latin typeface="Sakal Marathi" panose="02000400000000000000" pitchFamily="2" charset="0"/>
                <a:cs typeface="Sakal Marathi" panose="02000400000000000000" pitchFamily="2" charset="0"/>
              </a:rPr>
              <a:t>वर्षातून एकदा), </a:t>
            </a:r>
            <a:r>
              <a:rPr lang="en-US" sz="1600" dirty="0">
                <a:latin typeface="Sakal Marathi" panose="02000400000000000000" pitchFamily="2" charset="0"/>
                <a:cs typeface="Sakal Marathi" panose="02000400000000000000" pitchFamily="2" charset="0"/>
              </a:rPr>
              <a:t>BQ (</a:t>
            </a:r>
            <a:r>
              <a:rPr lang="mr-IN" sz="1600" dirty="0">
                <a:latin typeface="Sakal Marathi" panose="02000400000000000000" pitchFamily="2" charset="0"/>
                <a:cs typeface="Sakal Marathi" panose="02000400000000000000" pitchFamily="2" charset="0"/>
              </a:rPr>
              <a:t>वर्षातून एकदा) आणि </a:t>
            </a:r>
            <a:r>
              <a:rPr lang="en-US" sz="1600" dirty="0">
                <a:latin typeface="Sakal Marathi" panose="02000400000000000000" pitchFamily="2" charset="0"/>
                <a:cs typeface="Sakal Marathi" panose="02000400000000000000" pitchFamily="2" charset="0"/>
              </a:rPr>
              <a:t>Theileriosis (</a:t>
            </a:r>
            <a:r>
              <a:rPr lang="mr-IN" sz="1600" dirty="0">
                <a:latin typeface="Sakal Marathi" panose="02000400000000000000" pitchFamily="2" charset="0"/>
                <a:cs typeface="Sakal Marathi" panose="02000400000000000000" pitchFamily="2" charset="0"/>
              </a:rPr>
              <a:t>एक्झॉटिक/क्रॉसब्रेडच्या बाबतीत आयुष्यात एकदा) लसीकरण केले जाईल. मात्र, राज्यात एखाद्या विशिष्ट आजाराचा प्रादुर्भाव किंवा प्रसार झाल्यावरच जिवाणूजन्य आजारांवर लसीकरण केले जाईल. अनुवांशिक विकारांसाठी विदेशी प्राण्यांचीही चाचणी केली जाईल.</a:t>
            </a:r>
            <a:endParaRPr lang="en-US" sz="1600" dirty="0">
              <a:latin typeface="Sakal Marathi" panose="02000400000000000000" pitchFamily="2" charset="0"/>
              <a:cs typeface="Sakal Marathi" panose="02000400000000000000" pitchFamily="2" charset="0"/>
            </a:endParaRPr>
          </a:p>
        </p:txBody>
      </p:sp>
    </p:spTree>
    <p:extLst>
      <p:ext uri="{BB962C8B-B14F-4D97-AF65-F5344CB8AC3E}">
        <p14:creationId xmlns:p14="http://schemas.microsoft.com/office/powerpoint/2010/main" val="287464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341FCC-B59E-4158-A153-C04074F05A3E}"/>
              </a:ext>
            </a:extLst>
          </p:cNvPr>
          <p:cNvSpPr txBox="1"/>
          <p:nvPr/>
        </p:nvSpPr>
        <p:spPr>
          <a:xfrm>
            <a:off x="611560" y="836712"/>
            <a:ext cx="1800200" cy="830997"/>
          </a:xfrm>
          <a:prstGeom prst="rect">
            <a:avLst/>
          </a:prstGeom>
          <a:noFill/>
        </p:spPr>
        <p:txBody>
          <a:bodyPr wrap="square" rtlCol="0">
            <a:spAutoFit/>
          </a:bodyPr>
          <a:lstStyle/>
          <a:p>
            <a:r>
              <a:rPr lang="mr-IN" sz="1600" dirty="0">
                <a:latin typeface="Sakal Marathi" panose="02000400000000000000" pitchFamily="2" charset="0"/>
                <a:cs typeface="Sakal Marathi" panose="02000400000000000000" pitchFamily="2" charset="0"/>
              </a:rPr>
              <a:t>मुख्यतः प्रजनन क्षेत्रातून स्टॉकची खरेदी</a:t>
            </a:r>
            <a:endParaRPr lang="en-US" sz="1600" dirty="0">
              <a:latin typeface="Sakal Marathi" panose="02000400000000000000" pitchFamily="2" charset="0"/>
              <a:cs typeface="Sakal Marathi" panose="02000400000000000000" pitchFamily="2" charset="0"/>
            </a:endParaRPr>
          </a:p>
        </p:txBody>
      </p:sp>
      <p:sp>
        <p:nvSpPr>
          <p:cNvPr id="3" name="Rectangle 2">
            <a:extLst>
              <a:ext uri="{FF2B5EF4-FFF2-40B4-BE49-F238E27FC236}">
                <a16:creationId xmlns:a16="http://schemas.microsoft.com/office/drawing/2014/main" id="{8E08E0AF-0F28-BB9A-1A73-27BDF3A2DFC2}"/>
              </a:ext>
            </a:extLst>
          </p:cNvPr>
          <p:cNvSpPr/>
          <p:nvPr/>
        </p:nvSpPr>
        <p:spPr>
          <a:xfrm>
            <a:off x="611560" y="764704"/>
            <a:ext cx="1872208"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mr-IN" dirty="0">
                <a:latin typeface="Sakal Marathi" panose="02000400000000000000" pitchFamily="2" charset="0"/>
                <a:cs typeface="Sakal Marathi" panose="02000400000000000000" pitchFamily="2" charset="0"/>
              </a:rPr>
              <a:t>मुख्यतः प्रजनन क्षेत्रातून स्टॉकची खरेदी</a:t>
            </a:r>
            <a:endParaRPr lang="en-US" dirty="0">
              <a:latin typeface="Sakal Marathi" panose="02000400000000000000" pitchFamily="2" charset="0"/>
              <a:cs typeface="Sakal Marathi" panose="02000400000000000000" pitchFamily="2" charset="0"/>
            </a:endParaRPr>
          </a:p>
        </p:txBody>
      </p:sp>
      <p:sp>
        <p:nvSpPr>
          <p:cNvPr id="4" name="Rectangle: Rounded Corners 3">
            <a:extLst>
              <a:ext uri="{FF2B5EF4-FFF2-40B4-BE49-F238E27FC236}">
                <a16:creationId xmlns:a16="http://schemas.microsoft.com/office/drawing/2014/main" id="{0FF2985A-42DF-6B65-74DE-2856A0196757}"/>
              </a:ext>
            </a:extLst>
          </p:cNvPr>
          <p:cNvSpPr/>
          <p:nvPr/>
        </p:nvSpPr>
        <p:spPr>
          <a:xfrm>
            <a:off x="3635896" y="1448780"/>
            <a:ext cx="2736304" cy="5760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dirty="0">
                <a:latin typeface="Sakal Marathi" panose="02000400000000000000" pitchFamily="2" charset="0"/>
                <a:cs typeface="Sakal Marathi" panose="02000400000000000000" pitchFamily="2" charset="0"/>
              </a:rPr>
              <a:t>200 दुभत्या गुरांचा कळप</a:t>
            </a:r>
            <a:endParaRPr lang="en-US" dirty="0">
              <a:latin typeface="Sakal Marathi" panose="02000400000000000000" pitchFamily="2" charset="0"/>
              <a:cs typeface="Sakal Marathi" panose="02000400000000000000" pitchFamily="2" charset="0"/>
            </a:endParaRPr>
          </a:p>
        </p:txBody>
      </p:sp>
      <p:sp>
        <p:nvSpPr>
          <p:cNvPr id="5" name="Rectangle 4">
            <a:extLst>
              <a:ext uri="{FF2B5EF4-FFF2-40B4-BE49-F238E27FC236}">
                <a16:creationId xmlns:a16="http://schemas.microsoft.com/office/drawing/2014/main" id="{509EB071-7C31-74F5-6CB9-D7263E056AC0}"/>
              </a:ext>
            </a:extLst>
          </p:cNvPr>
          <p:cNvSpPr/>
          <p:nvPr/>
        </p:nvSpPr>
        <p:spPr>
          <a:xfrm>
            <a:off x="611560" y="2204864"/>
            <a:ext cx="1872208"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a:latin typeface="Sakal Marathi" panose="02000400000000000000" pitchFamily="2" charset="0"/>
                <a:cs typeface="Sakal Marathi" panose="02000400000000000000" pitchFamily="2" charset="0"/>
              </a:rPr>
              <a:t>नियमित निदान चाचण्या</a:t>
            </a:r>
            <a:endParaRPr lang="en-US">
              <a:latin typeface="Sakal Marathi" panose="02000400000000000000" pitchFamily="2" charset="0"/>
              <a:cs typeface="Sakal Marathi" panose="02000400000000000000" pitchFamily="2" charset="0"/>
            </a:endParaRPr>
          </a:p>
        </p:txBody>
      </p:sp>
      <p:sp>
        <p:nvSpPr>
          <p:cNvPr id="7" name="Rectangle 6">
            <a:extLst>
              <a:ext uri="{FF2B5EF4-FFF2-40B4-BE49-F238E27FC236}">
                <a16:creationId xmlns:a16="http://schemas.microsoft.com/office/drawing/2014/main" id="{EC14164E-0230-6620-C3A9-A4A4858386CB}"/>
              </a:ext>
            </a:extLst>
          </p:cNvPr>
          <p:cNvSpPr/>
          <p:nvPr/>
        </p:nvSpPr>
        <p:spPr>
          <a:xfrm>
            <a:off x="3759351" y="2429855"/>
            <a:ext cx="223224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dirty="0">
                <a:latin typeface="Sakal Marathi" panose="02000400000000000000" pitchFamily="2" charset="0"/>
                <a:cs typeface="Sakal Marathi" panose="02000400000000000000" pitchFamily="2" charset="0"/>
              </a:rPr>
              <a:t>160 दुभती जनावरे</a:t>
            </a:r>
            <a:endParaRPr lang="en-US" dirty="0">
              <a:latin typeface="Sakal Marathi" panose="02000400000000000000" pitchFamily="2" charset="0"/>
              <a:cs typeface="Sakal Marathi" panose="02000400000000000000" pitchFamily="2" charset="0"/>
            </a:endParaRPr>
          </a:p>
        </p:txBody>
      </p:sp>
      <p:sp>
        <p:nvSpPr>
          <p:cNvPr id="8" name="Rectangle 7">
            <a:extLst>
              <a:ext uri="{FF2B5EF4-FFF2-40B4-BE49-F238E27FC236}">
                <a16:creationId xmlns:a16="http://schemas.microsoft.com/office/drawing/2014/main" id="{5F891426-79B3-DCDE-B998-026A68A3B8FB}"/>
              </a:ext>
            </a:extLst>
          </p:cNvPr>
          <p:cNvSpPr/>
          <p:nvPr/>
        </p:nvSpPr>
        <p:spPr>
          <a:xfrm>
            <a:off x="7524328" y="2348880"/>
            <a:ext cx="432048" cy="1656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dirty="0"/>
              <a:t>प्रती स्थापना</a:t>
            </a:r>
            <a:endParaRPr lang="en-US" dirty="0"/>
          </a:p>
        </p:txBody>
      </p:sp>
      <p:sp>
        <p:nvSpPr>
          <p:cNvPr id="9" name="Rectangle 8">
            <a:extLst>
              <a:ext uri="{FF2B5EF4-FFF2-40B4-BE49-F238E27FC236}">
                <a16:creationId xmlns:a16="http://schemas.microsoft.com/office/drawing/2014/main" id="{32B032B8-D454-D1B2-D7FF-37DAF22C5AF7}"/>
              </a:ext>
            </a:extLst>
          </p:cNvPr>
          <p:cNvSpPr/>
          <p:nvPr/>
        </p:nvSpPr>
        <p:spPr>
          <a:xfrm>
            <a:off x="2555776" y="3447002"/>
            <a:ext cx="3816424"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sz="1600" dirty="0">
                <a:latin typeface="Sakal Marathi" panose="02000400000000000000" pitchFamily="2" charset="0"/>
                <a:cs typeface="Sakal Marathi" panose="02000400000000000000" pitchFamily="2" charset="0"/>
              </a:rPr>
              <a:t>उच्च अनुवांशिक गुणवत्तेचे लिंग वर्गीकरण केलेले वीर्य / </a:t>
            </a:r>
            <a:r>
              <a:rPr lang="en-US" sz="1600" dirty="0">
                <a:latin typeface="Sakal Marathi" panose="02000400000000000000" pitchFamily="2" charset="0"/>
                <a:cs typeface="Sakal Marathi" panose="02000400000000000000" pitchFamily="2" charset="0"/>
              </a:rPr>
              <a:t>IVF </a:t>
            </a:r>
            <a:r>
              <a:rPr lang="mr-IN" sz="1600" dirty="0">
                <a:latin typeface="Sakal Marathi" panose="02000400000000000000" pitchFamily="2" charset="0"/>
                <a:cs typeface="Sakal Marathi" panose="02000400000000000000" pitchFamily="2" charset="0"/>
              </a:rPr>
              <a:t>तंत्रज्ञानासह गर्भधारणा</a:t>
            </a:r>
            <a:endParaRPr lang="en-US" sz="1600" dirty="0">
              <a:latin typeface="Sakal Marathi" panose="02000400000000000000" pitchFamily="2" charset="0"/>
              <a:cs typeface="Sakal Marathi" panose="02000400000000000000" pitchFamily="2" charset="0"/>
            </a:endParaRPr>
          </a:p>
        </p:txBody>
      </p:sp>
      <p:sp>
        <p:nvSpPr>
          <p:cNvPr id="10" name="Rectangle 9">
            <a:extLst>
              <a:ext uri="{FF2B5EF4-FFF2-40B4-BE49-F238E27FC236}">
                <a16:creationId xmlns:a16="http://schemas.microsoft.com/office/drawing/2014/main" id="{6D44C2A6-A844-478B-138E-F5D7D60B9B73}"/>
              </a:ext>
            </a:extLst>
          </p:cNvPr>
          <p:cNvSpPr/>
          <p:nvPr/>
        </p:nvSpPr>
        <p:spPr>
          <a:xfrm>
            <a:off x="1187624" y="4653136"/>
            <a:ext cx="1296144"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sz="1600" dirty="0">
                <a:latin typeface="Sakal Marathi" panose="02000400000000000000" pitchFamily="2" charset="0"/>
                <a:cs typeface="Sakal Marathi" panose="02000400000000000000" pitchFamily="2" charset="0"/>
              </a:rPr>
              <a:t>16 नर वासरे</a:t>
            </a:r>
            <a:endParaRPr lang="en-US" sz="1600" dirty="0">
              <a:latin typeface="Sakal Marathi" panose="02000400000000000000" pitchFamily="2" charset="0"/>
              <a:cs typeface="Sakal Marathi" panose="02000400000000000000" pitchFamily="2" charset="0"/>
            </a:endParaRPr>
          </a:p>
        </p:txBody>
      </p:sp>
      <p:sp>
        <p:nvSpPr>
          <p:cNvPr id="11" name="Rectangle 10">
            <a:extLst>
              <a:ext uri="{FF2B5EF4-FFF2-40B4-BE49-F238E27FC236}">
                <a16:creationId xmlns:a16="http://schemas.microsoft.com/office/drawing/2014/main" id="{4200CAD1-03DD-A928-A8E2-9101DB233A79}"/>
              </a:ext>
            </a:extLst>
          </p:cNvPr>
          <p:cNvSpPr/>
          <p:nvPr/>
        </p:nvSpPr>
        <p:spPr>
          <a:xfrm>
            <a:off x="5364090" y="4581128"/>
            <a:ext cx="1296144"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dirty="0">
                <a:latin typeface="Sakal Marathi" panose="02000400000000000000" pitchFamily="2" charset="0"/>
                <a:cs typeface="Sakal Marathi" panose="02000400000000000000" pitchFamily="2" charset="0"/>
              </a:rPr>
              <a:t>144 माद्या </a:t>
            </a:r>
            <a:endParaRPr lang="en-US" dirty="0">
              <a:latin typeface="Sakal Marathi" panose="02000400000000000000" pitchFamily="2" charset="0"/>
              <a:cs typeface="Sakal Marathi" panose="02000400000000000000" pitchFamily="2" charset="0"/>
            </a:endParaRPr>
          </a:p>
        </p:txBody>
      </p:sp>
      <p:sp>
        <p:nvSpPr>
          <p:cNvPr id="12" name="Rectangle 11">
            <a:extLst>
              <a:ext uri="{FF2B5EF4-FFF2-40B4-BE49-F238E27FC236}">
                <a16:creationId xmlns:a16="http://schemas.microsoft.com/office/drawing/2014/main" id="{C5B9C32B-1575-33B5-4332-6291985D51CD}"/>
              </a:ext>
            </a:extLst>
          </p:cNvPr>
          <p:cNvSpPr/>
          <p:nvPr/>
        </p:nvSpPr>
        <p:spPr>
          <a:xfrm>
            <a:off x="3635896" y="5733256"/>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dirty="0">
                <a:latin typeface="Sakal Marathi" panose="02000400000000000000" pitchFamily="2" charset="0"/>
                <a:cs typeface="Sakal Marathi" panose="02000400000000000000" pitchFamily="2" charset="0"/>
              </a:rPr>
              <a:t>116 माद्या</a:t>
            </a:r>
            <a:endParaRPr lang="en-US" dirty="0">
              <a:latin typeface="Sakal Marathi" panose="02000400000000000000" pitchFamily="2" charset="0"/>
              <a:cs typeface="Sakal Marathi" panose="02000400000000000000" pitchFamily="2" charset="0"/>
            </a:endParaRPr>
          </a:p>
        </p:txBody>
      </p:sp>
      <p:sp>
        <p:nvSpPr>
          <p:cNvPr id="13" name="Rectangle 12">
            <a:extLst>
              <a:ext uri="{FF2B5EF4-FFF2-40B4-BE49-F238E27FC236}">
                <a16:creationId xmlns:a16="http://schemas.microsoft.com/office/drawing/2014/main" id="{BF732E47-143C-7E30-E7F0-1B82089087D4}"/>
              </a:ext>
            </a:extLst>
          </p:cNvPr>
          <p:cNvSpPr/>
          <p:nvPr/>
        </p:nvSpPr>
        <p:spPr>
          <a:xfrm>
            <a:off x="5940152" y="5733256"/>
            <a:ext cx="194421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sz="1600" dirty="0">
                <a:latin typeface="Sakal Marathi" panose="02000400000000000000" pitchFamily="2" charset="0"/>
                <a:cs typeface="Sakal Marathi" panose="02000400000000000000" pitchFamily="2" charset="0"/>
              </a:rPr>
              <a:t>20 उत्कृष्ट कालवडी</a:t>
            </a:r>
            <a:endParaRPr lang="en-US" sz="1600" dirty="0">
              <a:latin typeface="Sakal Marathi" panose="02000400000000000000" pitchFamily="2" charset="0"/>
              <a:cs typeface="Sakal Marathi" panose="02000400000000000000" pitchFamily="2" charset="0"/>
            </a:endParaRPr>
          </a:p>
        </p:txBody>
      </p:sp>
      <p:sp>
        <p:nvSpPr>
          <p:cNvPr id="14" name="Rectangle 13">
            <a:extLst>
              <a:ext uri="{FF2B5EF4-FFF2-40B4-BE49-F238E27FC236}">
                <a16:creationId xmlns:a16="http://schemas.microsoft.com/office/drawing/2014/main" id="{47A8EEB5-A489-03B9-371A-D8E3262F2B40}"/>
              </a:ext>
            </a:extLst>
          </p:cNvPr>
          <p:cNvSpPr/>
          <p:nvPr/>
        </p:nvSpPr>
        <p:spPr>
          <a:xfrm>
            <a:off x="1259632" y="5589240"/>
            <a:ext cx="1368152"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Sakal Marathi" panose="02000400000000000000" pitchFamily="2" charset="0"/>
                <a:cs typeface="Sakal Marathi" panose="02000400000000000000" pitchFamily="2" charset="0"/>
              </a:rPr>
              <a:t>AI </a:t>
            </a:r>
            <a:r>
              <a:rPr lang="mr-IN" sz="1200" dirty="0">
                <a:latin typeface="Sakal Marathi" panose="02000400000000000000" pitchFamily="2" charset="0"/>
                <a:cs typeface="Sakal Marathi" panose="02000400000000000000" pitchFamily="2" charset="0"/>
              </a:rPr>
              <a:t>पासून विक्री/रोग चाचणी पर्यंत</a:t>
            </a:r>
            <a:endParaRPr lang="en-US" sz="1200" dirty="0">
              <a:latin typeface="Sakal Marathi" panose="02000400000000000000" pitchFamily="2" charset="0"/>
              <a:cs typeface="Sakal Marathi" panose="02000400000000000000" pitchFamily="2" charset="0"/>
            </a:endParaRPr>
          </a:p>
        </p:txBody>
      </p:sp>
      <p:sp>
        <p:nvSpPr>
          <p:cNvPr id="15" name="Rectangle 14">
            <a:extLst>
              <a:ext uri="{FF2B5EF4-FFF2-40B4-BE49-F238E27FC236}">
                <a16:creationId xmlns:a16="http://schemas.microsoft.com/office/drawing/2014/main" id="{569F444F-B184-80A8-D616-A504887E5B30}"/>
              </a:ext>
            </a:extLst>
          </p:cNvPr>
          <p:cNvSpPr/>
          <p:nvPr/>
        </p:nvSpPr>
        <p:spPr>
          <a:xfrm>
            <a:off x="2339752" y="6525344"/>
            <a:ext cx="4968552" cy="332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a:latin typeface="Sakal Marathi" panose="02000400000000000000" pitchFamily="2" charset="0"/>
                <a:cs typeface="Sakal Marathi" panose="02000400000000000000" pitchFamily="2" charset="0"/>
              </a:rPr>
              <a:t>शेतकऱ्यांना उपलब्ध करून दिले</a:t>
            </a:r>
            <a:endParaRPr lang="en-US">
              <a:latin typeface="Sakal Marathi" panose="02000400000000000000" pitchFamily="2" charset="0"/>
              <a:cs typeface="Sakal Marathi" panose="02000400000000000000" pitchFamily="2" charset="0"/>
            </a:endParaRPr>
          </a:p>
        </p:txBody>
      </p:sp>
      <p:cxnSp>
        <p:nvCxnSpPr>
          <p:cNvPr id="17" name="Straight Arrow Connector 16">
            <a:extLst>
              <a:ext uri="{FF2B5EF4-FFF2-40B4-BE49-F238E27FC236}">
                <a16:creationId xmlns:a16="http://schemas.microsoft.com/office/drawing/2014/main" id="{036AC576-C1EE-4B65-2346-EF9674C7A5F8}"/>
              </a:ext>
            </a:extLst>
          </p:cNvPr>
          <p:cNvCxnSpPr/>
          <p:nvPr/>
        </p:nvCxnSpPr>
        <p:spPr>
          <a:xfrm>
            <a:off x="2411760" y="1772816"/>
            <a:ext cx="12241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C6D9BFB-AF50-1B11-C272-E7C44F04DF7A}"/>
              </a:ext>
            </a:extLst>
          </p:cNvPr>
          <p:cNvCxnSpPr>
            <a:cxnSpLocks/>
          </p:cNvCxnSpPr>
          <p:nvPr/>
        </p:nvCxnSpPr>
        <p:spPr>
          <a:xfrm>
            <a:off x="4794684" y="1988840"/>
            <a:ext cx="0" cy="432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1DF90E0-EA66-32F6-704A-5C7478A20113}"/>
              </a:ext>
            </a:extLst>
          </p:cNvPr>
          <p:cNvCxnSpPr>
            <a:cxnSpLocks/>
          </p:cNvCxnSpPr>
          <p:nvPr/>
        </p:nvCxnSpPr>
        <p:spPr>
          <a:xfrm>
            <a:off x="4794684" y="2780928"/>
            <a:ext cx="0" cy="10081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5CBADB9-3CBC-D191-906B-AA7EE3A0385F}"/>
              </a:ext>
            </a:extLst>
          </p:cNvPr>
          <p:cNvCxnSpPr>
            <a:stCxn id="9" idx="2"/>
          </p:cNvCxnSpPr>
          <p:nvPr/>
        </p:nvCxnSpPr>
        <p:spPr>
          <a:xfrm>
            <a:off x="4463988" y="4023066"/>
            <a:ext cx="0" cy="27003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B953A709-BADF-5AA6-8B1D-87AB74FBA84E}"/>
              </a:ext>
            </a:extLst>
          </p:cNvPr>
          <p:cNvCxnSpPr/>
          <p:nvPr/>
        </p:nvCxnSpPr>
        <p:spPr>
          <a:xfrm>
            <a:off x="2051720" y="4293096"/>
            <a:ext cx="39604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6594CBA-60B9-571B-28BC-6B59394E6B5E}"/>
              </a:ext>
            </a:extLst>
          </p:cNvPr>
          <p:cNvCxnSpPr/>
          <p:nvPr/>
        </p:nvCxnSpPr>
        <p:spPr>
          <a:xfrm>
            <a:off x="2051720" y="4293096"/>
            <a:ext cx="0" cy="36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C3AB0DA-1E07-55A5-F041-DAAA0CAC4EF8}"/>
              </a:ext>
            </a:extLst>
          </p:cNvPr>
          <p:cNvCxnSpPr>
            <a:endCxn id="11" idx="0"/>
          </p:cNvCxnSpPr>
          <p:nvPr/>
        </p:nvCxnSpPr>
        <p:spPr>
          <a:xfrm>
            <a:off x="6012162" y="4293096"/>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4B284C8-093F-3EEC-8D97-D739D4B5A8DD}"/>
              </a:ext>
            </a:extLst>
          </p:cNvPr>
          <p:cNvCxnSpPr>
            <a:stCxn id="10" idx="2"/>
          </p:cNvCxnSpPr>
          <p:nvPr/>
        </p:nvCxnSpPr>
        <p:spPr>
          <a:xfrm>
            <a:off x="1835696" y="5085184"/>
            <a:ext cx="0" cy="50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F246199-598A-367C-B998-6814618EA057}"/>
              </a:ext>
            </a:extLst>
          </p:cNvPr>
          <p:cNvCxnSpPr>
            <a:cxnSpLocks/>
            <a:stCxn id="11" idx="2"/>
          </p:cNvCxnSpPr>
          <p:nvPr/>
        </p:nvCxnSpPr>
        <p:spPr>
          <a:xfrm>
            <a:off x="6012162" y="5085184"/>
            <a:ext cx="0" cy="324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12D5129-1178-1B07-5487-7F7D2F75FF4D}"/>
              </a:ext>
            </a:extLst>
          </p:cNvPr>
          <p:cNvCxnSpPr/>
          <p:nvPr/>
        </p:nvCxnSpPr>
        <p:spPr>
          <a:xfrm>
            <a:off x="4572000" y="5409220"/>
            <a:ext cx="208823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3FDCBCB-0BD6-BE43-5630-5D32411570E5}"/>
              </a:ext>
            </a:extLst>
          </p:cNvPr>
          <p:cNvCxnSpPr/>
          <p:nvPr/>
        </p:nvCxnSpPr>
        <p:spPr>
          <a:xfrm>
            <a:off x="4572000" y="5409220"/>
            <a:ext cx="0" cy="324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7CBF239-6B4F-CE1E-37C6-0CE58742ECF9}"/>
              </a:ext>
            </a:extLst>
          </p:cNvPr>
          <p:cNvCxnSpPr/>
          <p:nvPr/>
        </p:nvCxnSpPr>
        <p:spPr>
          <a:xfrm>
            <a:off x="6660234" y="5409220"/>
            <a:ext cx="0" cy="324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B2BF384-E953-9F61-A853-9624D0A01EBB}"/>
              </a:ext>
            </a:extLst>
          </p:cNvPr>
          <p:cNvCxnSpPr>
            <a:cxnSpLocks/>
            <a:endCxn id="4" idx="3"/>
          </p:cNvCxnSpPr>
          <p:nvPr/>
        </p:nvCxnSpPr>
        <p:spPr>
          <a:xfrm flipH="1">
            <a:off x="6372200" y="1736812"/>
            <a:ext cx="2016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5C55CB6-2B9E-C92D-FBAA-0115D0D97F4B}"/>
              </a:ext>
            </a:extLst>
          </p:cNvPr>
          <p:cNvCxnSpPr>
            <a:cxnSpLocks/>
          </p:cNvCxnSpPr>
          <p:nvPr/>
        </p:nvCxnSpPr>
        <p:spPr>
          <a:xfrm>
            <a:off x="8388424" y="1772816"/>
            <a:ext cx="72007" cy="414046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060D138-E2F8-96D5-1CE8-2B5B37DA1059}"/>
              </a:ext>
            </a:extLst>
          </p:cNvPr>
          <p:cNvCxnSpPr>
            <a:cxnSpLocks/>
            <a:endCxn id="13" idx="3"/>
          </p:cNvCxnSpPr>
          <p:nvPr/>
        </p:nvCxnSpPr>
        <p:spPr>
          <a:xfrm flipH="1">
            <a:off x="7884368" y="5913276"/>
            <a:ext cx="5760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9D2A297-1DBC-2FF0-F760-60FD747E25FC}"/>
              </a:ext>
            </a:extLst>
          </p:cNvPr>
          <p:cNvCxnSpPr/>
          <p:nvPr/>
        </p:nvCxnSpPr>
        <p:spPr>
          <a:xfrm>
            <a:off x="1871700" y="6390431"/>
            <a:ext cx="590465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B3520CD-2B19-1563-0229-EEF884DF9C6A}"/>
              </a:ext>
            </a:extLst>
          </p:cNvPr>
          <p:cNvCxnSpPr/>
          <p:nvPr/>
        </p:nvCxnSpPr>
        <p:spPr>
          <a:xfrm>
            <a:off x="1871700" y="6381328"/>
            <a:ext cx="0" cy="476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6DB1088-63CA-0B09-20F4-F672D370A2F6}"/>
              </a:ext>
            </a:extLst>
          </p:cNvPr>
          <p:cNvCxnSpPr/>
          <p:nvPr/>
        </p:nvCxnSpPr>
        <p:spPr>
          <a:xfrm>
            <a:off x="7776356" y="6390431"/>
            <a:ext cx="0" cy="467569"/>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C2322B5-CB62-ECD1-D5B9-13CEE053506D}"/>
              </a:ext>
            </a:extLst>
          </p:cNvPr>
          <p:cNvCxnSpPr>
            <a:stCxn id="12" idx="2"/>
          </p:cNvCxnSpPr>
          <p:nvPr/>
        </p:nvCxnSpPr>
        <p:spPr>
          <a:xfrm>
            <a:off x="4283968" y="6093296"/>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9338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1D71F-45EB-A7E2-3EA6-C8DB35E76D4E}"/>
              </a:ext>
            </a:extLst>
          </p:cNvPr>
          <p:cNvSpPr>
            <a:spLocks noGrp="1"/>
          </p:cNvSpPr>
          <p:nvPr>
            <p:ph type="title"/>
          </p:nvPr>
        </p:nvSpPr>
        <p:spPr>
          <a:xfrm>
            <a:off x="457200" y="274638"/>
            <a:ext cx="8229600" cy="562074"/>
          </a:xfrm>
        </p:spPr>
        <p:txBody>
          <a:bodyPr>
            <a:noAutofit/>
          </a:bodyPr>
          <a:lstStyle/>
          <a:p>
            <a:r>
              <a:rPr lang="mr-IN" sz="2000" b="1" dirty="0">
                <a:solidFill>
                  <a:srgbClr val="FF00FF"/>
                </a:solidFill>
                <a:latin typeface="Sakal Marathi" panose="02000400000000000000" pitchFamily="2" charset="0"/>
                <a:cs typeface="Sakal Marathi" panose="02000400000000000000" pitchFamily="2" charset="0"/>
              </a:rPr>
              <a:t>देशी जातींचा विकास आणि संवर्धन फार्मची स्थापना</a:t>
            </a:r>
            <a:r>
              <a:rPr lang="en-US" sz="2000" b="1" dirty="0">
                <a:solidFill>
                  <a:srgbClr val="FF00FF"/>
                </a:solidFill>
                <a:latin typeface="Sakal Marathi" panose="02000400000000000000" pitchFamily="2" charset="0"/>
                <a:cs typeface="Sakal Marathi" panose="02000400000000000000" pitchFamily="2" charset="0"/>
              </a:rPr>
              <a:t> </a:t>
            </a:r>
            <a:r>
              <a:rPr lang="mr-IN" sz="2000" b="1" dirty="0">
                <a:solidFill>
                  <a:srgbClr val="FF00FF"/>
                </a:solidFill>
                <a:latin typeface="Sakal Marathi" panose="02000400000000000000" pitchFamily="2" charset="0"/>
                <a:cs typeface="Sakal Marathi" panose="02000400000000000000" pitchFamily="2" charset="0"/>
              </a:rPr>
              <a:t>करणेसाठी आवश्यक बाबी </a:t>
            </a:r>
            <a:endParaRPr lang="en-US" sz="2000" dirty="0"/>
          </a:p>
        </p:txBody>
      </p:sp>
      <p:graphicFrame>
        <p:nvGraphicFramePr>
          <p:cNvPr id="3" name="Table 3">
            <a:extLst>
              <a:ext uri="{FF2B5EF4-FFF2-40B4-BE49-F238E27FC236}">
                <a16:creationId xmlns:a16="http://schemas.microsoft.com/office/drawing/2014/main" id="{91C692CD-0760-5D7B-4A20-B25960FD4FA3}"/>
              </a:ext>
            </a:extLst>
          </p:cNvPr>
          <p:cNvGraphicFramePr>
            <a:graphicFrameLocks noGrp="1"/>
          </p:cNvGraphicFramePr>
          <p:nvPr>
            <p:extLst>
              <p:ext uri="{D42A27DB-BD31-4B8C-83A1-F6EECF244321}">
                <p14:modId xmlns:p14="http://schemas.microsoft.com/office/powerpoint/2010/main" val="2301570189"/>
              </p:ext>
            </p:extLst>
          </p:nvPr>
        </p:nvGraphicFramePr>
        <p:xfrm>
          <a:off x="107504" y="692696"/>
          <a:ext cx="6069185" cy="4877883"/>
        </p:xfrm>
        <a:graphic>
          <a:graphicData uri="http://schemas.openxmlformats.org/drawingml/2006/table">
            <a:tbl>
              <a:tblPr firstRow="1" bandRow="1">
                <a:tableStyleId>{5C22544A-7EE6-4342-B048-85BDC9FD1C3A}</a:tableStyleId>
              </a:tblPr>
              <a:tblGrid>
                <a:gridCol w="500397">
                  <a:extLst>
                    <a:ext uri="{9D8B030D-6E8A-4147-A177-3AD203B41FA5}">
                      <a16:colId xmlns:a16="http://schemas.microsoft.com/office/drawing/2014/main" val="2837426085"/>
                    </a:ext>
                  </a:extLst>
                </a:gridCol>
                <a:gridCol w="4173304">
                  <a:extLst>
                    <a:ext uri="{9D8B030D-6E8A-4147-A177-3AD203B41FA5}">
                      <a16:colId xmlns:a16="http://schemas.microsoft.com/office/drawing/2014/main" val="1205935314"/>
                    </a:ext>
                  </a:extLst>
                </a:gridCol>
                <a:gridCol w="1395484">
                  <a:extLst>
                    <a:ext uri="{9D8B030D-6E8A-4147-A177-3AD203B41FA5}">
                      <a16:colId xmlns:a16="http://schemas.microsoft.com/office/drawing/2014/main" val="1717531559"/>
                    </a:ext>
                  </a:extLst>
                </a:gridCol>
              </a:tblGrid>
              <a:tr h="400749">
                <a:tc>
                  <a:txBody>
                    <a:bodyPr/>
                    <a:lstStyle/>
                    <a:p>
                      <a:r>
                        <a:rPr lang="mr-IN" sz="1600" dirty="0">
                          <a:latin typeface="Sakal Marathi" panose="02000400000000000000" pitchFamily="2" charset="0"/>
                          <a:cs typeface="Sakal Marathi" panose="02000400000000000000" pitchFamily="2" charset="0"/>
                        </a:rPr>
                        <a:t>अ.क्र.</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तपशील</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आवश्यक निधी </a:t>
                      </a:r>
                    </a:p>
                    <a:p>
                      <a:r>
                        <a:rPr lang="mr-IN" sz="1600" dirty="0">
                          <a:latin typeface="Sakal Marathi" panose="02000400000000000000" pitchFamily="2" charset="0"/>
                          <a:cs typeface="Sakal Marathi" panose="02000400000000000000" pitchFamily="2" charset="0"/>
                        </a:rPr>
                        <a:t>(रु.लक्ष)</a:t>
                      </a:r>
                      <a:endParaRPr lang="en-US" sz="16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1657601872"/>
                  </a:ext>
                </a:extLst>
              </a:tr>
              <a:tr h="319331">
                <a:tc>
                  <a:txBody>
                    <a:bodyPr/>
                    <a:lstStyle/>
                    <a:p>
                      <a:r>
                        <a:rPr lang="mr-IN" sz="1600" dirty="0">
                          <a:latin typeface="Sakal Marathi" panose="02000400000000000000" pitchFamily="2" charset="0"/>
                          <a:cs typeface="Sakal Marathi" panose="02000400000000000000" pitchFamily="2" charset="0"/>
                        </a:rPr>
                        <a:t>१</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पहिल्या / दुसऱ्या वेतातील खरेदी केलेल्या गायी</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२००</a:t>
                      </a:r>
                    </a:p>
                  </a:txBody>
                  <a:tcPr/>
                </a:tc>
                <a:extLst>
                  <a:ext uri="{0D108BD9-81ED-4DB2-BD59-A6C34878D82A}">
                    <a16:rowId xmlns:a16="http://schemas.microsoft.com/office/drawing/2014/main" val="1047528616"/>
                  </a:ext>
                </a:extLst>
              </a:tr>
              <a:tr h="529635">
                <a:tc>
                  <a:txBody>
                    <a:bodyPr/>
                    <a:lstStyle/>
                    <a:p>
                      <a:r>
                        <a:rPr lang="mr-IN" sz="1600" dirty="0">
                          <a:latin typeface="Sakal Marathi" panose="02000400000000000000" pitchFamily="2" charset="0"/>
                          <a:cs typeface="Sakal Marathi" panose="02000400000000000000" pitchFamily="2" charset="0"/>
                        </a:rPr>
                        <a:t>२</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गाईसाठी शेड बांधणे, 10 चौ.मी. प्रति गाय (200 गायी आणि त्यांच्या वासरा साठी शेड)</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१००</a:t>
                      </a:r>
                      <a:endParaRPr lang="en-US" sz="16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33254280"/>
                  </a:ext>
                </a:extLst>
              </a:tr>
              <a:tr h="400749">
                <a:tc>
                  <a:txBody>
                    <a:bodyPr/>
                    <a:lstStyle/>
                    <a:p>
                      <a:r>
                        <a:rPr lang="mr-IN" sz="1600" dirty="0">
                          <a:latin typeface="Sakal Marathi" panose="02000400000000000000" pitchFamily="2" charset="0"/>
                          <a:cs typeface="Sakal Marathi" panose="02000400000000000000" pitchFamily="2" charset="0"/>
                        </a:rPr>
                        <a:t>३</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आयसोलेशन शेडचे बांधकाम</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२.५</a:t>
                      </a:r>
                      <a:endParaRPr lang="en-US" sz="16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2318274784"/>
                  </a:ext>
                </a:extLst>
              </a:tr>
              <a:tr h="400749">
                <a:tc>
                  <a:txBody>
                    <a:bodyPr/>
                    <a:lstStyle/>
                    <a:p>
                      <a:r>
                        <a:rPr lang="mr-IN" sz="1600" dirty="0">
                          <a:latin typeface="Sakal Marathi" panose="02000400000000000000" pitchFamily="2" charset="0"/>
                          <a:cs typeface="Sakal Marathi" panose="02000400000000000000" pitchFamily="2" charset="0"/>
                        </a:rPr>
                        <a:t>४</a:t>
                      </a:r>
                    </a:p>
                  </a:txBody>
                  <a:tcPr/>
                </a:tc>
                <a:tc>
                  <a:txBody>
                    <a:bodyPr/>
                    <a:lstStyle/>
                    <a:p>
                      <a:r>
                        <a:rPr lang="mr-IN" sz="1600" dirty="0">
                          <a:latin typeface="Sakal Marathi" panose="02000400000000000000" pitchFamily="2" charset="0"/>
                          <a:cs typeface="Sakal Marathi" panose="02000400000000000000" pitchFamily="2" charset="0"/>
                        </a:rPr>
                        <a:t>कार्यालयीन इमारत</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२०</a:t>
                      </a:r>
                      <a:endParaRPr lang="en-US" sz="16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2120339569"/>
                  </a:ext>
                </a:extLst>
              </a:tr>
              <a:tr h="400749">
                <a:tc>
                  <a:txBody>
                    <a:bodyPr/>
                    <a:lstStyle/>
                    <a:p>
                      <a:r>
                        <a:rPr lang="mr-IN" sz="1600" dirty="0">
                          <a:latin typeface="Sakal Marathi" panose="02000400000000000000" pitchFamily="2" charset="0"/>
                          <a:cs typeface="Sakal Marathi" panose="02000400000000000000" pitchFamily="2" charset="0"/>
                        </a:rPr>
                        <a:t>५</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वैरण आणि इतर पशुखाद्य </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४०</a:t>
                      </a:r>
                      <a:endParaRPr lang="en-US" sz="16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2873307846"/>
                  </a:ext>
                </a:extLst>
              </a:tr>
              <a:tr h="400749">
                <a:tc>
                  <a:txBody>
                    <a:bodyPr/>
                    <a:lstStyle/>
                    <a:p>
                      <a:r>
                        <a:rPr lang="mr-IN" sz="1600" dirty="0">
                          <a:latin typeface="Sakal Marathi" panose="02000400000000000000" pitchFamily="2" charset="0"/>
                          <a:cs typeface="Sakal Marathi" panose="02000400000000000000" pitchFamily="2" charset="0"/>
                        </a:rPr>
                        <a:t>६</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शेती अवजारांसह 75 एचपी ट्रॅक्टर</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१०</a:t>
                      </a:r>
                      <a:endParaRPr lang="en-US" sz="16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2546180141"/>
                  </a:ext>
                </a:extLst>
              </a:tr>
              <a:tr h="573287">
                <a:tc>
                  <a:txBody>
                    <a:bodyPr/>
                    <a:lstStyle/>
                    <a:p>
                      <a:r>
                        <a:rPr lang="mr-IN" sz="1600" dirty="0">
                          <a:latin typeface="Sakal Marathi" panose="02000400000000000000" pitchFamily="2" charset="0"/>
                          <a:cs typeface="Sakal Marathi" panose="02000400000000000000" pitchFamily="2" charset="0"/>
                        </a:rPr>
                        <a:t>७</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दुग्धशाळा उपकरणे (</a:t>
                      </a:r>
                      <a:r>
                        <a:rPr lang="en-US" sz="1600" dirty="0">
                          <a:latin typeface="Sakal Marathi" panose="02000400000000000000" pitchFamily="2" charset="0"/>
                          <a:cs typeface="Sakal Marathi" panose="02000400000000000000" pitchFamily="2" charset="0"/>
                        </a:rPr>
                        <a:t>BMC, </a:t>
                      </a:r>
                      <a:r>
                        <a:rPr lang="mr-IN" sz="1600" dirty="0">
                          <a:latin typeface="Sakal Marathi" panose="02000400000000000000" pitchFamily="2" charset="0"/>
                          <a:cs typeface="Sakal Marathi" panose="02000400000000000000" pitchFamily="2" charset="0"/>
                        </a:rPr>
                        <a:t>स्टेनलेस स्टील मिल्क कॅनिस्टर, डिजिटल मिल्को टेस्टर, डीप फ्रीझर इ.)</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५</a:t>
                      </a:r>
                      <a:endParaRPr lang="en-US" sz="16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1244598263"/>
                  </a:ext>
                </a:extLst>
              </a:tr>
              <a:tr h="400749">
                <a:tc>
                  <a:txBody>
                    <a:bodyPr/>
                    <a:lstStyle/>
                    <a:p>
                      <a:r>
                        <a:rPr lang="mr-IN" sz="1600" dirty="0">
                          <a:latin typeface="Sakal Marathi" panose="02000400000000000000" pitchFamily="2" charset="0"/>
                          <a:cs typeface="Sakal Marathi" panose="02000400000000000000" pitchFamily="2" charset="0"/>
                        </a:rPr>
                        <a:t>८</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शेती अवजारे ठेवणेसाठी भांडार घर</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२२.५</a:t>
                      </a:r>
                      <a:endParaRPr lang="en-US" sz="16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4080423115"/>
                  </a:ext>
                </a:extLst>
              </a:tr>
              <a:tr h="400749">
                <a:tc>
                  <a:txBody>
                    <a:bodyPr/>
                    <a:lstStyle/>
                    <a:p>
                      <a:r>
                        <a:rPr lang="mr-IN" sz="1600" dirty="0">
                          <a:latin typeface="Sakal Marathi" panose="02000400000000000000" pitchFamily="2" charset="0"/>
                          <a:cs typeface="Sakal Marathi" panose="02000400000000000000" pitchFamily="2" charset="0"/>
                        </a:rPr>
                        <a:t>९</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कडबा कुट्टी (इलेक्ट्रिक)</a:t>
                      </a:r>
                      <a:endParaRPr lang="en-US" sz="1600" dirty="0">
                        <a:latin typeface="Sakal Marathi" panose="02000400000000000000" pitchFamily="2" charset="0"/>
                        <a:cs typeface="Sakal Marathi" panose="02000400000000000000" pitchFamily="2" charset="0"/>
                      </a:endParaRPr>
                    </a:p>
                  </a:txBody>
                  <a:tcPr/>
                </a:tc>
                <a:tc>
                  <a:txBody>
                    <a:bodyPr/>
                    <a:lstStyle/>
                    <a:p>
                      <a:r>
                        <a:rPr lang="mr-IN" sz="1600" dirty="0">
                          <a:latin typeface="Sakal Marathi" panose="02000400000000000000" pitchFamily="2" charset="0"/>
                          <a:cs typeface="Sakal Marathi" panose="02000400000000000000" pitchFamily="2" charset="0"/>
                        </a:rPr>
                        <a:t>१</a:t>
                      </a:r>
                      <a:endParaRPr lang="en-US" sz="16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3424483497"/>
                  </a:ext>
                </a:extLst>
              </a:tr>
              <a:tr h="400749">
                <a:tc>
                  <a:txBody>
                    <a:bodyPr/>
                    <a:lstStyle/>
                    <a:p>
                      <a:endParaRPr lang="en-US" sz="1600" dirty="0">
                        <a:latin typeface="Sakal Marathi" panose="02000400000000000000" pitchFamily="2" charset="0"/>
                        <a:cs typeface="Sakal Marathi" panose="02000400000000000000" pitchFamily="2" charset="0"/>
                      </a:endParaRPr>
                    </a:p>
                  </a:txBody>
                  <a:tcPr/>
                </a:tc>
                <a:tc>
                  <a:txBody>
                    <a:bodyPr/>
                    <a:lstStyle/>
                    <a:p>
                      <a:r>
                        <a:rPr lang="mr-IN" sz="1600" b="1" dirty="0">
                          <a:latin typeface="Sakal Marathi" panose="02000400000000000000" pitchFamily="2" charset="0"/>
                          <a:cs typeface="Sakal Marathi" panose="02000400000000000000" pitchFamily="2" charset="0"/>
                        </a:rPr>
                        <a:t>एकूण</a:t>
                      </a:r>
                      <a:endParaRPr lang="en-US" sz="1600" b="1" dirty="0">
                        <a:latin typeface="Sakal Marathi" panose="02000400000000000000" pitchFamily="2" charset="0"/>
                        <a:cs typeface="Sakal Marathi" panose="02000400000000000000" pitchFamily="2" charset="0"/>
                      </a:endParaRPr>
                    </a:p>
                  </a:txBody>
                  <a:tcPr/>
                </a:tc>
                <a:tc>
                  <a:txBody>
                    <a:bodyPr/>
                    <a:lstStyle/>
                    <a:p>
                      <a:r>
                        <a:rPr lang="mr-IN" sz="1600" b="1" dirty="0">
                          <a:latin typeface="Sakal Marathi" panose="02000400000000000000" pitchFamily="2" charset="0"/>
                          <a:cs typeface="Sakal Marathi" panose="02000400000000000000" pitchFamily="2" charset="0"/>
                        </a:rPr>
                        <a:t>४०१</a:t>
                      </a:r>
                      <a:endParaRPr lang="en-US" sz="1600" b="1"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326673757"/>
                  </a:ext>
                </a:extLst>
              </a:tr>
            </a:tbl>
          </a:graphicData>
        </a:graphic>
      </p:graphicFrame>
      <p:sp>
        <p:nvSpPr>
          <p:cNvPr id="5" name="TextBox 4">
            <a:extLst>
              <a:ext uri="{FF2B5EF4-FFF2-40B4-BE49-F238E27FC236}">
                <a16:creationId xmlns:a16="http://schemas.microsoft.com/office/drawing/2014/main" id="{ED568A63-E9C0-1DB0-1D06-A38CE6C17A2E}"/>
              </a:ext>
            </a:extLst>
          </p:cNvPr>
          <p:cNvSpPr txBox="1"/>
          <p:nvPr/>
        </p:nvSpPr>
        <p:spPr>
          <a:xfrm>
            <a:off x="158999" y="5934670"/>
            <a:ext cx="8856984" cy="923330"/>
          </a:xfrm>
          <a:prstGeom prst="rect">
            <a:avLst/>
          </a:prstGeom>
          <a:noFill/>
        </p:spPr>
        <p:txBody>
          <a:bodyPr wrap="square">
            <a:spAutoFit/>
          </a:bodyPr>
          <a:lstStyle/>
          <a:p>
            <a:pPr algn="just"/>
            <a:r>
              <a:rPr lang="mr-IN" b="1" dirty="0">
                <a:latin typeface="Sakal Marathi" panose="02000400000000000000" pitchFamily="2" charset="0"/>
                <a:cs typeface="Sakal Marathi" panose="02000400000000000000" pitchFamily="2" charset="0"/>
              </a:rPr>
              <a:t>लाभ धारकास विदेशी व संकरीत पशुधन संगोपनास मुभा असेल. तथापि त्यांचे पासून </a:t>
            </a:r>
            <a:r>
              <a:rPr lang="en-US" b="1" dirty="0" err="1">
                <a:latin typeface="Sakal Marathi" panose="02000400000000000000" pitchFamily="2" charset="0"/>
                <a:cs typeface="Sakal Marathi" panose="02000400000000000000" pitchFamily="2" charset="0"/>
              </a:rPr>
              <a:t>भ्रुण</a:t>
            </a:r>
            <a:r>
              <a:rPr lang="en-US" b="1" dirty="0">
                <a:latin typeface="Sakal Marathi" panose="02000400000000000000" pitchFamily="2" charset="0"/>
                <a:cs typeface="Sakal Marathi" panose="02000400000000000000" pitchFamily="2" charset="0"/>
              </a:rPr>
              <a:t> </a:t>
            </a:r>
            <a:r>
              <a:rPr lang="en-US" b="1" dirty="0" err="1">
                <a:latin typeface="Sakal Marathi" panose="02000400000000000000" pitchFamily="2" charset="0"/>
                <a:cs typeface="Sakal Marathi" panose="02000400000000000000" pitchFamily="2" charset="0"/>
              </a:rPr>
              <a:t>प्रत्यारोपण</a:t>
            </a:r>
            <a:r>
              <a:rPr lang="en-US" b="1" dirty="0">
                <a:latin typeface="Sakal Marathi" panose="02000400000000000000" pitchFamily="2" charset="0"/>
                <a:cs typeface="Sakal Marathi" panose="02000400000000000000" pitchFamily="2" charset="0"/>
              </a:rPr>
              <a:t> </a:t>
            </a:r>
            <a:r>
              <a:rPr lang="mr-IN" b="1" dirty="0">
                <a:latin typeface="Sakal Marathi" panose="02000400000000000000" pitchFamily="2" charset="0"/>
                <a:cs typeface="Sakal Marathi" panose="02000400000000000000" pitchFamily="2" charset="0"/>
              </a:rPr>
              <a:t>तंत्रज्ञान वापरून उच्च वंशावळीच्या देशी जातीच्या कालवडी पैदास करणे बंधनकारक असणार आहे.</a:t>
            </a:r>
            <a:endParaRPr lang="en-US" b="1" dirty="0">
              <a:latin typeface="Sakal Marathi" panose="02000400000000000000" pitchFamily="2" charset="0"/>
              <a:cs typeface="Sakal Marathi" panose="02000400000000000000" pitchFamily="2" charset="0"/>
            </a:endParaRPr>
          </a:p>
        </p:txBody>
      </p:sp>
      <p:pic>
        <p:nvPicPr>
          <p:cNvPr id="7" name="Picture 6">
            <a:extLst>
              <a:ext uri="{FF2B5EF4-FFF2-40B4-BE49-F238E27FC236}">
                <a16:creationId xmlns:a16="http://schemas.microsoft.com/office/drawing/2014/main" id="{A578F1F2-5EA1-8148-A96C-7DADD93C4903}"/>
              </a:ext>
            </a:extLst>
          </p:cNvPr>
          <p:cNvPicPr>
            <a:picLocks noChangeAspect="1"/>
          </p:cNvPicPr>
          <p:nvPr/>
        </p:nvPicPr>
        <p:blipFill>
          <a:blip r:embed="rId2"/>
          <a:stretch>
            <a:fillRect/>
          </a:stretch>
        </p:blipFill>
        <p:spPr>
          <a:xfrm>
            <a:off x="6289099" y="1087707"/>
            <a:ext cx="2364512" cy="1564665"/>
          </a:xfrm>
          <a:prstGeom prst="rect">
            <a:avLst/>
          </a:prstGeom>
        </p:spPr>
      </p:pic>
      <p:pic>
        <p:nvPicPr>
          <p:cNvPr id="8" name="Picture 7">
            <a:extLst>
              <a:ext uri="{FF2B5EF4-FFF2-40B4-BE49-F238E27FC236}">
                <a16:creationId xmlns:a16="http://schemas.microsoft.com/office/drawing/2014/main" id="{62D2E236-F23C-9BE1-464D-1A4D4DE996E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6377" y="3789040"/>
            <a:ext cx="2410423" cy="1726028"/>
          </a:xfrm>
          <a:prstGeom prst="rect">
            <a:avLst/>
          </a:prstGeom>
          <a:noFill/>
        </p:spPr>
      </p:pic>
    </p:spTree>
    <p:extLst>
      <p:ext uri="{BB962C8B-B14F-4D97-AF65-F5344CB8AC3E}">
        <p14:creationId xmlns:p14="http://schemas.microsoft.com/office/powerpoint/2010/main" val="3255826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7657C0-0A0B-5D3D-CDF8-64AA9213D033}"/>
              </a:ext>
            </a:extLst>
          </p:cNvPr>
          <p:cNvSpPr txBox="1"/>
          <p:nvPr/>
        </p:nvSpPr>
        <p:spPr>
          <a:xfrm>
            <a:off x="323528" y="476672"/>
            <a:ext cx="8640960" cy="1077218"/>
          </a:xfrm>
          <a:prstGeom prst="rect">
            <a:avLst/>
          </a:prstGeom>
          <a:noFill/>
        </p:spPr>
        <p:txBody>
          <a:bodyPr wrap="square">
            <a:spAutoFit/>
          </a:bodyPr>
          <a:lstStyle/>
          <a:p>
            <a:pPr algn="ctr"/>
            <a:r>
              <a:rPr lang="mr-IN" sz="32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देशी जातींचा विकास आणि संवर्धन फार्मची स्थापना</a:t>
            </a:r>
            <a:endParaRPr lang="en-US" sz="32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endParaRPr>
          </a:p>
          <a:p>
            <a:pPr algn="ctr"/>
            <a:r>
              <a:rPr lang="en-US" sz="32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(Establishment of Breed Multiplication Farms)</a:t>
            </a:r>
          </a:p>
        </p:txBody>
      </p:sp>
      <p:sp>
        <p:nvSpPr>
          <p:cNvPr id="5" name="TextBox 4">
            <a:extLst>
              <a:ext uri="{FF2B5EF4-FFF2-40B4-BE49-F238E27FC236}">
                <a16:creationId xmlns:a16="http://schemas.microsoft.com/office/drawing/2014/main" id="{7345DF84-F47B-1C93-AC05-8963AC54451F}"/>
              </a:ext>
            </a:extLst>
          </p:cNvPr>
          <p:cNvSpPr txBox="1"/>
          <p:nvPr/>
        </p:nvSpPr>
        <p:spPr>
          <a:xfrm>
            <a:off x="539552" y="1700808"/>
            <a:ext cx="8424936" cy="4801314"/>
          </a:xfrm>
          <a:prstGeom prst="rect">
            <a:avLst/>
          </a:prstGeom>
          <a:noFill/>
        </p:spPr>
        <p:txBody>
          <a:bodyPr wrap="square">
            <a:spAutoFit/>
          </a:bodyPr>
          <a:lstStyle/>
          <a:p>
            <a:pPr indent="361950" algn="just"/>
            <a:r>
              <a:rPr lang="mr-IN" dirty="0">
                <a:latin typeface="Sakal Marathi" panose="02000400000000000000" pitchFamily="2" charset="0"/>
                <a:cs typeface="Sakal Marathi" panose="02000400000000000000" pitchFamily="2" charset="0"/>
              </a:rPr>
              <a:t>पशुसंवर्धन विभाग (</a:t>
            </a:r>
            <a:r>
              <a:rPr lang="en-US" dirty="0">
                <a:latin typeface="Sakal Marathi" panose="02000400000000000000" pitchFamily="2" charset="0"/>
                <a:cs typeface="Sakal Marathi" panose="02000400000000000000" pitchFamily="2" charset="0"/>
              </a:rPr>
              <a:t>DAHD), </a:t>
            </a:r>
            <a:r>
              <a:rPr lang="mr-IN" dirty="0">
                <a:latin typeface="Sakal Marathi" panose="02000400000000000000" pitchFamily="2" charset="0"/>
                <a:cs typeface="Sakal Marathi" panose="02000400000000000000" pitchFamily="2" charset="0"/>
              </a:rPr>
              <a:t>भारत सरकारच्या राष्ट्रीय गोकुळ मिशन योजनेअंतर्गत. शेतकर्‍यांना गायी आणि म्हशींच्या उच्च आनुवांशिक गुणवत्तेचे वासे उपलब्ध करून देण्यासाठी उद्योजकता मॉडेलद्वारे ब्रीड मल्टीप्लिकेशन फार्म्सची स्थापना सुलभ करण्यासाठी प्रकल्पाला मान्यता दिली आहे.</a:t>
            </a:r>
          </a:p>
          <a:p>
            <a:pPr indent="361950" algn="just"/>
            <a:r>
              <a:rPr lang="mr-IN" dirty="0">
                <a:latin typeface="Sakal Marathi" panose="02000400000000000000" pitchFamily="2" charset="0"/>
                <a:cs typeface="Sakal Marathi" panose="02000400000000000000" pitchFamily="2" charset="0"/>
              </a:rPr>
              <a:t>राष्ट्रीय दुग्ध विकास मंडळ, आणंद (गुजरात) ही अंमलबजावणी करणारी संस्था आहे. पात्र उद्योजक/अर्जदारांकडून अभिव्यक्ती (</a:t>
            </a:r>
            <a:r>
              <a:rPr lang="en-US" dirty="0">
                <a:latin typeface="Sakal Marathi" panose="02000400000000000000" pitchFamily="2" charset="0"/>
                <a:cs typeface="Sakal Marathi" panose="02000400000000000000" pitchFamily="2" charset="0"/>
              </a:rPr>
              <a:t>EOI) </a:t>
            </a:r>
            <a:r>
              <a:rPr lang="mr-IN" dirty="0">
                <a:latin typeface="Sakal Marathi" panose="02000400000000000000" pitchFamily="2" charset="0"/>
                <a:cs typeface="Sakal Marathi" panose="02000400000000000000" pitchFamily="2" charset="0"/>
              </a:rPr>
              <a:t>आमंत्रित करते. वरील प्रकल्पासाठी </a:t>
            </a:r>
            <a:r>
              <a:rPr lang="en-US" dirty="0">
                <a:latin typeface="Sakal Marathi" panose="02000400000000000000" pitchFamily="2" charset="0"/>
                <a:cs typeface="Sakal Marathi" panose="02000400000000000000" pitchFamily="2" charset="0"/>
              </a:rPr>
              <a:t>EOI </a:t>
            </a:r>
            <a:r>
              <a:rPr lang="mr-IN" dirty="0">
                <a:latin typeface="Sakal Marathi" panose="02000400000000000000" pitchFamily="2" charset="0"/>
                <a:cs typeface="Sakal Marathi" panose="02000400000000000000" pitchFamily="2" charset="0"/>
              </a:rPr>
              <a:t>ऑनलाइन पोर्टलवर </a:t>
            </a:r>
            <a:r>
              <a:rPr lang="en-US" dirty="0">
                <a:latin typeface="Sakal Marathi" panose="02000400000000000000" pitchFamily="2" charset="0"/>
                <a:cs typeface="Sakal Marathi" panose="02000400000000000000" pitchFamily="2" charset="0"/>
              </a:rPr>
              <a:t>https://eoi.nddb.coop </a:t>
            </a:r>
            <a:r>
              <a:rPr lang="mr-IN" dirty="0">
                <a:latin typeface="Sakal Marathi" panose="02000400000000000000" pitchFamily="2" charset="0"/>
                <a:cs typeface="Sakal Marathi" panose="02000400000000000000" pitchFamily="2" charset="0"/>
              </a:rPr>
              <a:t>वर सबमिट करा. ईओआय 25 तारखेपर्यंत सबमिट करा. प्रत्येक महिन्याचे 15:00 तास (</a:t>
            </a:r>
            <a:r>
              <a:rPr lang="en-US" dirty="0">
                <a:latin typeface="Sakal Marathi" panose="02000400000000000000" pitchFamily="2" charset="0"/>
                <a:cs typeface="Sakal Marathi" panose="02000400000000000000" pitchFamily="2" charset="0"/>
              </a:rPr>
              <a:t>IST) </a:t>
            </a:r>
            <a:r>
              <a:rPr lang="mr-IN" dirty="0">
                <a:latin typeface="Sakal Marathi" panose="02000400000000000000" pitchFamily="2" charset="0"/>
                <a:cs typeface="Sakal Marathi" panose="02000400000000000000" pitchFamily="2" charset="0"/>
              </a:rPr>
              <a:t>पुढील महिन्यात प्रक्रिया केली जाईल.</a:t>
            </a:r>
          </a:p>
          <a:p>
            <a:pPr indent="361950" algn="just"/>
            <a:r>
              <a:rPr lang="en-US" dirty="0">
                <a:latin typeface="Sakal Marathi" panose="02000400000000000000" pitchFamily="2" charset="0"/>
                <a:cs typeface="Sakal Marathi" panose="02000400000000000000" pitchFamily="2" charset="0"/>
              </a:rPr>
              <a:t>EOI </a:t>
            </a:r>
            <a:r>
              <a:rPr lang="mr-IN" dirty="0">
                <a:latin typeface="Sakal Marathi" panose="02000400000000000000" pitchFamily="2" charset="0"/>
                <a:cs typeface="Sakal Marathi" panose="02000400000000000000" pitchFamily="2" charset="0"/>
              </a:rPr>
              <a:t>दस्तऐवज </a:t>
            </a:r>
            <a:r>
              <a:rPr lang="en-US" dirty="0">
                <a:latin typeface="Sakal Marathi" panose="02000400000000000000" pitchFamily="2" charset="0"/>
                <a:cs typeface="Sakal Marathi" panose="02000400000000000000" pitchFamily="2" charset="0"/>
              </a:rPr>
              <a:t>NDDB </a:t>
            </a:r>
            <a:r>
              <a:rPr lang="mr-IN" dirty="0">
                <a:latin typeface="Sakal Marathi" panose="02000400000000000000" pitchFamily="2" charset="0"/>
                <a:cs typeface="Sakal Marathi" panose="02000400000000000000" pitchFamily="2" charset="0"/>
              </a:rPr>
              <a:t>वेबसाइटवर उपलब्ध आहे आणि लिंक आहे: </a:t>
            </a:r>
            <a:r>
              <a:rPr lang="en-US" sz="1800" u="none" strike="noStrike" dirty="0">
                <a:solidFill>
                  <a:srgbClr val="337AB7"/>
                </a:solidFill>
                <a:effectLst/>
                <a:latin typeface="UniversLTW01-47LightCn"/>
                <a:ea typeface="Times New Roman" panose="02020603050405020304" pitchFamily="18" charset="0"/>
                <a:cs typeface="Times New Roman" panose="02020603050405020304" pitchFamily="18" charset="0"/>
                <a:hlinkClick r:id="rId2"/>
              </a:rPr>
              <a:t>http://www.nddb.coop/information/establishment-of-breed-multiplication-farms</a:t>
            </a:r>
            <a:r>
              <a:rPr lang="en-US" sz="1800" u="none" strike="noStrike" dirty="0">
                <a:solidFill>
                  <a:srgbClr val="337AB7"/>
                </a:solidFill>
                <a:effectLst/>
                <a:latin typeface="UniversLTW01-47LightCn"/>
                <a:ea typeface="Times New Roman" panose="02020603050405020304" pitchFamily="18" charset="0"/>
                <a:cs typeface="Times New Roman" panose="02020603050405020304" pitchFamily="18" charset="0"/>
              </a:rPr>
              <a:t> and </a:t>
            </a:r>
            <a:r>
              <a:rPr lang="en-US" sz="1800" u="none" strike="noStrike" dirty="0">
                <a:solidFill>
                  <a:srgbClr val="337AB7"/>
                </a:solidFill>
                <a:effectLst/>
                <a:latin typeface="UniversLTW01-47LightCn"/>
                <a:ea typeface="Times New Roman" panose="02020603050405020304" pitchFamily="18" charset="0"/>
                <a:cs typeface="Times New Roman" panose="02020603050405020304" pitchFamily="18" charset="0"/>
                <a:hlinkClick r:id="rId3"/>
              </a:rPr>
              <a:t>https://tenders.nddb.coop/SitePages/Tenders.aspx</a:t>
            </a:r>
            <a:endParaRPr lang="mr-IN" sz="1800" u="none" strike="noStrike" dirty="0">
              <a:solidFill>
                <a:srgbClr val="337AB7"/>
              </a:solidFill>
              <a:effectLst/>
              <a:latin typeface="UniversLTW01-47LightCn"/>
              <a:ea typeface="Times New Roman" panose="02020603050405020304" pitchFamily="18" charset="0"/>
              <a:cs typeface="Times New Roman" panose="02020603050405020304" pitchFamily="18" charset="0"/>
            </a:endParaRPr>
          </a:p>
          <a:p>
            <a:pPr indent="361950" algn="just"/>
            <a:endParaRPr lang="en-US" sz="1800" dirty="0">
              <a:effectLst/>
              <a:latin typeface="Calibri" panose="020F0502020204030204" pitchFamily="34" charset="0"/>
              <a:ea typeface="Calibri" panose="020F0502020204030204" pitchFamily="34" charset="0"/>
              <a:cs typeface="Mangal" panose="02040503050203030202" pitchFamily="18" charset="0"/>
            </a:endParaRPr>
          </a:p>
          <a:p>
            <a:pPr indent="361950" algn="just"/>
            <a:r>
              <a:rPr lang="mr-IN" dirty="0">
                <a:latin typeface="Sakal Marathi" panose="02000400000000000000" pitchFamily="2" charset="0"/>
                <a:cs typeface="Sakal Marathi" panose="02000400000000000000" pitchFamily="2" charset="0"/>
              </a:rPr>
              <a:t>इच्छुक असलेले उद्योजक-एकत्रीकरण/खाजगी व्यक्ती, </a:t>
            </a:r>
            <a:r>
              <a:rPr lang="en-US" dirty="0">
                <a:latin typeface="Sakal Marathi" panose="02000400000000000000" pitchFamily="2" charset="0"/>
                <a:cs typeface="Sakal Marathi" panose="02000400000000000000" pitchFamily="2" charset="0"/>
              </a:rPr>
              <a:t>SHGs/FPOs/FCOs/JLGs </a:t>
            </a:r>
            <a:r>
              <a:rPr lang="mr-IN" dirty="0">
                <a:latin typeface="Sakal Marathi" panose="02000400000000000000" pitchFamily="2" charset="0"/>
                <a:cs typeface="Sakal Marathi" panose="02000400000000000000" pitchFamily="2" charset="0"/>
              </a:rPr>
              <a:t>आणि कलम 8 नुसार नोंदणीकृत कंपन्या त्यांचे प्रतिसाद ऑनलाइन पोर्टलद्वारे येथे सबमिट करू शकतात.</a:t>
            </a:r>
          </a:p>
          <a:p>
            <a:pPr indent="361950" algn="just"/>
            <a:r>
              <a:rPr lang="en-US" sz="1800" u="none" strike="noStrike" dirty="0">
                <a:solidFill>
                  <a:srgbClr val="337AB7"/>
                </a:solidFill>
                <a:effectLst/>
                <a:latin typeface="UniversLTW01-47LightCn"/>
                <a:ea typeface="Times New Roman" panose="02020603050405020304" pitchFamily="18" charset="0"/>
                <a:cs typeface="Times New Roman" panose="02020603050405020304" pitchFamily="18" charset="0"/>
                <a:hlinkClick r:id="rId4" tooltip="https://eoi.nddb.coop"/>
              </a:rPr>
              <a:t>https://eoi.nddb.coop</a:t>
            </a:r>
            <a:r>
              <a:rPr lang="en-US" dirty="0"/>
              <a:t> </a:t>
            </a:r>
          </a:p>
          <a:p>
            <a:pPr algn="just"/>
            <a:endParaRPr lang="en-US" dirty="0">
              <a:latin typeface="Sakal Marathi" panose="02000400000000000000" pitchFamily="2" charset="0"/>
              <a:cs typeface="Sakal Marathi" panose="02000400000000000000" pitchFamily="2" charset="0"/>
            </a:endParaRPr>
          </a:p>
        </p:txBody>
      </p:sp>
    </p:spTree>
    <p:extLst>
      <p:ext uri="{BB962C8B-B14F-4D97-AF65-F5344CB8AC3E}">
        <p14:creationId xmlns:p14="http://schemas.microsoft.com/office/powerpoint/2010/main" val="3803615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F62D5C-BB40-B172-9724-E9791FF98EA6}"/>
              </a:ext>
            </a:extLst>
          </p:cNvPr>
          <p:cNvPicPr>
            <a:picLocks noChangeAspect="1"/>
          </p:cNvPicPr>
          <p:nvPr/>
        </p:nvPicPr>
        <p:blipFill>
          <a:blip r:embed="rId2"/>
          <a:stretch>
            <a:fillRect/>
          </a:stretch>
        </p:blipFill>
        <p:spPr>
          <a:xfrm>
            <a:off x="2149290" y="0"/>
            <a:ext cx="5519053" cy="6858000"/>
          </a:xfrm>
          <a:prstGeom prst="rect">
            <a:avLst/>
          </a:prstGeom>
        </p:spPr>
      </p:pic>
    </p:spTree>
    <p:extLst>
      <p:ext uri="{BB962C8B-B14F-4D97-AF65-F5344CB8AC3E}">
        <p14:creationId xmlns:p14="http://schemas.microsoft.com/office/powerpoint/2010/main" val="1279417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86FAE9F-3F35-CE36-DDEA-2CBDBF3EA3A2}"/>
              </a:ext>
            </a:extLst>
          </p:cNvPr>
          <p:cNvSpPr/>
          <p:nvPr/>
        </p:nvSpPr>
        <p:spPr>
          <a:xfrm>
            <a:off x="1763688" y="50135"/>
            <a:ext cx="6120680" cy="9361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sz="1600" b="1" dirty="0">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तुम्ही ब्रीड मल्टीप्लिकेशन फार्म्स स्थापन करू शकता </a:t>
            </a:r>
            <a:endParaRPr lang="en-US" sz="1600" b="1" dirty="0">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endParaRPr>
          </a:p>
        </p:txBody>
      </p:sp>
      <p:sp>
        <p:nvSpPr>
          <p:cNvPr id="3" name="Rectangle 2">
            <a:extLst>
              <a:ext uri="{FF2B5EF4-FFF2-40B4-BE49-F238E27FC236}">
                <a16:creationId xmlns:a16="http://schemas.microsoft.com/office/drawing/2014/main" id="{6705054F-82CC-A10F-15AB-4E997B70050D}"/>
              </a:ext>
            </a:extLst>
          </p:cNvPr>
          <p:cNvSpPr/>
          <p:nvPr/>
        </p:nvSpPr>
        <p:spPr>
          <a:xfrm>
            <a:off x="1893826" y="1090645"/>
            <a:ext cx="5760640" cy="578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sz="1600" dirty="0">
                <a:latin typeface="Sakal Marathi" panose="02000400000000000000" pitchFamily="2" charset="0"/>
                <a:cs typeface="Sakal Marathi" panose="02000400000000000000" pitchFamily="2" charset="0"/>
              </a:rPr>
              <a:t>लिंग वर्गीकृत वीर्य किंवा </a:t>
            </a:r>
            <a:r>
              <a:rPr lang="en-US" sz="1600" dirty="0">
                <a:latin typeface="Sakal Marathi" panose="02000400000000000000" pitchFamily="2" charset="0"/>
                <a:cs typeface="Sakal Marathi" panose="02000400000000000000" pitchFamily="2" charset="0"/>
              </a:rPr>
              <a:t>IVF </a:t>
            </a:r>
            <a:r>
              <a:rPr lang="mr-IN" sz="1600" dirty="0">
                <a:latin typeface="Sakal Marathi" panose="02000400000000000000" pitchFamily="2" charset="0"/>
                <a:cs typeface="Sakal Marathi" panose="02000400000000000000" pitchFamily="2" charset="0"/>
              </a:rPr>
              <a:t>तंत्रज्ञान वापरून उच्च अनुवांशिक क्षमतेच्या कालवडी तयार करू शकता.</a:t>
            </a:r>
            <a:endParaRPr lang="en-US" sz="1600" dirty="0">
              <a:latin typeface="Sakal Marathi" panose="02000400000000000000" pitchFamily="2" charset="0"/>
              <a:cs typeface="Sakal Marathi" panose="02000400000000000000" pitchFamily="2" charset="0"/>
            </a:endParaRPr>
          </a:p>
        </p:txBody>
      </p:sp>
      <p:sp>
        <p:nvSpPr>
          <p:cNvPr id="4" name="Rectangle: Rounded Corners 3">
            <a:extLst>
              <a:ext uri="{FF2B5EF4-FFF2-40B4-BE49-F238E27FC236}">
                <a16:creationId xmlns:a16="http://schemas.microsoft.com/office/drawing/2014/main" id="{5F17D974-F19A-6AC6-847E-2AB5ED5E5DF8}"/>
              </a:ext>
            </a:extLst>
          </p:cNvPr>
          <p:cNvSpPr/>
          <p:nvPr/>
        </p:nvSpPr>
        <p:spPr>
          <a:xfrm>
            <a:off x="2483768" y="1807666"/>
            <a:ext cx="4176464" cy="9384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sz="1600" b="1" dirty="0">
                <a:latin typeface="Sakal Marathi" panose="02000400000000000000" pitchFamily="2" charset="0"/>
                <a:cs typeface="Sakal Marathi" panose="02000400000000000000" pitchFamily="2" charset="0"/>
              </a:rPr>
              <a:t>प्रकल्पात समाविष्ट बाबी</a:t>
            </a:r>
          </a:p>
          <a:p>
            <a:pPr algn="ctr"/>
            <a:r>
              <a:rPr lang="mr-IN" sz="1600" dirty="0">
                <a:latin typeface="Sakal Marathi" panose="02000400000000000000" pitchFamily="2" charset="0"/>
                <a:cs typeface="Sakal Marathi" panose="02000400000000000000" pitchFamily="2" charset="0"/>
              </a:rPr>
              <a:t>गोठा बांधकाम , आवश्यक उपकरणे खरेदी  आणि उच्च अनुवांशिक क्षमतेच्या गायींची खरेदी</a:t>
            </a:r>
            <a:endParaRPr lang="en-US" sz="1600" dirty="0">
              <a:latin typeface="Sakal Marathi" panose="02000400000000000000" pitchFamily="2" charset="0"/>
              <a:cs typeface="Sakal Marathi" panose="02000400000000000000" pitchFamily="2" charset="0"/>
            </a:endParaRPr>
          </a:p>
        </p:txBody>
      </p:sp>
      <p:sp>
        <p:nvSpPr>
          <p:cNvPr id="6" name="Rectangle 5">
            <a:extLst>
              <a:ext uri="{FF2B5EF4-FFF2-40B4-BE49-F238E27FC236}">
                <a16:creationId xmlns:a16="http://schemas.microsoft.com/office/drawing/2014/main" id="{ED1878A6-FC87-D579-0B44-11BE0A0F41BB}"/>
              </a:ext>
            </a:extLst>
          </p:cNvPr>
          <p:cNvSpPr/>
          <p:nvPr/>
        </p:nvSpPr>
        <p:spPr>
          <a:xfrm>
            <a:off x="903834" y="2912483"/>
            <a:ext cx="7272808" cy="9384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sz="1600" b="1" dirty="0">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प्रकल्पासाठी आवश्यक पात्रता </a:t>
            </a:r>
          </a:p>
          <a:p>
            <a:pPr algn="ctr"/>
            <a:r>
              <a:rPr lang="mr-IN" sz="1600" dirty="0">
                <a:latin typeface="Sakal Marathi" panose="02000400000000000000" pitchFamily="2" charset="0"/>
                <a:cs typeface="Sakal Marathi" panose="02000400000000000000" pitchFamily="2" charset="0"/>
              </a:rPr>
              <a:t>व्यक्ती/स्वयंसहाय्यता गट (</a:t>
            </a:r>
            <a:r>
              <a:rPr lang="en-US" sz="1600" dirty="0">
                <a:latin typeface="Sakal Marathi" panose="02000400000000000000" pitchFamily="2" charset="0"/>
                <a:cs typeface="Sakal Marathi" panose="02000400000000000000" pitchFamily="2" charset="0"/>
              </a:rPr>
              <a:t>SHGs)/</a:t>
            </a:r>
            <a:r>
              <a:rPr lang="mr-IN" sz="1600" dirty="0">
                <a:latin typeface="Sakal Marathi" panose="02000400000000000000" pitchFamily="2" charset="0"/>
                <a:cs typeface="Sakal Marathi" panose="02000400000000000000" pitchFamily="2" charset="0"/>
              </a:rPr>
              <a:t>शेतकरी उत्पादक संस्था (</a:t>
            </a:r>
            <a:r>
              <a:rPr lang="en-US" sz="1600" dirty="0">
                <a:latin typeface="Sakal Marathi" panose="02000400000000000000" pitchFamily="2" charset="0"/>
                <a:cs typeface="Sakal Marathi" panose="02000400000000000000" pitchFamily="2" charset="0"/>
              </a:rPr>
              <a:t>FPOs)/</a:t>
            </a:r>
            <a:r>
              <a:rPr lang="mr-IN" sz="1600" dirty="0">
                <a:latin typeface="Sakal Marathi" panose="02000400000000000000" pitchFamily="2" charset="0"/>
                <a:cs typeface="Sakal Marathi" panose="02000400000000000000" pitchFamily="2" charset="0"/>
              </a:rPr>
              <a:t>शेतकरी सहकारी संस्था (</a:t>
            </a:r>
            <a:r>
              <a:rPr lang="en-US" sz="1600" dirty="0">
                <a:latin typeface="Sakal Marathi" panose="02000400000000000000" pitchFamily="2" charset="0"/>
                <a:cs typeface="Sakal Marathi" panose="02000400000000000000" pitchFamily="2" charset="0"/>
              </a:rPr>
              <a:t>FCOs)/ </a:t>
            </a:r>
            <a:r>
              <a:rPr lang="mr-IN" sz="1600" dirty="0">
                <a:latin typeface="Sakal Marathi" panose="02000400000000000000" pitchFamily="2" charset="0"/>
                <a:cs typeface="Sakal Marathi" panose="02000400000000000000" pitchFamily="2" charset="0"/>
              </a:rPr>
              <a:t>संयुक्त दायित्व गट (</a:t>
            </a:r>
            <a:r>
              <a:rPr lang="en-US" sz="1600" dirty="0">
                <a:latin typeface="Sakal Marathi" panose="02000400000000000000" pitchFamily="2" charset="0"/>
                <a:cs typeface="Sakal Marathi" panose="02000400000000000000" pitchFamily="2" charset="0"/>
              </a:rPr>
              <a:t>JLGs) </a:t>
            </a:r>
            <a:r>
              <a:rPr lang="mr-IN" sz="1600" dirty="0">
                <a:latin typeface="Sakal Marathi" panose="02000400000000000000" pitchFamily="2" charset="0"/>
                <a:cs typeface="Sakal Marathi" panose="02000400000000000000" pitchFamily="2" charset="0"/>
              </a:rPr>
              <a:t>आणि कलम 8 नुसार नोंदणीकृत  कंपन्या</a:t>
            </a:r>
            <a:endParaRPr lang="en-US" sz="1600" dirty="0">
              <a:latin typeface="Sakal Marathi" panose="02000400000000000000" pitchFamily="2" charset="0"/>
              <a:cs typeface="Sakal Marathi" panose="02000400000000000000" pitchFamily="2" charset="0"/>
            </a:endParaRPr>
          </a:p>
        </p:txBody>
      </p:sp>
      <p:sp>
        <p:nvSpPr>
          <p:cNvPr id="7" name="Speech Bubble: Rectangle 6">
            <a:extLst>
              <a:ext uri="{FF2B5EF4-FFF2-40B4-BE49-F238E27FC236}">
                <a16:creationId xmlns:a16="http://schemas.microsoft.com/office/drawing/2014/main" id="{E56C50B1-1237-62D6-7291-CF87DB7EB576}"/>
              </a:ext>
            </a:extLst>
          </p:cNvPr>
          <p:cNvSpPr/>
          <p:nvPr/>
        </p:nvSpPr>
        <p:spPr>
          <a:xfrm>
            <a:off x="3131840" y="4498895"/>
            <a:ext cx="2484278" cy="360040"/>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b="1" dirty="0">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निवडचे  निकष</a:t>
            </a:r>
            <a:endParaRPr lang="en-US" b="1" dirty="0">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endParaRPr>
          </a:p>
        </p:txBody>
      </p:sp>
      <p:sp>
        <p:nvSpPr>
          <p:cNvPr id="8" name="Explosion: 14 Points 7">
            <a:extLst>
              <a:ext uri="{FF2B5EF4-FFF2-40B4-BE49-F238E27FC236}">
                <a16:creationId xmlns:a16="http://schemas.microsoft.com/office/drawing/2014/main" id="{DC0E5BCD-3741-329E-3C33-27B888B37986}"/>
              </a:ext>
            </a:extLst>
          </p:cNvPr>
          <p:cNvSpPr/>
          <p:nvPr/>
        </p:nvSpPr>
        <p:spPr>
          <a:xfrm>
            <a:off x="107504" y="4386977"/>
            <a:ext cx="3672408" cy="2039888"/>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sz="1200" dirty="0">
                <a:latin typeface="Sakal Marathi" panose="02000400000000000000" pitchFamily="2" charset="0"/>
                <a:cs typeface="Sakal Marathi" panose="02000400000000000000" pitchFamily="2" charset="0"/>
              </a:rPr>
              <a:t>प्रकल्प चालविण्यासाठी प्रशिक्षित उद्योजक किंवा प्रशिक्षित तज्ञांना नियुक्त करणे</a:t>
            </a:r>
            <a:endParaRPr lang="en-US" dirty="0">
              <a:latin typeface="Sakal Marathi" panose="02000400000000000000" pitchFamily="2" charset="0"/>
              <a:cs typeface="Sakal Marathi" panose="02000400000000000000" pitchFamily="2" charset="0"/>
            </a:endParaRPr>
          </a:p>
        </p:txBody>
      </p:sp>
      <p:sp>
        <p:nvSpPr>
          <p:cNvPr id="9" name="Explosion: 14 Points 8">
            <a:extLst>
              <a:ext uri="{FF2B5EF4-FFF2-40B4-BE49-F238E27FC236}">
                <a16:creationId xmlns:a16="http://schemas.microsoft.com/office/drawing/2014/main" id="{5492E932-A9FF-EDD2-3FBE-8F7E3373C141}"/>
              </a:ext>
            </a:extLst>
          </p:cNvPr>
          <p:cNvSpPr/>
          <p:nvPr/>
        </p:nvSpPr>
        <p:spPr>
          <a:xfrm>
            <a:off x="5148064" y="4525416"/>
            <a:ext cx="2484276" cy="1507951"/>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r-IN" sz="1200" dirty="0">
                <a:latin typeface="Sakal Marathi" panose="02000400000000000000" pitchFamily="2" charset="0"/>
                <a:cs typeface="Sakal Marathi" panose="02000400000000000000" pitchFamily="2" charset="0"/>
              </a:rPr>
              <a:t>स्वतःची जमीन किंवा भाडे तत्वावर जमीन</a:t>
            </a:r>
            <a:endParaRPr lang="en-US" sz="1200" dirty="0">
              <a:latin typeface="Sakal Marathi" panose="02000400000000000000" pitchFamily="2" charset="0"/>
              <a:cs typeface="Sakal Marathi" panose="02000400000000000000" pitchFamily="2" charset="0"/>
            </a:endParaRPr>
          </a:p>
        </p:txBody>
      </p:sp>
    </p:spTree>
    <p:extLst>
      <p:ext uri="{BB962C8B-B14F-4D97-AF65-F5344CB8AC3E}">
        <p14:creationId xmlns:p14="http://schemas.microsoft.com/office/powerpoint/2010/main" val="3332866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A214C5E-3104-A412-D9AE-F6A9934047AE}"/>
              </a:ext>
            </a:extLst>
          </p:cNvPr>
          <p:cNvGrpSpPr/>
          <p:nvPr/>
        </p:nvGrpSpPr>
        <p:grpSpPr>
          <a:xfrm>
            <a:off x="152172" y="2134268"/>
            <a:ext cx="8645219" cy="4723732"/>
            <a:chOff x="-1200855" y="845592"/>
            <a:chExt cx="10537372" cy="5264059"/>
          </a:xfrm>
        </p:grpSpPr>
        <p:sp>
          <p:nvSpPr>
            <p:cNvPr id="3" name="Rectangle: Rounded Corners 2">
              <a:extLst>
                <a:ext uri="{FF2B5EF4-FFF2-40B4-BE49-F238E27FC236}">
                  <a16:creationId xmlns:a16="http://schemas.microsoft.com/office/drawing/2014/main" id="{0BB32864-0949-0B13-B833-94D29C90CE27}"/>
                </a:ext>
              </a:extLst>
            </p:cNvPr>
            <p:cNvSpPr/>
            <p:nvPr/>
          </p:nvSpPr>
          <p:spPr>
            <a:xfrm>
              <a:off x="3775698" y="845592"/>
              <a:ext cx="5393285" cy="80469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 name="Rectangle: Rounded Corners 4">
              <a:extLst>
                <a:ext uri="{FF2B5EF4-FFF2-40B4-BE49-F238E27FC236}">
                  <a16:creationId xmlns:a16="http://schemas.microsoft.com/office/drawing/2014/main" id="{7EC493AF-DB53-A7D5-B624-A858FA54B733}"/>
                </a:ext>
              </a:extLst>
            </p:cNvPr>
            <p:cNvSpPr txBox="1"/>
            <p:nvPr/>
          </p:nvSpPr>
          <p:spPr>
            <a:xfrm>
              <a:off x="3836472" y="979369"/>
              <a:ext cx="5247227" cy="75755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Sakal Marathi" panose="02000400000000000000" pitchFamily="2" charset="0"/>
                  <a:cs typeface="Sakal Marathi" panose="02000400000000000000" pitchFamily="2" charset="0"/>
                </a:rPr>
                <a:t>DPR, EMD </a:t>
              </a:r>
              <a:r>
                <a:rPr lang="mr-IN" sz="1600" kern="1200" dirty="0">
                  <a:latin typeface="Sakal Marathi" panose="02000400000000000000" pitchFamily="2" charset="0"/>
                  <a:cs typeface="Sakal Marathi" panose="02000400000000000000" pitchFamily="2" charset="0"/>
                </a:rPr>
                <a:t>सबमिट करण्यासाठी आणि 50% कर्जासाठी टाय अप करण्यासाठी ओळखले जाणारे अर्जदार</a:t>
              </a:r>
              <a:endParaRPr lang="en-US" sz="1600" kern="1200" dirty="0">
                <a:latin typeface="Sakal Marathi" panose="02000400000000000000" pitchFamily="2" charset="0"/>
                <a:cs typeface="Sakal Marathi" panose="02000400000000000000" pitchFamily="2" charset="0"/>
              </a:endParaRPr>
            </a:p>
          </p:txBody>
        </p:sp>
        <p:sp>
          <p:nvSpPr>
            <p:cNvPr id="24" name="Rectangle: Rounded Corners 23">
              <a:extLst>
                <a:ext uri="{FF2B5EF4-FFF2-40B4-BE49-F238E27FC236}">
                  <a16:creationId xmlns:a16="http://schemas.microsoft.com/office/drawing/2014/main" id="{3BB3F04F-A2F5-C3F0-DB52-628BD641EAAA}"/>
                </a:ext>
              </a:extLst>
            </p:cNvPr>
            <p:cNvSpPr/>
            <p:nvPr/>
          </p:nvSpPr>
          <p:spPr>
            <a:xfrm>
              <a:off x="-1039538" y="2969051"/>
              <a:ext cx="4692580" cy="80469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5" name="Rectangle: Rounded Corners 4">
              <a:extLst>
                <a:ext uri="{FF2B5EF4-FFF2-40B4-BE49-F238E27FC236}">
                  <a16:creationId xmlns:a16="http://schemas.microsoft.com/office/drawing/2014/main" id="{4C362F38-A802-948B-C635-E8494006C3BA}"/>
                </a:ext>
              </a:extLst>
            </p:cNvPr>
            <p:cNvSpPr txBox="1"/>
            <p:nvPr/>
          </p:nvSpPr>
          <p:spPr>
            <a:xfrm>
              <a:off x="-851850" y="2981150"/>
              <a:ext cx="4516085" cy="7575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Sakal Marathi" panose="02000400000000000000" pitchFamily="2" charset="0"/>
                  <a:cs typeface="Sakal Marathi" panose="02000400000000000000" pitchFamily="2" charset="0"/>
                </a:rPr>
                <a:t>DAHD </a:t>
              </a:r>
              <a:r>
                <a:rPr lang="mr-IN" sz="1600" kern="1200" dirty="0">
                  <a:latin typeface="Sakal Marathi" panose="02000400000000000000" pitchFamily="2" charset="0"/>
                  <a:cs typeface="Sakal Marathi" panose="02000400000000000000" pitchFamily="2" charset="0"/>
                </a:rPr>
                <a:t>द्वारे मंजूर बँक कर्जासह प्रस्ताव</a:t>
              </a:r>
              <a:endParaRPr lang="en-US" sz="1600" kern="1200" dirty="0">
                <a:latin typeface="Sakal Marathi" panose="02000400000000000000" pitchFamily="2" charset="0"/>
                <a:cs typeface="Sakal Marathi" panose="02000400000000000000" pitchFamily="2" charset="0"/>
              </a:endParaRPr>
            </a:p>
          </p:txBody>
        </p:sp>
        <p:sp>
          <p:nvSpPr>
            <p:cNvPr id="27" name="Rectangle: Rounded Corners 26">
              <a:extLst>
                <a:ext uri="{FF2B5EF4-FFF2-40B4-BE49-F238E27FC236}">
                  <a16:creationId xmlns:a16="http://schemas.microsoft.com/office/drawing/2014/main" id="{72B69784-6D84-5978-EA94-CB675D3CF82F}"/>
                </a:ext>
              </a:extLst>
            </p:cNvPr>
            <p:cNvSpPr/>
            <p:nvPr/>
          </p:nvSpPr>
          <p:spPr>
            <a:xfrm>
              <a:off x="3836472" y="3078651"/>
              <a:ext cx="5393285" cy="80469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8" name="Rectangle: Rounded Corners 4">
              <a:extLst>
                <a:ext uri="{FF2B5EF4-FFF2-40B4-BE49-F238E27FC236}">
                  <a16:creationId xmlns:a16="http://schemas.microsoft.com/office/drawing/2014/main" id="{26AF8B1B-3873-55F6-3515-128C806133FA}"/>
                </a:ext>
              </a:extLst>
            </p:cNvPr>
            <p:cNvSpPr txBox="1"/>
            <p:nvPr/>
          </p:nvSpPr>
          <p:spPr>
            <a:xfrm>
              <a:off x="4089839" y="3145932"/>
              <a:ext cx="4516085" cy="7575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mr-IN" sz="1600" kern="1200" dirty="0">
                  <a:latin typeface="Sakal Marathi" panose="02000400000000000000" pitchFamily="2" charset="0"/>
                  <a:cs typeface="Sakal Marathi" panose="02000400000000000000" pitchFamily="2" charset="0"/>
                </a:rPr>
                <a:t>कर्जाचा पहिला टप्पा जारी केल्यानंतर 50% सबसिडी जारी करणे</a:t>
              </a:r>
              <a:endParaRPr lang="en-US" sz="1600" kern="1200" dirty="0">
                <a:latin typeface="Sakal Marathi" panose="02000400000000000000" pitchFamily="2" charset="0"/>
                <a:cs typeface="Sakal Marathi" panose="02000400000000000000" pitchFamily="2" charset="0"/>
              </a:endParaRPr>
            </a:p>
          </p:txBody>
        </p:sp>
        <p:sp>
          <p:nvSpPr>
            <p:cNvPr id="29" name="Rectangle: Rounded Corners 28">
              <a:extLst>
                <a:ext uri="{FF2B5EF4-FFF2-40B4-BE49-F238E27FC236}">
                  <a16:creationId xmlns:a16="http://schemas.microsoft.com/office/drawing/2014/main" id="{A947D212-4014-DF0A-EF97-0141BA81264E}"/>
                </a:ext>
              </a:extLst>
            </p:cNvPr>
            <p:cNvSpPr/>
            <p:nvPr/>
          </p:nvSpPr>
          <p:spPr>
            <a:xfrm>
              <a:off x="-1156839" y="4223561"/>
              <a:ext cx="10493356" cy="80469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0" name="Rectangle: Rounded Corners 29">
              <a:extLst>
                <a:ext uri="{FF2B5EF4-FFF2-40B4-BE49-F238E27FC236}">
                  <a16:creationId xmlns:a16="http://schemas.microsoft.com/office/drawing/2014/main" id="{230E7362-4170-F4E3-745C-6464119B6163}"/>
                </a:ext>
              </a:extLst>
            </p:cNvPr>
            <p:cNvSpPr/>
            <p:nvPr/>
          </p:nvSpPr>
          <p:spPr>
            <a:xfrm>
              <a:off x="-1200855" y="5304953"/>
              <a:ext cx="10493356" cy="80469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grpSp>
        <p:nvGrpSpPr>
          <p:cNvPr id="5" name="Group 4">
            <a:extLst>
              <a:ext uri="{FF2B5EF4-FFF2-40B4-BE49-F238E27FC236}">
                <a16:creationId xmlns:a16="http://schemas.microsoft.com/office/drawing/2014/main" id="{FDB8F3C0-F316-191D-BDE3-CEF2A7F0C704}"/>
              </a:ext>
            </a:extLst>
          </p:cNvPr>
          <p:cNvGrpSpPr/>
          <p:nvPr/>
        </p:nvGrpSpPr>
        <p:grpSpPr>
          <a:xfrm>
            <a:off x="4266536" y="3058188"/>
            <a:ext cx="4474791" cy="816577"/>
            <a:chOff x="3598475" y="1267801"/>
            <a:chExt cx="5454176" cy="816577"/>
          </a:xfrm>
        </p:grpSpPr>
        <p:sp>
          <p:nvSpPr>
            <p:cNvPr id="6" name="Rectangle: Rounded Corners 5">
              <a:extLst>
                <a:ext uri="{FF2B5EF4-FFF2-40B4-BE49-F238E27FC236}">
                  <a16:creationId xmlns:a16="http://schemas.microsoft.com/office/drawing/2014/main" id="{4D4E5905-E4B3-A565-361A-7FA388512983}"/>
                </a:ext>
              </a:extLst>
            </p:cNvPr>
            <p:cNvSpPr/>
            <p:nvPr/>
          </p:nvSpPr>
          <p:spPr>
            <a:xfrm>
              <a:off x="3659366" y="1267801"/>
              <a:ext cx="5393285" cy="80469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 name="Rectangle: Rounded Corners 4">
              <a:extLst>
                <a:ext uri="{FF2B5EF4-FFF2-40B4-BE49-F238E27FC236}">
                  <a16:creationId xmlns:a16="http://schemas.microsoft.com/office/drawing/2014/main" id="{93A82C38-AEEC-5ECA-48AC-39775771F7CF}"/>
                </a:ext>
              </a:extLst>
            </p:cNvPr>
            <p:cNvSpPr txBox="1"/>
            <p:nvPr/>
          </p:nvSpPr>
          <p:spPr>
            <a:xfrm>
              <a:off x="3598475" y="1326818"/>
              <a:ext cx="5346148" cy="75756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mr-IN" sz="1600" dirty="0">
                  <a:latin typeface="Sakal Marathi" panose="02000400000000000000" pitchFamily="2" charset="0"/>
                  <a:cs typeface="Sakal Marathi" panose="02000400000000000000" pitchFamily="2" charset="0"/>
                </a:rPr>
                <a:t>डीपीआरचे स्क्रीनिंग, फील्ड पडताळणी आणि अर्जदाराचे सादरीकरण</a:t>
              </a:r>
              <a:endParaRPr lang="en-US" sz="1600" kern="1200" dirty="0">
                <a:latin typeface="Sakal Marathi" panose="02000400000000000000" pitchFamily="2" charset="0"/>
                <a:cs typeface="Sakal Marathi" panose="02000400000000000000" pitchFamily="2" charset="0"/>
              </a:endParaRPr>
            </a:p>
          </p:txBody>
        </p:sp>
      </p:grpSp>
      <p:grpSp>
        <p:nvGrpSpPr>
          <p:cNvPr id="8" name="Group 7">
            <a:extLst>
              <a:ext uri="{FF2B5EF4-FFF2-40B4-BE49-F238E27FC236}">
                <a16:creationId xmlns:a16="http://schemas.microsoft.com/office/drawing/2014/main" id="{E597F7E9-B191-2B73-BC0A-339EF2D3A2A8}"/>
              </a:ext>
            </a:extLst>
          </p:cNvPr>
          <p:cNvGrpSpPr/>
          <p:nvPr/>
        </p:nvGrpSpPr>
        <p:grpSpPr>
          <a:xfrm>
            <a:off x="1403648" y="989446"/>
            <a:ext cx="6336704" cy="857607"/>
            <a:chOff x="326727" y="-998768"/>
            <a:chExt cx="5351124" cy="518711"/>
          </a:xfrm>
        </p:grpSpPr>
        <p:sp>
          <p:nvSpPr>
            <p:cNvPr id="9" name="Rectangle: Rounded Corners 8">
              <a:extLst>
                <a:ext uri="{FF2B5EF4-FFF2-40B4-BE49-F238E27FC236}">
                  <a16:creationId xmlns:a16="http://schemas.microsoft.com/office/drawing/2014/main" id="{ECE6A4AC-E8AD-045F-E170-19F6421A5666}"/>
                </a:ext>
              </a:extLst>
            </p:cNvPr>
            <p:cNvSpPr/>
            <p:nvPr/>
          </p:nvSpPr>
          <p:spPr>
            <a:xfrm>
              <a:off x="326727" y="-998768"/>
              <a:ext cx="5298525" cy="48371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Rectangle: Rounded Corners 4">
              <a:extLst>
                <a:ext uri="{FF2B5EF4-FFF2-40B4-BE49-F238E27FC236}">
                  <a16:creationId xmlns:a16="http://schemas.microsoft.com/office/drawing/2014/main" id="{AB204D34-9364-96CE-8C0A-F5D76D5BC25F}"/>
                </a:ext>
              </a:extLst>
            </p:cNvPr>
            <p:cNvSpPr txBox="1"/>
            <p:nvPr/>
          </p:nvSpPr>
          <p:spPr>
            <a:xfrm>
              <a:off x="407660" y="-935433"/>
              <a:ext cx="5270191" cy="45537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mr-IN" b="1" kern="1200" dirty="0">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अर्जदाराने एनडीडीबीकडे </a:t>
              </a:r>
              <a:r>
                <a:rPr lang="en-US" b="1" kern="1200" dirty="0" err="1">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Eol</a:t>
              </a:r>
              <a:r>
                <a:rPr lang="en-US" b="1" kern="1200" dirty="0">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 </a:t>
              </a:r>
              <a:r>
                <a:rPr lang="mr-IN" b="1" kern="1200" dirty="0">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सादर करणे</a:t>
              </a:r>
              <a:endParaRPr lang="en-US" b="1" kern="1200" dirty="0">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endParaRPr>
            </a:p>
          </p:txBody>
        </p:sp>
      </p:grpSp>
      <p:grpSp>
        <p:nvGrpSpPr>
          <p:cNvPr id="11" name="Group 10">
            <a:extLst>
              <a:ext uri="{FF2B5EF4-FFF2-40B4-BE49-F238E27FC236}">
                <a16:creationId xmlns:a16="http://schemas.microsoft.com/office/drawing/2014/main" id="{3BAB44AC-12A3-94AA-0E78-54AB80E918DB}"/>
              </a:ext>
            </a:extLst>
          </p:cNvPr>
          <p:cNvGrpSpPr/>
          <p:nvPr/>
        </p:nvGrpSpPr>
        <p:grpSpPr>
          <a:xfrm>
            <a:off x="383293" y="2010512"/>
            <a:ext cx="3613533" cy="804698"/>
            <a:chOff x="51851" y="925878"/>
            <a:chExt cx="3613533" cy="499875"/>
          </a:xfrm>
        </p:grpSpPr>
        <p:sp>
          <p:nvSpPr>
            <p:cNvPr id="12" name="Rectangle: Rounded Corners 11">
              <a:extLst>
                <a:ext uri="{FF2B5EF4-FFF2-40B4-BE49-F238E27FC236}">
                  <a16:creationId xmlns:a16="http://schemas.microsoft.com/office/drawing/2014/main" id="{77E59CD7-BEC1-7404-7B4D-A45113EDCCF6}"/>
                </a:ext>
              </a:extLst>
            </p:cNvPr>
            <p:cNvSpPr/>
            <p:nvPr/>
          </p:nvSpPr>
          <p:spPr>
            <a:xfrm>
              <a:off x="51851" y="942043"/>
              <a:ext cx="3594028" cy="48371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3" name="Rectangle: Rounded Corners 4">
              <a:extLst>
                <a:ext uri="{FF2B5EF4-FFF2-40B4-BE49-F238E27FC236}">
                  <a16:creationId xmlns:a16="http://schemas.microsoft.com/office/drawing/2014/main" id="{C9776993-DB5F-51F9-815A-69E0235E7835}"/>
                </a:ext>
              </a:extLst>
            </p:cNvPr>
            <p:cNvSpPr txBox="1"/>
            <p:nvPr/>
          </p:nvSpPr>
          <p:spPr>
            <a:xfrm>
              <a:off x="99690" y="925878"/>
              <a:ext cx="3565694" cy="45537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Sakal Marathi" panose="02000400000000000000" pitchFamily="2" charset="0"/>
                  <a:cs typeface="Sakal Marathi" panose="02000400000000000000" pitchFamily="2" charset="0"/>
                </a:rPr>
                <a:t>NDDB </a:t>
              </a:r>
              <a:r>
                <a:rPr lang="mr-IN" sz="1600" kern="1200" dirty="0">
                  <a:latin typeface="Sakal Marathi" panose="02000400000000000000" pitchFamily="2" charset="0"/>
                  <a:cs typeface="Sakal Marathi" panose="02000400000000000000" pitchFamily="2" charset="0"/>
                </a:rPr>
                <a:t>द्वारे </a:t>
              </a:r>
              <a:r>
                <a:rPr lang="en-US" sz="1600" kern="1200" dirty="0" err="1">
                  <a:latin typeface="Sakal Marathi" panose="02000400000000000000" pitchFamily="2" charset="0"/>
                  <a:cs typeface="Sakal Marathi" panose="02000400000000000000" pitchFamily="2" charset="0"/>
                </a:rPr>
                <a:t>Eol</a:t>
              </a:r>
              <a:r>
                <a:rPr lang="en-US" sz="1600" kern="1200" dirty="0">
                  <a:latin typeface="Sakal Marathi" panose="02000400000000000000" pitchFamily="2" charset="0"/>
                  <a:cs typeface="Sakal Marathi" panose="02000400000000000000" pitchFamily="2" charset="0"/>
                </a:rPr>
                <a:t> </a:t>
              </a:r>
              <a:r>
                <a:rPr lang="mr-IN" sz="1600" kern="1200" dirty="0">
                  <a:latin typeface="Sakal Marathi" panose="02000400000000000000" pitchFamily="2" charset="0"/>
                  <a:cs typeface="Sakal Marathi" panose="02000400000000000000" pitchFamily="2" charset="0"/>
                </a:rPr>
                <a:t>ची तपासणी</a:t>
              </a:r>
              <a:endParaRPr lang="en-US" sz="1600" kern="1200" dirty="0">
                <a:latin typeface="Sakal Marathi" panose="02000400000000000000" pitchFamily="2" charset="0"/>
                <a:cs typeface="Sakal Marathi" panose="02000400000000000000" pitchFamily="2" charset="0"/>
              </a:endParaRPr>
            </a:p>
          </p:txBody>
        </p:sp>
      </p:grpSp>
      <p:sp>
        <p:nvSpPr>
          <p:cNvPr id="14" name="Rectangle: Rounded Corners 4">
            <a:extLst>
              <a:ext uri="{FF2B5EF4-FFF2-40B4-BE49-F238E27FC236}">
                <a16:creationId xmlns:a16="http://schemas.microsoft.com/office/drawing/2014/main" id="{D5B72FDF-7A3B-6956-DCE2-C87D5E9CAC33}"/>
              </a:ext>
            </a:extLst>
          </p:cNvPr>
          <p:cNvSpPr txBox="1"/>
          <p:nvPr/>
        </p:nvSpPr>
        <p:spPr>
          <a:xfrm>
            <a:off x="459466" y="3079970"/>
            <a:ext cx="4386161" cy="75756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mr-IN" sz="1600" dirty="0">
                <a:latin typeface="Sakal Marathi" panose="02000400000000000000" pitchFamily="2" charset="0"/>
                <a:cs typeface="Sakal Marathi" panose="02000400000000000000" pitchFamily="2" charset="0"/>
              </a:rPr>
              <a:t>डीपीआरचे स्क्रीनिंग, फील्ड पडताळणी आणि अर्जदाराचे सादरीकरण</a:t>
            </a:r>
            <a:endParaRPr lang="en-US" sz="1600" kern="1200" dirty="0">
              <a:latin typeface="Sakal Marathi" panose="02000400000000000000" pitchFamily="2" charset="0"/>
              <a:cs typeface="Sakal Marathi" panose="02000400000000000000" pitchFamily="2" charset="0"/>
            </a:endParaRPr>
          </a:p>
        </p:txBody>
      </p:sp>
      <p:sp>
        <p:nvSpPr>
          <p:cNvPr id="15" name="Rectangle: Rounded Corners 4">
            <a:extLst>
              <a:ext uri="{FF2B5EF4-FFF2-40B4-BE49-F238E27FC236}">
                <a16:creationId xmlns:a16="http://schemas.microsoft.com/office/drawing/2014/main" id="{5E4951E4-8395-F31E-177B-169CF8F99C12}"/>
              </a:ext>
            </a:extLst>
          </p:cNvPr>
          <p:cNvSpPr txBox="1"/>
          <p:nvPr/>
        </p:nvSpPr>
        <p:spPr>
          <a:xfrm>
            <a:off x="4375118" y="3121647"/>
            <a:ext cx="4386161" cy="75756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endParaRPr lang="en-US" sz="1600" kern="1200" dirty="0">
              <a:latin typeface="Sakal Marathi" panose="02000400000000000000" pitchFamily="2" charset="0"/>
              <a:cs typeface="Sakal Marathi" panose="02000400000000000000" pitchFamily="2" charset="0"/>
            </a:endParaRPr>
          </a:p>
        </p:txBody>
      </p:sp>
      <p:grpSp>
        <p:nvGrpSpPr>
          <p:cNvPr id="16" name="Group 15">
            <a:extLst>
              <a:ext uri="{FF2B5EF4-FFF2-40B4-BE49-F238E27FC236}">
                <a16:creationId xmlns:a16="http://schemas.microsoft.com/office/drawing/2014/main" id="{EF57795B-325A-3331-21BE-DDF0A5B76D15}"/>
              </a:ext>
            </a:extLst>
          </p:cNvPr>
          <p:cNvGrpSpPr/>
          <p:nvPr/>
        </p:nvGrpSpPr>
        <p:grpSpPr>
          <a:xfrm>
            <a:off x="301760" y="2950863"/>
            <a:ext cx="3867811" cy="861311"/>
            <a:chOff x="3881575" y="790712"/>
            <a:chExt cx="5418303" cy="861311"/>
          </a:xfrm>
        </p:grpSpPr>
        <p:sp>
          <p:nvSpPr>
            <p:cNvPr id="17" name="Rectangle: Rounded Corners 16">
              <a:extLst>
                <a:ext uri="{FF2B5EF4-FFF2-40B4-BE49-F238E27FC236}">
                  <a16:creationId xmlns:a16="http://schemas.microsoft.com/office/drawing/2014/main" id="{5B22D453-5570-3908-03F2-C7FB02D98FBC}"/>
                </a:ext>
              </a:extLst>
            </p:cNvPr>
            <p:cNvSpPr/>
            <p:nvPr/>
          </p:nvSpPr>
          <p:spPr>
            <a:xfrm>
              <a:off x="3881575" y="790712"/>
              <a:ext cx="5393285" cy="80469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 name="Rectangle: Rounded Corners 4">
              <a:extLst>
                <a:ext uri="{FF2B5EF4-FFF2-40B4-BE49-F238E27FC236}">
                  <a16:creationId xmlns:a16="http://schemas.microsoft.com/office/drawing/2014/main" id="{C95830F0-9920-478F-56A6-96DD089F6749}"/>
                </a:ext>
              </a:extLst>
            </p:cNvPr>
            <p:cNvSpPr txBox="1"/>
            <p:nvPr/>
          </p:nvSpPr>
          <p:spPr>
            <a:xfrm>
              <a:off x="3906593" y="894463"/>
              <a:ext cx="5393285" cy="75756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mr-IN" sz="1600" kern="1200" dirty="0">
                  <a:latin typeface="Sakal Marathi" panose="02000400000000000000" pitchFamily="2" charset="0"/>
                  <a:cs typeface="Sakal Marathi" panose="02000400000000000000" pitchFamily="2" charset="0"/>
                </a:rPr>
                <a:t>अर्जदाराची अंतिम निवड आणि कर्जासाठी बँक/वित्तीय संस्थेकडे शिफारस</a:t>
              </a:r>
              <a:endParaRPr lang="en-US" sz="1600" kern="1200" dirty="0">
                <a:latin typeface="Sakal Marathi" panose="02000400000000000000" pitchFamily="2" charset="0"/>
                <a:cs typeface="Sakal Marathi" panose="02000400000000000000" pitchFamily="2" charset="0"/>
              </a:endParaRPr>
            </a:p>
          </p:txBody>
        </p:sp>
      </p:grpSp>
      <p:sp>
        <p:nvSpPr>
          <p:cNvPr id="32" name="TextBox 31">
            <a:extLst>
              <a:ext uri="{FF2B5EF4-FFF2-40B4-BE49-F238E27FC236}">
                <a16:creationId xmlns:a16="http://schemas.microsoft.com/office/drawing/2014/main" id="{FA59FCD7-8B05-7A10-DFE0-84D4E3509701}"/>
              </a:ext>
            </a:extLst>
          </p:cNvPr>
          <p:cNvSpPr txBox="1"/>
          <p:nvPr/>
        </p:nvSpPr>
        <p:spPr>
          <a:xfrm>
            <a:off x="1101424" y="5341891"/>
            <a:ext cx="6941151" cy="369332"/>
          </a:xfrm>
          <a:prstGeom prst="rect">
            <a:avLst/>
          </a:prstGeom>
          <a:noFill/>
        </p:spPr>
        <p:txBody>
          <a:bodyPr wrap="square">
            <a:spAutoFit/>
          </a:bodyPr>
          <a:lstStyle/>
          <a:p>
            <a:r>
              <a:rPr lang="mr-IN" dirty="0">
                <a:solidFill>
                  <a:schemeClr val="bg1"/>
                </a:solidFill>
                <a:latin typeface="Sakal Marathi" panose="02000400000000000000" pitchFamily="2" charset="0"/>
                <a:cs typeface="Sakal Marathi" panose="02000400000000000000" pitchFamily="2" charset="0"/>
              </a:rPr>
              <a:t>जनावरांच्या समावेशासह सर्व पायाभूत माहितीनंतर 25% अनुदान</a:t>
            </a:r>
            <a:endParaRPr lang="en-US" dirty="0">
              <a:solidFill>
                <a:schemeClr val="bg1"/>
              </a:solidFill>
              <a:latin typeface="Sakal Marathi" panose="02000400000000000000" pitchFamily="2" charset="0"/>
              <a:cs typeface="Sakal Marathi" panose="02000400000000000000" pitchFamily="2" charset="0"/>
            </a:endParaRPr>
          </a:p>
        </p:txBody>
      </p:sp>
      <p:sp>
        <p:nvSpPr>
          <p:cNvPr id="34" name="TextBox 33">
            <a:extLst>
              <a:ext uri="{FF2B5EF4-FFF2-40B4-BE49-F238E27FC236}">
                <a16:creationId xmlns:a16="http://schemas.microsoft.com/office/drawing/2014/main" id="{3459DDF1-14BD-FFAD-5B41-FA1CD2304ACE}"/>
              </a:ext>
            </a:extLst>
          </p:cNvPr>
          <p:cNvSpPr txBox="1"/>
          <p:nvPr/>
        </p:nvSpPr>
        <p:spPr>
          <a:xfrm>
            <a:off x="2086737" y="6322690"/>
            <a:ext cx="4576762" cy="369332"/>
          </a:xfrm>
          <a:prstGeom prst="rect">
            <a:avLst/>
          </a:prstGeom>
          <a:noFill/>
        </p:spPr>
        <p:txBody>
          <a:bodyPr wrap="square">
            <a:spAutoFit/>
          </a:bodyPr>
          <a:lstStyle/>
          <a:p>
            <a:r>
              <a:rPr lang="mr-IN" dirty="0">
                <a:solidFill>
                  <a:schemeClr val="bg1"/>
                </a:solidFill>
                <a:latin typeface="Sakal Marathi" panose="02000400000000000000" pitchFamily="2" charset="0"/>
                <a:cs typeface="Sakal Marathi" panose="02000400000000000000" pitchFamily="2" charset="0"/>
              </a:rPr>
              <a:t>10% वासरांच्या जन्मानंतर 25% अनुदान</a:t>
            </a:r>
            <a:endParaRPr lang="en-US" dirty="0">
              <a:solidFill>
                <a:schemeClr val="bg1"/>
              </a:solidFill>
              <a:latin typeface="Sakal Marathi" panose="02000400000000000000" pitchFamily="2" charset="0"/>
              <a:cs typeface="Sakal Marathi" panose="02000400000000000000" pitchFamily="2" charset="0"/>
            </a:endParaRPr>
          </a:p>
        </p:txBody>
      </p:sp>
      <p:pic>
        <p:nvPicPr>
          <p:cNvPr id="35" name="Graphic 34" descr="Computer with solid fill">
            <a:extLst>
              <a:ext uri="{FF2B5EF4-FFF2-40B4-BE49-F238E27FC236}">
                <a16:creationId xmlns:a16="http://schemas.microsoft.com/office/drawing/2014/main" id="{429AC46E-0B05-CC2C-C857-D34FF396DC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6961" y="968472"/>
            <a:ext cx="914400" cy="914400"/>
          </a:xfrm>
          <a:prstGeom prst="rect">
            <a:avLst/>
          </a:prstGeom>
        </p:spPr>
      </p:pic>
      <p:sp>
        <p:nvSpPr>
          <p:cNvPr id="36" name="TextBox 35">
            <a:extLst>
              <a:ext uri="{FF2B5EF4-FFF2-40B4-BE49-F238E27FC236}">
                <a16:creationId xmlns:a16="http://schemas.microsoft.com/office/drawing/2014/main" id="{5F73EF5E-DA5D-D0F4-F50F-D76F4310C062}"/>
              </a:ext>
            </a:extLst>
          </p:cNvPr>
          <p:cNvSpPr txBox="1"/>
          <p:nvPr/>
        </p:nvSpPr>
        <p:spPr>
          <a:xfrm>
            <a:off x="1096068" y="37824"/>
            <a:ext cx="6889576" cy="338554"/>
          </a:xfrm>
          <a:prstGeom prst="rect">
            <a:avLst/>
          </a:prstGeom>
          <a:noFill/>
        </p:spPr>
        <p:txBody>
          <a:bodyPr wrap="square">
            <a:spAutoFit/>
          </a:bodyPr>
          <a:lstStyle/>
          <a:p>
            <a:pPr algn="ctr"/>
            <a:r>
              <a:rPr lang="mr-IN" sz="1600" b="1" dirty="0">
                <a:solidFill>
                  <a:srgbClr val="FF00FF"/>
                </a:solidFill>
                <a:latin typeface="Sakal Marathi" panose="02000400000000000000" pitchFamily="2" charset="0"/>
                <a:cs typeface="Sakal Marathi" panose="02000400000000000000" pitchFamily="2" charset="0"/>
              </a:rPr>
              <a:t>उपलब्ध आर्थिक सहाय्य </a:t>
            </a:r>
            <a:r>
              <a:rPr lang="en-US" sz="1600" b="1" dirty="0">
                <a:solidFill>
                  <a:srgbClr val="FF00FF"/>
                </a:solidFill>
                <a:latin typeface="Sakal Marathi" panose="02000400000000000000" pitchFamily="2" charset="0"/>
                <a:cs typeface="Sakal Marathi" panose="02000400000000000000" pitchFamily="2" charset="0"/>
              </a:rPr>
              <a:t>:  </a:t>
            </a:r>
            <a:r>
              <a:rPr lang="mr-IN" sz="1600" dirty="0">
                <a:latin typeface="Sakal Marathi" panose="02000400000000000000" pitchFamily="2" charset="0"/>
                <a:cs typeface="Sakal Marathi" panose="02000400000000000000" pitchFamily="2" charset="0"/>
              </a:rPr>
              <a:t>अनुदान मर्यादा रुपये 2.00 कोटी.</a:t>
            </a:r>
            <a:endParaRPr lang="en-US" sz="1600" dirty="0">
              <a:latin typeface="Sakal Marathi" panose="02000400000000000000" pitchFamily="2" charset="0"/>
              <a:cs typeface="Sakal Marathi" panose="02000400000000000000" pitchFamily="2" charset="0"/>
            </a:endParaRPr>
          </a:p>
        </p:txBody>
      </p:sp>
      <p:sp>
        <p:nvSpPr>
          <p:cNvPr id="37" name="TextBox 36">
            <a:extLst>
              <a:ext uri="{FF2B5EF4-FFF2-40B4-BE49-F238E27FC236}">
                <a16:creationId xmlns:a16="http://schemas.microsoft.com/office/drawing/2014/main" id="{B99F4754-BBBE-D362-43C6-01896CA3AEEE}"/>
              </a:ext>
            </a:extLst>
          </p:cNvPr>
          <p:cNvSpPr txBox="1"/>
          <p:nvPr/>
        </p:nvSpPr>
        <p:spPr>
          <a:xfrm>
            <a:off x="-120796" y="285357"/>
            <a:ext cx="9264796" cy="861774"/>
          </a:xfrm>
          <a:prstGeom prst="rect">
            <a:avLst/>
          </a:prstGeom>
          <a:noFill/>
        </p:spPr>
        <p:txBody>
          <a:bodyPr wrap="square">
            <a:spAutoFit/>
          </a:bodyPr>
          <a:lstStyle/>
          <a:p>
            <a:pPr algn="ctr"/>
            <a:r>
              <a:rPr lang="mr-IN" sz="1600" b="1" dirty="0">
                <a:solidFill>
                  <a:srgbClr val="00B050"/>
                </a:solidFill>
                <a:latin typeface="Sakal Marathi" panose="02000400000000000000" pitchFamily="2" charset="0"/>
                <a:cs typeface="Sakal Marathi" panose="02000400000000000000" pitchFamily="2" charset="0"/>
              </a:rPr>
              <a:t>अर्ज प्रक्रिया</a:t>
            </a:r>
          </a:p>
          <a:p>
            <a:pPr algn="ctr"/>
            <a:r>
              <a:rPr lang="en-US" dirty="0">
                <a:latin typeface="Sakal Marathi" panose="02000400000000000000" pitchFamily="2" charset="0"/>
                <a:cs typeface="Sakal Marathi" panose="02000400000000000000" pitchFamily="2" charset="0"/>
                <a:hlinkClick r:id="rId4"/>
              </a:rPr>
              <a:t>http://tenders.nddb.coop/SitePages/Tenders.aspx</a:t>
            </a:r>
            <a:r>
              <a:rPr lang="mr-IN" dirty="0">
                <a:latin typeface="Sakal Marathi" panose="02000400000000000000" pitchFamily="2" charset="0"/>
                <a:cs typeface="Sakal Marathi" panose="02000400000000000000" pitchFamily="2" charset="0"/>
              </a:rPr>
              <a:t> </a:t>
            </a:r>
            <a:r>
              <a:rPr lang="mr-IN" sz="1400" dirty="0">
                <a:latin typeface="Sakal Marathi" panose="02000400000000000000" pitchFamily="2" charset="0"/>
                <a:cs typeface="Sakal Marathi" panose="02000400000000000000" pitchFamily="2" charset="0"/>
              </a:rPr>
              <a:t>येथे अर्ज करा</a:t>
            </a:r>
            <a:r>
              <a:rPr lang="en-US" sz="1400" dirty="0">
                <a:latin typeface="Sakal Marathi" panose="02000400000000000000" pitchFamily="2" charset="0"/>
                <a:cs typeface="Sakal Marathi" panose="02000400000000000000" pitchFamily="2" charset="0"/>
              </a:rPr>
              <a:t> </a:t>
            </a:r>
          </a:p>
          <a:p>
            <a:pPr algn="ctr"/>
            <a:r>
              <a:rPr lang="mr-IN" sz="1400" dirty="0">
                <a:latin typeface="Sakal Marathi" panose="02000400000000000000" pitchFamily="2" charset="0"/>
                <a:cs typeface="Sakal Marathi" panose="02000400000000000000" pitchFamily="2" charset="0"/>
              </a:rPr>
              <a:t>ब्रीड मल्टीप्लिकेशन फार्म स्थापन करण्यासाठी </a:t>
            </a:r>
            <a:r>
              <a:rPr lang="en-US" sz="1400" dirty="0">
                <a:latin typeface="Sakal Marathi" panose="02000400000000000000" pitchFamily="2" charset="0"/>
                <a:cs typeface="Sakal Marathi" panose="02000400000000000000" pitchFamily="2" charset="0"/>
              </a:rPr>
              <a:t>EOI </a:t>
            </a:r>
            <a:r>
              <a:rPr lang="mr-IN" sz="1400" dirty="0">
                <a:latin typeface="Sakal Marathi" panose="02000400000000000000" pitchFamily="2" charset="0"/>
                <a:cs typeface="Sakal Marathi" panose="02000400000000000000" pitchFamily="2" charset="0"/>
              </a:rPr>
              <a:t>वर जा'</a:t>
            </a:r>
            <a:endParaRPr lang="en-US" dirty="0">
              <a:latin typeface="Sakal Marathi" panose="02000400000000000000" pitchFamily="2" charset="0"/>
              <a:cs typeface="Sakal Marathi" panose="02000400000000000000" pitchFamily="2" charset="0"/>
            </a:endParaRPr>
          </a:p>
        </p:txBody>
      </p:sp>
      <p:sp>
        <p:nvSpPr>
          <p:cNvPr id="38" name="Arrow: Right 37">
            <a:extLst>
              <a:ext uri="{FF2B5EF4-FFF2-40B4-BE49-F238E27FC236}">
                <a16:creationId xmlns:a16="http://schemas.microsoft.com/office/drawing/2014/main" id="{8AB8D630-2F26-7CBD-78C2-B7A793D51592}"/>
              </a:ext>
            </a:extLst>
          </p:cNvPr>
          <p:cNvSpPr/>
          <p:nvPr/>
        </p:nvSpPr>
        <p:spPr>
          <a:xfrm rot="5400000">
            <a:off x="2352081" y="1743373"/>
            <a:ext cx="349719" cy="2791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Right 38">
            <a:extLst>
              <a:ext uri="{FF2B5EF4-FFF2-40B4-BE49-F238E27FC236}">
                <a16:creationId xmlns:a16="http://schemas.microsoft.com/office/drawing/2014/main" id="{43FA3B5F-04A6-A950-514A-9103B11E2BD8}"/>
              </a:ext>
            </a:extLst>
          </p:cNvPr>
          <p:cNvSpPr/>
          <p:nvPr/>
        </p:nvSpPr>
        <p:spPr>
          <a:xfrm>
            <a:off x="3884815" y="2307039"/>
            <a:ext cx="349719" cy="2791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Arrow: Right 39">
            <a:extLst>
              <a:ext uri="{FF2B5EF4-FFF2-40B4-BE49-F238E27FC236}">
                <a16:creationId xmlns:a16="http://schemas.microsoft.com/office/drawing/2014/main" id="{6BE3A4EA-34F0-6AE6-BBCB-BE20C46A5770}"/>
              </a:ext>
            </a:extLst>
          </p:cNvPr>
          <p:cNvSpPr/>
          <p:nvPr/>
        </p:nvSpPr>
        <p:spPr>
          <a:xfrm rot="5400000">
            <a:off x="6840995" y="2763263"/>
            <a:ext cx="349719" cy="2791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row: Right 40">
            <a:extLst>
              <a:ext uri="{FF2B5EF4-FFF2-40B4-BE49-F238E27FC236}">
                <a16:creationId xmlns:a16="http://schemas.microsoft.com/office/drawing/2014/main" id="{741CB81E-8925-9777-B90F-0FBB17BBABC3}"/>
              </a:ext>
            </a:extLst>
          </p:cNvPr>
          <p:cNvSpPr/>
          <p:nvPr/>
        </p:nvSpPr>
        <p:spPr>
          <a:xfrm rot="10800000">
            <a:off x="4150146" y="3173406"/>
            <a:ext cx="349719" cy="2791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Right 42">
            <a:extLst>
              <a:ext uri="{FF2B5EF4-FFF2-40B4-BE49-F238E27FC236}">
                <a16:creationId xmlns:a16="http://schemas.microsoft.com/office/drawing/2014/main" id="{27AB40B4-D064-8615-2F42-E6EDB3175C5B}"/>
              </a:ext>
            </a:extLst>
          </p:cNvPr>
          <p:cNvSpPr/>
          <p:nvPr/>
        </p:nvSpPr>
        <p:spPr>
          <a:xfrm>
            <a:off x="3994711" y="4418677"/>
            <a:ext cx="349719" cy="2791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Right 43">
            <a:extLst>
              <a:ext uri="{FF2B5EF4-FFF2-40B4-BE49-F238E27FC236}">
                <a16:creationId xmlns:a16="http://schemas.microsoft.com/office/drawing/2014/main" id="{7FED81CD-2841-39F0-A3CF-607E929213CE}"/>
              </a:ext>
            </a:extLst>
          </p:cNvPr>
          <p:cNvSpPr/>
          <p:nvPr/>
        </p:nvSpPr>
        <p:spPr>
          <a:xfrm rot="5400000">
            <a:off x="2436707" y="3743592"/>
            <a:ext cx="349719" cy="2791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Right 44">
            <a:extLst>
              <a:ext uri="{FF2B5EF4-FFF2-40B4-BE49-F238E27FC236}">
                <a16:creationId xmlns:a16="http://schemas.microsoft.com/office/drawing/2014/main" id="{0EC60CCD-DBD5-D8AC-635D-1BF67CB769CA}"/>
              </a:ext>
            </a:extLst>
          </p:cNvPr>
          <p:cNvSpPr/>
          <p:nvPr/>
        </p:nvSpPr>
        <p:spPr>
          <a:xfrm rot="5400000">
            <a:off x="6701396" y="4828625"/>
            <a:ext cx="349719" cy="2791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Right 45">
            <a:extLst>
              <a:ext uri="{FF2B5EF4-FFF2-40B4-BE49-F238E27FC236}">
                <a16:creationId xmlns:a16="http://schemas.microsoft.com/office/drawing/2014/main" id="{FB95037E-2FDA-40BB-ABCE-3F1839F77194}"/>
              </a:ext>
            </a:extLst>
          </p:cNvPr>
          <p:cNvSpPr/>
          <p:nvPr/>
        </p:nvSpPr>
        <p:spPr>
          <a:xfrm rot="5400000">
            <a:off x="4637737" y="5819917"/>
            <a:ext cx="349719" cy="2791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1269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66E5E9-A23D-4839-A4FA-8C84A6E01838}"/>
              </a:ext>
            </a:extLst>
          </p:cNvPr>
          <p:cNvSpPr>
            <a:spLocks noGrp="1"/>
          </p:cNvSpPr>
          <p:nvPr>
            <p:ph type="title"/>
          </p:nvPr>
        </p:nvSpPr>
        <p:spPr>
          <a:xfrm>
            <a:off x="192881" y="868147"/>
            <a:ext cx="8758238" cy="484748"/>
          </a:xfrm>
        </p:spPr>
        <p:style>
          <a:lnRef idx="1">
            <a:schemeClr val="accent1"/>
          </a:lnRef>
          <a:fillRef idx="2">
            <a:schemeClr val="accent1"/>
          </a:fillRef>
          <a:effectRef idx="1">
            <a:schemeClr val="accent1"/>
          </a:effectRef>
          <a:fontRef idx="minor">
            <a:schemeClr val="dk1"/>
          </a:fontRef>
        </p:style>
        <p:txBody>
          <a:bodyPr>
            <a:noAutofit/>
          </a:bodyPr>
          <a:lstStyle/>
          <a:p>
            <a:r>
              <a:rPr lang="mr-IN" sz="16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देशी जातींचा विकास आणि संवर्धन फार्मची स्थापना</a:t>
            </a:r>
            <a:r>
              <a:rPr lang="en-US" sz="16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 </a:t>
            </a:r>
            <a:r>
              <a:rPr lang="mr-IN" sz="16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या योजनेंतर्गत मंजुर प्रकल्प : श्रीमती वैशाली भानुसाहेब</a:t>
            </a:r>
            <a:endParaRPr lang="en-IN" sz="1650" b="1" dirty="0"/>
          </a:p>
        </p:txBody>
      </p:sp>
      <p:graphicFrame>
        <p:nvGraphicFramePr>
          <p:cNvPr id="7" name="Table 7">
            <a:extLst>
              <a:ext uri="{FF2B5EF4-FFF2-40B4-BE49-F238E27FC236}">
                <a16:creationId xmlns:a16="http://schemas.microsoft.com/office/drawing/2014/main" id="{4F299A00-9D2C-4BA6-B9B0-30489752D6EF}"/>
              </a:ext>
            </a:extLst>
          </p:cNvPr>
          <p:cNvGraphicFramePr>
            <a:graphicFrameLocks noGrp="1"/>
          </p:cNvGraphicFramePr>
          <p:nvPr>
            <p:ph sz="half" idx="1"/>
            <p:extLst>
              <p:ext uri="{D42A27DB-BD31-4B8C-83A1-F6EECF244321}">
                <p14:modId xmlns:p14="http://schemas.microsoft.com/office/powerpoint/2010/main" val="3938725132"/>
              </p:ext>
            </p:extLst>
          </p:nvPr>
        </p:nvGraphicFramePr>
        <p:xfrm>
          <a:off x="192880" y="1971954"/>
          <a:ext cx="3439718" cy="3869496"/>
        </p:xfrm>
        <a:graphic>
          <a:graphicData uri="http://schemas.openxmlformats.org/drawingml/2006/table">
            <a:tbl>
              <a:tblPr firstRow="1" bandRow="1">
                <a:tableStyleId>{912C8C85-51F0-491E-9774-3900AFEF0FD7}</a:tableStyleId>
              </a:tblPr>
              <a:tblGrid>
                <a:gridCol w="1821035">
                  <a:extLst>
                    <a:ext uri="{9D8B030D-6E8A-4147-A177-3AD203B41FA5}">
                      <a16:colId xmlns:a16="http://schemas.microsoft.com/office/drawing/2014/main" val="3582565472"/>
                    </a:ext>
                  </a:extLst>
                </a:gridCol>
                <a:gridCol w="1618683">
                  <a:extLst>
                    <a:ext uri="{9D8B030D-6E8A-4147-A177-3AD203B41FA5}">
                      <a16:colId xmlns:a16="http://schemas.microsoft.com/office/drawing/2014/main" val="1383914191"/>
                    </a:ext>
                  </a:extLst>
                </a:gridCol>
              </a:tblGrid>
              <a:tr h="280169">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तपशील</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माहिती</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6004398"/>
                  </a:ext>
                </a:extLst>
              </a:tr>
              <a:tr h="384789">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प्रकल्प सदर करता </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श्रीमती वैशाली भानुसाहेब चौहान</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73190515"/>
                  </a:ext>
                </a:extLst>
              </a:tr>
              <a:tr h="252152">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अर्दाराचा प्रकार</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वैयक्तिक</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189240057"/>
                  </a:ext>
                </a:extLst>
              </a:tr>
              <a:tr h="811530">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प्रकल्पाचा पत्ता</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जैन इंटरनशनल शाळा, जावळ , पसायदान, प्लॉट -४७ , भीमाशंकर कॉलोनी, शानुरवाडी , औरंगाबाद पिंपळगाव महाराष्ट्र ४३१००१</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46009842"/>
                  </a:ext>
                </a:extLst>
              </a:tr>
              <a:tr h="21891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पशुची जात / संख्या</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जर्सी / २००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52644173"/>
                  </a:ext>
                </a:extLst>
              </a:tr>
              <a:tr h="15318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जमिनीची उपलब्धता एकर</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४०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94902522"/>
                  </a:ext>
                </a:extLst>
              </a:tr>
              <a:tr h="365760">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लाभार्थी हिस्सा (लक्ष)</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६५.००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884476979"/>
                  </a:ext>
                </a:extLst>
              </a:tr>
              <a:tr h="24660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बँकेचे कर्ज (लक्ष)</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१८०.००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239668460"/>
                  </a:ext>
                </a:extLst>
              </a:tr>
              <a:tr h="36537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अनुदानाची रक्कम (लक्ष)</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२००.००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326973600"/>
                  </a:ext>
                </a:extLst>
              </a:tr>
              <a:tr h="0">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एकूण प्रकल्प किमत (लक्ष)</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४४५.००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4661939"/>
                  </a:ext>
                </a:extLst>
              </a:tr>
            </a:tbl>
          </a:graphicData>
        </a:graphic>
      </p:graphicFrame>
      <p:graphicFrame>
        <p:nvGraphicFramePr>
          <p:cNvPr id="8" name="Table 8">
            <a:extLst>
              <a:ext uri="{FF2B5EF4-FFF2-40B4-BE49-F238E27FC236}">
                <a16:creationId xmlns:a16="http://schemas.microsoft.com/office/drawing/2014/main" id="{CE0398A4-B930-4FC7-B709-C77D3A8E837D}"/>
              </a:ext>
            </a:extLst>
          </p:cNvPr>
          <p:cNvGraphicFramePr>
            <a:graphicFrameLocks noGrp="1"/>
          </p:cNvGraphicFramePr>
          <p:nvPr>
            <p:ph sz="half" idx="2"/>
            <p:extLst>
              <p:ext uri="{D42A27DB-BD31-4B8C-83A1-F6EECF244321}">
                <p14:modId xmlns:p14="http://schemas.microsoft.com/office/powerpoint/2010/main" val="2907907238"/>
              </p:ext>
            </p:extLst>
          </p:nvPr>
        </p:nvGraphicFramePr>
        <p:xfrm>
          <a:off x="3728999" y="1971954"/>
          <a:ext cx="2836150" cy="3832991"/>
        </p:xfrm>
        <a:graphic>
          <a:graphicData uri="http://schemas.openxmlformats.org/drawingml/2006/table">
            <a:tbl>
              <a:tblPr firstRow="1" bandRow="1">
                <a:tableStyleId>{912C8C85-51F0-491E-9774-3900AFEF0FD7}</a:tableStyleId>
              </a:tblPr>
              <a:tblGrid>
                <a:gridCol w="1448657">
                  <a:extLst>
                    <a:ext uri="{9D8B030D-6E8A-4147-A177-3AD203B41FA5}">
                      <a16:colId xmlns:a16="http://schemas.microsoft.com/office/drawing/2014/main" val="1011128772"/>
                    </a:ext>
                  </a:extLst>
                </a:gridCol>
                <a:gridCol w="1387493">
                  <a:extLst>
                    <a:ext uri="{9D8B030D-6E8A-4147-A177-3AD203B41FA5}">
                      <a16:colId xmlns:a16="http://schemas.microsoft.com/office/drawing/2014/main" val="721870961"/>
                    </a:ext>
                  </a:extLst>
                </a:gridCol>
              </a:tblGrid>
              <a:tr h="332148">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तपशील</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माहिती</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5040782"/>
                  </a:ext>
                </a:extLst>
              </a:tr>
              <a:tr h="361430">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बँकेचे नाव</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HDFC</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66383089"/>
                  </a:ext>
                </a:extLst>
              </a:tr>
              <a:tr h="46300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बँकेचे कर्ज (लक्ष)</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१८०.००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92273777"/>
                  </a:ext>
                </a:extLst>
              </a:tr>
              <a:tr h="398431">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व्याजाचा दर </a:t>
                      </a:r>
                      <a:r>
                        <a:rPr lang="en-IN" sz="1200" b="0" kern="1200" dirty="0">
                          <a:solidFill>
                            <a:schemeClr val="tx1"/>
                          </a:solidFill>
                          <a:latin typeface="Sakal Marathi" panose="02000400000000000000" pitchFamily="2" charset="0"/>
                          <a:ea typeface="+mn-ea"/>
                          <a:cs typeface="Sakal Marathi" panose="02000400000000000000" pitchFamily="2" charset="0"/>
                        </a:rPr>
                        <a:t>(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९</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23380428"/>
                  </a:ext>
                </a:extLst>
              </a:tr>
              <a:tr h="381750">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हप्ते (महिने)</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६०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64044439"/>
                  </a:ext>
                </a:extLst>
              </a:tr>
              <a:tr h="396207">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एकूण हप्ते </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६०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93740531"/>
                  </a:ext>
                </a:extLst>
              </a:tr>
              <a:tr h="46300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हप्त्याची रक्कम</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08523587"/>
                  </a:ext>
                </a:extLst>
              </a:tr>
              <a:tr h="585850">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कर्ज गहाण कालावधी (महिने)</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en-IN" sz="1200" b="0" kern="1200" dirty="0">
                          <a:solidFill>
                            <a:schemeClr val="tx1"/>
                          </a:solidFill>
                          <a:latin typeface="Sakal Marathi" panose="02000400000000000000" pitchFamily="2" charset="0"/>
                          <a:ea typeface="+mn-ea"/>
                          <a:cs typeface="Sakal Marathi" panose="02000400000000000000" pitchFamily="2"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42328224"/>
                  </a:ext>
                </a:extLst>
              </a:tr>
              <a:tr h="4511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kern="1200" dirty="0">
                          <a:solidFill>
                            <a:schemeClr val="tx1"/>
                          </a:solidFill>
                          <a:latin typeface="Sakal Marathi" panose="02000400000000000000" pitchFamily="2" charset="0"/>
                          <a:ea typeface="+mn-ea"/>
                          <a:cs typeface="Sakal Marathi" panose="02000400000000000000" pitchFamily="2" charset="0"/>
                        </a:rPr>
                        <a:t>IRR/ </a:t>
                      </a:r>
                      <a:r>
                        <a:rPr lang="en-IN" sz="1200" b="0" kern="1200" dirty="0" err="1">
                          <a:solidFill>
                            <a:schemeClr val="tx1"/>
                          </a:solidFill>
                          <a:latin typeface="Sakal Marathi" panose="02000400000000000000" pitchFamily="2" charset="0"/>
                          <a:ea typeface="+mn-ea"/>
                          <a:cs typeface="Sakal Marathi" panose="02000400000000000000" pitchFamily="2" charset="0"/>
                        </a:rPr>
                        <a:t>RoI</a:t>
                      </a:r>
                      <a:endParaRPr lang="en-IN" sz="1200" b="0" kern="1200" dirty="0">
                        <a:solidFill>
                          <a:schemeClr val="tx1"/>
                        </a:solidFill>
                        <a:latin typeface="Sakal Marathi" panose="02000400000000000000" pitchFamily="2" charset="0"/>
                        <a:ea typeface="+mn-ea"/>
                        <a:cs typeface="Sakal Marathi" panose="02000400000000000000" pitchFamily="2" charset="0"/>
                      </a:endParaRPr>
                    </a:p>
                    <a:p>
                      <a:pPr marL="0" algn="l" defTabSz="914400" rtl="0" eaLnBrk="1" latinLnBrk="0" hangingPunct="1"/>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en-IN" sz="1200" b="0" kern="1200" dirty="0">
                          <a:solidFill>
                            <a:schemeClr val="tx1"/>
                          </a:solidFill>
                          <a:latin typeface="Sakal Marathi" panose="02000400000000000000" pitchFamily="2" charset="0"/>
                          <a:ea typeface="+mn-ea"/>
                          <a:cs typeface="Sakal Marathi" panose="02000400000000000000" pitchFamily="2" charset="0"/>
                        </a:rPr>
                        <a:t>5.58%/ 18.59%</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4400727"/>
                  </a:ext>
                </a:extLst>
              </a:tr>
            </a:tbl>
          </a:graphicData>
        </a:graphic>
      </p:graphicFrame>
      <p:graphicFrame>
        <p:nvGraphicFramePr>
          <p:cNvPr id="9" name="Table 7">
            <a:extLst>
              <a:ext uri="{FF2B5EF4-FFF2-40B4-BE49-F238E27FC236}">
                <a16:creationId xmlns:a16="http://schemas.microsoft.com/office/drawing/2014/main" id="{0B0C28BA-C8F3-4BE9-83CF-F80AC10F4DDE}"/>
              </a:ext>
            </a:extLst>
          </p:cNvPr>
          <p:cNvGraphicFramePr>
            <a:graphicFrameLocks/>
          </p:cNvGraphicFramePr>
          <p:nvPr>
            <p:extLst>
              <p:ext uri="{D42A27DB-BD31-4B8C-83A1-F6EECF244321}">
                <p14:modId xmlns:p14="http://schemas.microsoft.com/office/powerpoint/2010/main" val="222833715"/>
              </p:ext>
            </p:extLst>
          </p:nvPr>
        </p:nvGraphicFramePr>
        <p:xfrm>
          <a:off x="6661547" y="1965069"/>
          <a:ext cx="2289572" cy="3840195"/>
        </p:xfrm>
        <a:graphic>
          <a:graphicData uri="http://schemas.openxmlformats.org/drawingml/2006/table">
            <a:tbl>
              <a:tblPr firstRow="1" bandRow="1">
                <a:tableStyleId>{912C8C85-51F0-491E-9774-3900AFEF0FD7}</a:tableStyleId>
              </a:tblPr>
              <a:tblGrid>
                <a:gridCol w="1117996">
                  <a:extLst>
                    <a:ext uri="{9D8B030D-6E8A-4147-A177-3AD203B41FA5}">
                      <a16:colId xmlns:a16="http://schemas.microsoft.com/office/drawing/2014/main" val="3582565472"/>
                    </a:ext>
                  </a:extLst>
                </a:gridCol>
                <a:gridCol w="1171576">
                  <a:extLst>
                    <a:ext uri="{9D8B030D-6E8A-4147-A177-3AD203B41FA5}">
                      <a16:colId xmlns:a16="http://schemas.microsoft.com/office/drawing/2014/main" val="1383914191"/>
                    </a:ext>
                  </a:extLst>
                </a:gridCol>
              </a:tblGrid>
              <a:tr h="324071">
                <a:tc>
                  <a:txBody>
                    <a:bodyPr/>
                    <a:lstStyle/>
                    <a:p>
                      <a:pPr algn="l"/>
                      <a:r>
                        <a:rPr lang="mr-IN" sz="1200" b="0" dirty="0">
                          <a:latin typeface="Sakal Marathi" panose="02000400000000000000" pitchFamily="2" charset="0"/>
                          <a:cs typeface="Sakal Marathi" panose="02000400000000000000" pitchFamily="2" charset="0"/>
                        </a:rPr>
                        <a:t>तपशील</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mr-IN" sz="1200" b="0" dirty="0">
                          <a:latin typeface="Sakal Marathi" panose="02000400000000000000" pitchFamily="2" charset="0"/>
                          <a:cs typeface="Sakal Marathi" panose="02000400000000000000" pitchFamily="2" charset="0"/>
                        </a:rPr>
                        <a:t>रक्कम  (लक्ष)</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6004398"/>
                  </a:ext>
                </a:extLst>
              </a:tr>
              <a:tr h="460982">
                <a:tc>
                  <a:txBody>
                    <a:bodyPr/>
                    <a:lstStyle/>
                    <a:p>
                      <a:pPr algn="ctr"/>
                      <a:r>
                        <a:rPr lang="mr-IN" sz="1200" b="0" dirty="0">
                          <a:latin typeface="Sakal Marathi" panose="02000400000000000000" pitchFamily="2" charset="0"/>
                          <a:cs typeface="Sakal Marathi" panose="02000400000000000000" pitchFamily="2" charset="0"/>
                        </a:rPr>
                        <a:t>पशुधन खरेदी</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mr-IN" sz="1200" b="0" dirty="0">
                          <a:latin typeface="Sakal Marathi" panose="02000400000000000000" pitchFamily="2" charset="0"/>
                          <a:cs typeface="Sakal Marathi" panose="02000400000000000000" pitchFamily="2" charset="0"/>
                        </a:rPr>
                        <a:t>२१०.००</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42949538"/>
                  </a:ext>
                </a:extLst>
              </a:tr>
              <a:tr h="575827">
                <a:tc>
                  <a:txBody>
                    <a:bodyPr/>
                    <a:lstStyle/>
                    <a:p>
                      <a:pPr algn="ctr"/>
                      <a:r>
                        <a:rPr lang="mr-IN" sz="1200" b="0" dirty="0">
                          <a:latin typeface="Sakal Marathi" panose="02000400000000000000" pitchFamily="2" charset="0"/>
                          <a:cs typeface="Sakal Marathi" panose="02000400000000000000" pitchFamily="2" charset="0"/>
                        </a:rPr>
                        <a:t>बांधकाम</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mr-IN" sz="1200" b="0" dirty="0">
                          <a:latin typeface="Sakal Marathi" panose="02000400000000000000" pitchFamily="2" charset="0"/>
                          <a:cs typeface="Sakal Marathi" panose="02000400000000000000" pitchFamily="2" charset="0"/>
                        </a:rPr>
                        <a:t>१४७.५</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37740280"/>
                  </a:ext>
                </a:extLst>
              </a:tr>
              <a:tr h="737637">
                <a:tc>
                  <a:txBody>
                    <a:bodyPr/>
                    <a:lstStyle/>
                    <a:p>
                      <a:pPr algn="ctr"/>
                      <a:r>
                        <a:rPr lang="mr-IN" sz="1200" b="0" dirty="0">
                          <a:latin typeface="Sakal Marathi" panose="02000400000000000000" pitchFamily="2" charset="0"/>
                          <a:cs typeface="Sakal Marathi" panose="02000400000000000000" pitchFamily="2" charset="0"/>
                        </a:rPr>
                        <a:t>अवजारे व सयंत्रे</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mr-IN" sz="1200" b="0" dirty="0">
                          <a:latin typeface="Sakal Marathi" panose="02000400000000000000" pitchFamily="2" charset="0"/>
                          <a:cs typeface="Sakal Marathi" panose="02000400000000000000" pitchFamily="2" charset="0"/>
                        </a:rPr>
                        <a:t>८७</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84527365"/>
                  </a:ext>
                </a:extLst>
              </a:tr>
              <a:tr h="422690">
                <a:tc>
                  <a:txBody>
                    <a:bodyPr/>
                    <a:lstStyle/>
                    <a:p>
                      <a:pPr algn="ctr"/>
                      <a:r>
                        <a:rPr lang="mr-IN" sz="1200" b="0" dirty="0">
                          <a:latin typeface="Sakal Marathi" panose="02000400000000000000" pitchFamily="2" charset="0"/>
                          <a:cs typeface="Sakal Marathi" panose="02000400000000000000" pitchFamily="2" charset="0"/>
                        </a:rPr>
                        <a:t>एकूण</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mr-IN" sz="1200" b="0" dirty="0">
                          <a:latin typeface="Sakal Marathi" panose="02000400000000000000" pitchFamily="2" charset="0"/>
                          <a:cs typeface="Sakal Marathi" panose="02000400000000000000" pitchFamily="2" charset="0"/>
                        </a:rPr>
                        <a:t>४४५</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34577984"/>
                  </a:ext>
                </a:extLst>
              </a:tr>
              <a:tr h="400050">
                <a:tc>
                  <a:txBody>
                    <a:bodyPr/>
                    <a:lstStyle/>
                    <a:p>
                      <a:pPr algn="ctr"/>
                      <a:r>
                        <a:rPr lang="mr-IN" sz="1200" b="0" dirty="0">
                          <a:latin typeface="Sakal Marathi" panose="02000400000000000000" pitchFamily="2" charset="0"/>
                          <a:cs typeface="Sakal Marathi" panose="02000400000000000000" pitchFamily="2" charset="0"/>
                        </a:rPr>
                        <a:t>एकूण उत्त्पन्न</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mr-IN" sz="1200" b="0" dirty="0">
                          <a:latin typeface="Sakal Marathi" panose="02000400000000000000" pitchFamily="2" charset="0"/>
                          <a:cs typeface="Sakal Marathi" panose="02000400000000000000" pitchFamily="2" charset="0"/>
                        </a:rPr>
                        <a:t>२३५९.५</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9546469"/>
                  </a:ext>
                </a:extLst>
              </a:tr>
              <a:tr h="331470">
                <a:tc>
                  <a:txBody>
                    <a:bodyPr/>
                    <a:lstStyle/>
                    <a:p>
                      <a:pPr algn="ctr"/>
                      <a:r>
                        <a:rPr lang="mr-IN" sz="1200" b="0" dirty="0">
                          <a:latin typeface="Sakal Marathi" panose="02000400000000000000" pitchFamily="2" charset="0"/>
                          <a:cs typeface="Sakal Marathi" panose="02000400000000000000" pitchFamily="2" charset="0"/>
                        </a:rPr>
                        <a:t>एकूण खर्च</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mr-IN" sz="1200" b="0" dirty="0">
                          <a:latin typeface="Sakal Marathi" panose="02000400000000000000" pitchFamily="2" charset="0"/>
                          <a:cs typeface="Sakal Marathi" panose="02000400000000000000" pitchFamily="2" charset="0"/>
                        </a:rPr>
                        <a:t>१९८९.६३</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6"/>
                  </a:ext>
                </a:extLst>
              </a:tr>
              <a:tr h="587468">
                <a:tc>
                  <a:txBody>
                    <a:bodyPr/>
                    <a:lstStyle/>
                    <a:p>
                      <a:pPr algn="ctr"/>
                      <a:r>
                        <a:rPr lang="mr-IN" sz="1200" b="0" dirty="0">
                          <a:latin typeface="Sakal Marathi" panose="02000400000000000000" pitchFamily="2" charset="0"/>
                          <a:cs typeface="Sakal Marathi" panose="02000400000000000000" pitchFamily="2" charset="0"/>
                        </a:rPr>
                        <a:t>निव्वळ नफा</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mr-IN" sz="1200" b="0" dirty="0">
                          <a:latin typeface="Sakal Marathi" panose="02000400000000000000" pitchFamily="2" charset="0"/>
                          <a:cs typeface="Sakal Marathi" panose="02000400000000000000" pitchFamily="2" charset="0"/>
                        </a:rPr>
                        <a:t>३६९.८७</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7"/>
                  </a:ext>
                </a:extLst>
              </a:tr>
            </a:tbl>
          </a:graphicData>
        </a:graphic>
      </p:graphicFrame>
      <p:sp>
        <p:nvSpPr>
          <p:cNvPr id="10" name="TextBox 9">
            <a:extLst>
              <a:ext uri="{FF2B5EF4-FFF2-40B4-BE49-F238E27FC236}">
                <a16:creationId xmlns:a16="http://schemas.microsoft.com/office/drawing/2014/main" id="{D594871D-EA6E-418C-9EC7-FD321D960B7C}"/>
              </a:ext>
            </a:extLst>
          </p:cNvPr>
          <p:cNvSpPr txBox="1"/>
          <p:nvPr/>
        </p:nvSpPr>
        <p:spPr>
          <a:xfrm>
            <a:off x="192880" y="1568706"/>
            <a:ext cx="3439718" cy="30777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mr-IN" sz="1400" b="1" dirty="0">
                <a:latin typeface="Sakal Marathi" panose="02000400000000000000" pitchFamily="2" charset="0"/>
                <a:cs typeface="Sakal Marathi" panose="02000400000000000000" pitchFamily="2" charset="0"/>
              </a:rPr>
              <a:t>सविस्तर प्रकल्प - भौतिक व आर्थिक</a:t>
            </a:r>
            <a:endParaRPr lang="en-IN" sz="1400" b="1" dirty="0">
              <a:latin typeface="Sakal Marathi" panose="02000400000000000000" pitchFamily="2" charset="0"/>
              <a:cs typeface="Sakal Marathi" panose="02000400000000000000" pitchFamily="2" charset="0"/>
            </a:endParaRPr>
          </a:p>
        </p:txBody>
      </p:sp>
      <p:sp>
        <p:nvSpPr>
          <p:cNvPr id="11" name="TextBox 10">
            <a:extLst>
              <a:ext uri="{FF2B5EF4-FFF2-40B4-BE49-F238E27FC236}">
                <a16:creationId xmlns:a16="http://schemas.microsoft.com/office/drawing/2014/main" id="{69E3F73B-44D0-4BF8-A137-238D0B0B45BA}"/>
              </a:ext>
            </a:extLst>
          </p:cNvPr>
          <p:cNvSpPr txBox="1"/>
          <p:nvPr/>
        </p:nvSpPr>
        <p:spPr>
          <a:xfrm>
            <a:off x="3736182" y="1568706"/>
            <a:ext cx="2821782" cy="3077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mr-IN" sz="1400" b="1" dirty="0">
                <a:latin typeface="Sakal Marathi" panose="02000400000000000000" pitchFamily="2" charset="0"/>
                <a:cs typeface="Sakal Marathi" panose="02000400000000000000" pitchFamily="2" charset="0"/>
              </a:rPr>
              <a:t>सविस्तर प्रकल्प  - आर्थिक</a:t>
            </a:r>
            <a:endParaRPr lang="en-IN" sz="1400" b="1" dirty="0">
              <a:latin typeface="Sakal Marathi" panose="02000400000000000000" pitchFamily="2" charset="0"/>
              <a:cs typeface="Sakal Marathi" panose="02000400000000000000" pitchFamily="2" charset="0"/>
            </a:endParaRPr>
          </a:p>
        </p:txBody>
      </p:sp>
      <p:sp>
        <p:nvSpPr>
          <p:cNvPr id="12" name="TextBox 11">
            <a:extLst>
              <a:ext uri="{FF2B5EF4-FFF2-40B4-BE49-F238E27FC236}">
                <a16:creationId xmlns:a16="http://schemas.microsoft.com/office/drawing/2014/main" id="{73F315D6-0F76-4851-A2E8-84DA7080DDD7}"/>
              </a:ext>
            </a:extLst>
          </p:cNvPr>
          <p:cNvSpPr txBox="1"/>
          <p:nvPr/>
        </p:nvSpPr>
        <p:spPr>
          <a:xfrm>
            <a:off x="6661547" y="1568707"/>
            <a:ext cx="2385970" cy="276999"/>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just"/>
            <a:r>
              <a:rPr lang="mr-IN" sz="1200" b="1" dirty="0">
                <a:latin typeface="Sakal Marathi" panose="02000400000000000000" pitchFamily="2" charset="0"/>
                <a:cs typeface="Sakal Marathi" panose="02000400000000000000" pitchFamily="2" charset="0"/>
              </a:rPr>
              <a:t>प्रकल्प अहवालानुसार आर्थिक स्थिती </a:t>
            </a:r>
            <a:endParaRPr lang="en-IN" sz="1200" b="1" dirty="0">
              <a:latin typeface="Sakal Marathi" panose="02000400000000000000" pitchFamily="2" charset="0"/>
              <a:cs typeface="Sakal Marathi" panose="02000400000000000000" pitchFamily="2" charset="0"/>
            </a:endParaRPr>
          </a:p>
        </p:txBody>
      </p:sp>
    </p:spTree>
    <p:extLst>
      <p:ext uri="{BB962C8B-B14F-4D97-AF65-F5344CB8AC3E}">
        <p14:creationId xmlns:p14="http://schemas.microsoft.com/office/powerpoint/2010/main" val="3468381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66E5E9-A23D-4839-A4FA-8C84A6E01838}"/>
              </a:ext>
            </a:extLst>
          </p:cNvPr>
          <p:cNvSpPr>
            <a:spLocks noGrp="1"/>
          </p:cNvSpPr>
          <p:nvPr>
            <p:ph type="title"/>
          </p:nvPr>
        </p:nvSpPr>
        <p:spPr>
          <a:xfrm>
            <a:off x="192881" y="868147"/>
            <a:ext cx="8758238" cy="484748"/>
          </a:xfrm>
        </p:spPr>
        <p:style>
          <a:lnRef idx="1">
            <a:schemeClr val="accent1"/>
          </a:lnRef>
          <a:fillRef idx="2">
            <a:schemeClr val="accent1"/>
          </a:fillRef>
          <a:effectRef idx="1">
            <a:schemeClr val="accent1"/>
          </a:effectRef>
          <a:fontRef idx="minor">
            <a:schemeClr val="dk1"/>
          </a:fontRef>
        </p:style>
        <p:txBody>
          <a:bodyPr>
            <a:noAutofit/>
          </a:bodyPr>
          <a:lstStyle/>
          <a:p>
            <a:r>
              <a:rPr lang="mr-IN" sz="16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देशी जातींचा विकास आणि संवर्धन फार्मची स्थापना</a:t>
            </a:r>
            <a:r>
              <a:rPr lang="en-US" sz="16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 </a:t>
            </a:r>
            <a:r>
              <a:rPr lang="mr-IN" sz="16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या योजनेंतर्गत मंजुर प्रकल्प : </a:t>
            </a:r>
            <a:br>
              <a:rPr lang="mr-IN" sz="16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br>
            <a:r>
              <a:rPr lang="mr-IN" sz="1600" b="1" dirty="0">
                <a:solidFill>
                  <a:srgbClr val="FF00FF"/>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ओयासिस शेतकरी उत्पादक कंपनी</a:t>
            </a:r>
            <a:endParaRPr lang="en-IN" sz="1650" b="1" dirty="0"/>
          </a:p>
        </p:txBody>
      </p:sp>
      <p:graphicFrame>
        <p:nvGraphicFramePr>
          <p:cNvPr id="7" name="Table 7">
            <a:extLst>
              <a:ext uri="{FF2B5EF4-FFF2-40B4-BE49-F238E27FC236}">
                <a16:creationId xmlns:a16="http://schemas.microsoft.com/office/drawing/2014/main" id="{4F299A00-9D2C-4BA6-B9B0-30489752D6EF}"/>
              </a:ext>
            </a:extLst>
          </p:cNvPr>
          <p:cNvGraphicFramePr>
            <a:graphicFrameLocks noGrp="1"/>
          </p:cNvGraphicFramePr>
          <p:nvPr>
            <p:ph sz="half" idx="1"/>
            <p:extLst>
              <p:ext uri="{D42A27DB-BD31-4B8C-83A1-F6EECF244321}">
                <p14:modId xmlns:p14="http://schemas.microsoft.com/office/powerpoint/2010/main" val="773816396"/>
              </p:ext>
            </p:extLst>
          </p:nvPr>
        </p:nvGraphicFramePr>
        <p:xfrm>
          <a:off x="192880" y="1971954"/>
          <a:ext cx="3439718" cy="3626069"/>
        </p:xfrm>
        <a:graphic>
          <a:graphicData uri="http://schemas.openxmlformats.org/drawingml/2006/table">
            <a:tbl>
              <a:tblPr firstRow="1" bandRow="1">
                <a:tableStyleId>{912C8C85-51F0-491E-9774-3900AFEF0FD7}</a:tableStyleId>
              </a:tblPr>
              <a:tblGrid>
                <a:gridCol w="1821035">
                  <a:extLst>
                    <a:ext uri="{9D8B030D-6E8A-4147-A177-3AD203B41FA5}">
                      <a16:colId xmlns:a16="http://schemas.microsoft.com/office/drawing/2014/main" val="3582565472"/>
                    </a:ext>
                  </a:extLst>
                </a:gridCol>
                <a:gridCol w="1618683">
                  <a:extLst>
                    <a:ext uri="{9D8B030D-6E8A-4147-A177-3AD203B41FA5}">
                      <a16:colId xmlns:a16="http://schemas.microsoft.com/office/drawing/2014/main" val="1383914191"/>
                    </a:ext>
                  </a:extLst>
                </a:gridCol>
              </a:tblGrid>
              <a:tr h="280169">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तपशील</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माहिती</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6004398"/>
                  </a:ext>
                </a:extLst>
              </a:tr>
              <a:tr h="384789">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प्रकल्प सदर करता </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ओयासिस शेतकरी उत्पादक कंपनी</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73190515"/>
                  </a:ext>
                </a:extLst>
              </a:tr>
              <a:tr h="252152">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अर्दाराचा प्रकार</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शेतकरी उत्पादक कंपनी</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189240057"/>
                  </a:ext>
                </a:extLst>
              </a:tr>
              <a:tr h="922433">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प्रकल्पाचा पत्ता</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गाव - पांढरी</a:t>
                      </a:r>
                    </a:p>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ता. आष्टी </a:t>
                      </a:r>
                    </a:p>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जिल्हा- बीड</a:t>
                      </a:r>
                    </a:p>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महाराष्ट्र </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46009842"/>
                  </a:ext>
                </a:extLst>
              </a:tr>
              <a:tr h="21891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पशुची जात / संख्या</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HF / HF CB/ २००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52644173"/>
                  </a:ext>
                </a:extLst>
              </a:tr>
              <a:tr h="15318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जमिनीची उपलब्धता एकर</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११.१ (भाडे तत्वावर)</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94902522"/>
                  </a:ext>
                </a:extLst>
              </a:tr>
              <a:tr h="365760">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लाभार्थी हिस्सा (लक्ष)</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६४.४४</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884476979"/>
                  </a:ext>
                </a:extLst>
              </a:tr>
              <a:tr h="24660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बँकेचे कर्ज (लक्ष)</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१५०.००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239668460"/>
                  </a:ext>
                </a:extLst>
              </a:tr>
              <a:tr h="36537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अनुदानाची रक्कम (लक्ष)</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२००.००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326973600"/>
                  </a:ext>
                </a:extLst>
              </a:tr>
              <a:tr h="174128">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एकूण प्रकल्प किमत (लक्ष)</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४१४.४४</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4661939"/>
                  </a:ext>
                </a:extLst>
              </a:tr>
            </a:tbl>
          </a:graphicData>
        </a:graphic>
      </p:graphicFrame>
      <p:graphicFrame>
        <p:nvGraphicFramePr>
          <p:cNvPr id="8" name="Table 8">
            <a:extLst>
              <a:ext uri="{FF2B5EF4-FFF2-40B4-BE49-F238E27FC236}">
                <a16:creationId xmlns:a16="http://schemas.microsoft.com/office/drawing/2014/main" id="{CE0398A4-B930-4FC7-B709-C77D3A8E837D}"/>
              </a:ext>
            </a:extLst>
          </p:cNvPr>
          <p:cNvGraphicFramePr>
            <a:graphicFrameLocks noGrp="1"/>
          </p:cNvGraphicFramePr>
          <p:nvPr>
            <p:ph sz="half" idx="2"/>
            <p:extLst>
              <p:ext uri="{D42A27DB-BD31-4B8C-83A1-F6EECF244321}">
                <p14:modId xmlns:p14="http://schemas.microsoft.com/office/powerpoint/2010/main" val="3250373449"/>
              </p:ext>
            </p:extLst>
          </p:nvPr>
        </p:nvGraphicFramePr>
        <p:xfrm>
          <a:off x="3728999" y="1971954"/>
          <a:ext cx="2836150" cy="3664656"/>
        </p:xfrm>
        <a:graphic>
          <a:graphicData uri="http://schemas.openxmlformats.org/drawingml/2006/table">
            <a:tbl>
              <a:tblPr firstRow="1" bandRow="1">
                <a:tableStyleId>{912C8C85-51F0-491E-9774-3900AFEF0FD7}</a:tableStyleId>
              </a:tblPr>
              <a:tblGrid>
                <a:gridCol w="1448657">
                  <a:extLst>
                    <a:ext uri="{9D8B030D-6E8A-4147-A177-3AD203B41FA5}">
                      <a16:colId xmlns:a16="http://schemas.microsoft.com/office/drawing/2014/main" val="1011128772"/>
                    </a:ext>
                  </a:extLst>
                </a:gridCol>
                <a:gridCol w="1387493">
                  <a:extLst>
                    <a:ext uri="{9D8B030D-6E8A-4147-A177-3AD203B41FA5}">
                      <a16:colId xmlns:a16="http://schemas.microsoft.com/office/drawing/2014/main" val="721870961"/>
                    </a:ext>
                  </a:extLst>
                </a:gridCol>
              </a:tblGrid>
              <a:tr h="332148">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तपशील</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माहिती</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5040782"/>
                  </a:ext>
                </a:extLst>
              </a:tr>
              <a:tr h="361430">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बँकेचे नाव</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PNB</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66383089"/>
                  </a:ext>
                </a:extLst>
              </a:tr>
              <a:tr h="46300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बँकेचे कर्ज (लक्ष)</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१५०.००</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92273777"/>
                  </a:ext>
                </a:extLst>
              </a:tr>
              <a:tr h="398431">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व्याजाचा दर </a:t>
                      </a:r>
                      <a:r>
                        <a:rPr lang="en-IN" sz="1200" b="0" kern="1200" dirty="0">
                          <a:solidFill>
                            <a:schemeClr val="tx1"/>
                          </a:solidFill>
                          <a:latin typeface="Sakal Marathi" panose="02000400000000000000" pitchFamily="2" charset="0"/>
                          <a:ea typeface="+mn-ea"/>
                          <a:cs typeface="Sakal Marathi" panose="02000400000000000000" pitchFamily="2" charset="0"/>
                        </a:rPr>
                        <a:t>(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23380428"/>
                  </a:ext>
                </a:extLst>
              </a:tr>
              <a:tr h="381750">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हप्ते (महिने)</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64044439"/>
                  </a:ext>
                </a:extLst>
              </a:tr>
              <a:tr h="396207">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एकूण हप्ते </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93740531"/>
                  </a:ext>
                </a:extLst>
              </a:tr>
              <a:tr h="463005">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हप्त्याची रक्कम</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08523587"/>
                  </a:ext>
                </a:extLst>
              </a:tr>
              <a:tr h="389262">
                <a:tc>
                  <a:txBody>
                    <a:bodyPr/>
                    <a:lstStyle/>
                    <a:p>
                      <a:pPr marL="0" algn="l" defTabSz="914400" rtl="0" eaLnBrk="1" latinLnBrk="0" hangingPunct="1"/>
                      <a:r>
                        <a:rPr lang="mr-IN" sz="1200" b="0" kern="1200" dirty="0">
                          <a:solidFill>
                            <a:schemeClr val="tx1"/>
                          </a:solidFill>
                          <a:latin typeface="Sakal Marathi" panose="02000400000000000000" pitchFamily="2" charset="0"/>
                          <a:ea typeface="+mn-ea"/>
                          <a:cs typeface="Sakal Marathi" panose="02000400000000000000" pitchFamily="2" charset="0"/>
                        </a:rPr>
                        <a:t>कर्ज गहाण कालावधी (महिने)</a:t>
                      </a:r>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l" defTabSz="914400" rtl="0" eaLnBrk="1" latinLnBrk="0" hangingPunct="1"/>
                      <a:r>
                        <a:rPr lang="en-IN" sz="1200" b="0" kern="1200" dirty="0">
                          <a:solidFill>
                            <a:schemeClr val="tx1"/>
                          </a:solidFill>
                          <a:latin typeface="Sakal Marathi" panose="02000400000000000000" pitchFamily="2" charset="0"/>
                          <a:ea typeface="+mn-ea"/>
                          <a:cs typeface="Sakal Marathi" panose="02000400000000000000" pitchFamily="2"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42328224"/>
                  </a:ext>
                </a:extLst>
              </a:tr>
              <a:tr h="2354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kern="1200" dirty="0">
                          <a:solidFill>
                            <a:schemeClr val="tx1"/>
                          </a:solidFill>
                          <a:latin typeface="Sakal Marathi" panose="02000400000000000000" pitchFamily="2" charset="0"/>
                          <a:ea typeface="+mn-ea"/>
                          <a:cs typeface="Sakal Marathi" panose="02000400000000000000" pitchFamily="2" charset="0"/>
                        </a:rPr>
                        <a:t>IRR/ </a:t>
                      </a:r>
                      <a:r>
                        <a:rPr lang="en-IN" sz="1200" b="0" kern="1200" dirty="0" err="1">
                          <a:solidFill>
                            <a:schemeClr val="tx1"/>
                          </a:solidFill>
                          <a:latin typeface="Sakal Marathi" panose="02000400000000000000" pitchFamily="2" charset="0"/>
                          <a:ea typeface="+mn-ea"/>
                          <a:cs typeface="Sakal Marathi" panose="02000400000000000000" pitchFamily="2" charset="0"/>
                        </a:rPr>
                        <a:t>RoI</a:t>
                      </a:r>
                      <a:endParaRPr lang="en-IN" sz="1200" b="0" kern="1200" dirty="0">
                        <a:solidFill>
                          <a:schemeClr val="tx1"/>
                        </a:solidFill>
                        <a:latin typeface="Sakal Marathi" panose="02000400000000000000" pitchFamily="2" charset="0"/>
                        <a:ea typeface="+mn-ea"/>
                        <a:cs typeface="Sakal Marathi" panose="02000400000000000000" pitchFamily="2" charset="0"/>
                      </a:endParaRPr>
                    </a:p>
                    <a:p>
                      <a:pPr marL="0" algn="l" defTabSz="914400" rtl="0" eaLnBrk="1" latinLnBrk="0" hangingPunct="1"/>
                      <a:endParaRPr lang="en-IN" sz="1200" b="0" kern="1200" dirty="0">
                        <a:solidFill>
                          <a:schemeClr val="tx1"/>
                        </a:solidFill>
                        <a:latin typeface="Sakal Marathi" panose="02000400000000000000" pitchFamily="2" charset="0"/>
                        <a:ea typeface="+mn-ea"/>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IN" sz="1200" b="1" dirty="0"/>
                        <a:t>13.06/62.73</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4400727"/>
                  </a:ext>
                </a:extLst>
              </a:tr>
            </a:tbl>
          </a:graphicData>
        </a:graphic>
      </p:graphicFrame>
      <p:graphicFrame>
        <p:nvGraphicFramePr>
          <p:cNvPr id="9" name="Table 7">
            <a:extLst>
              <a:ext uri="{FF2B5EF4-FFF2-40B4-BE49-F238E27FC236}">
                <a16:creationId xmlns:a16="http://schemas.microsoft.com/office/drawing/2014/main" id="{0B0C28BA-C8F3-4BE9-83CF-F80AC10F4DDE}"/>
              </a:ext>
            </a:extLst>
          </p:cNvPr>
          <p:cNvGraphicFramePr>
            <a:graphicFrameLocks/>
          </p:cNvGraphicFramePr>
          <p:nvPr>
            <p:extLst>
              <p:ext uri="{D42A27DB-BD31-4B8C-83A1-F6EECF244321}">
                <p14:modId xmlns:p14="http://schemas.microsoft.com/office/powerpoint/2010/main" val="1231600575"/>
              </p:ext>
            </p:extLst>
          </p:nvPr>
        </p:nvGraphicFramePr>
        <p:xfrm>
          <a:off x="6661547" y="1965069"/>
          <a:ext cx="2289572" cy="3672147"/>
        </p:xfrm>
        <a:graphic>
          <a:graphicData uri="http://schemas.openxmlformats.org/drawingml/2006/table">
            <a:tbl>
              <a:tblPr firstRow="1" bandRow="1">
                <a:tableStyleId>{912C8C85-51F0-491E-9774-3900AFEF0FD7}</a:tableStyleId>
              </a:tblPr>
              <a:tblGrid>
                <a:gridCol w="1117996">
                  <a:extLst>
                    <a:ext uri="{9D8B030D-6E8A-4147-A177-3AD203B41FA5}">
                      <a16:colId xmlns:a16="http://schemas.microsoft.com/office/drawing/2014/main" val="3582565472"/>
                    </a:ext>
                  </a:extLst>
                </a:gridCol>
                <a:gridCol w="1171576">
                  <a:extLst>
                    <a:ext uri="{9D8B030D-6E8A-4147-A177-3AD203B41FA5}">
                      <a16:colId xmlns:a16="http://schemas.microsoft.com/office/drawing/2014/main" val="1383914191"/>
                    </a:ext>
                  </a:extLst>
                </a:gridCol>
              </a:tblGrid>
              <a:tr h="324071">
                <a:tc>
                  <a:txBody>
                    <a:bodyPr/>
                    <a:lstStyle/>
                    <a:p>
                      <a:pPr algn="l"/>
                      <a:r>
                        <a:rPr lang="mr-IN" sz="1200" b="0" dirty="0">
                          <a:latin typeface="Sakal Marathi" panose="02000400000000000000" pitchFamily="2" charset="0"/>
                          <a:cs typeface="Sakal Marathi" panose="02000400000000000000" pitchFamily="2" charset="0"/>
                        </a:rPr>
                        <a:t>तपशील</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mr-IN" sz="1200" b="0" dirty="0">
                          <a:latin typeface="Sakal Marathi" panose="02000400000000000000" pitchFamily="2" charset="0"/>
                          <a:cs typeface="Sakal Marathi" panose="02000400000000000000" pitchFamily="2" charset="0"/>
                        </a:rPr>
                        <a:t>रक्कम  (लक्ष)</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6004398"/>
                  </a:ext>
                </a:extLst>
              </a:tr>
              <a:tr h="460982">
                <a:tc>
                  <a:txBody>
                    <a:bodyPr/>
                    <a:lstStyle/>
                    <a:p>
                      <a:pPr algn="ctr"/>
                      <a:r>
                        <a:rPr lang="mr-IN" sz="1200" b="0" dirty="0">
                          <a:latin typeface="Sakal Marathi" panose="02000400000000000000" pitchFamily="2" charset="0"/>
                          <a:cs typeface="Sakal Marathi" panose="02000400000000000000" pitchFamily="2" charset="0"/>
                        </a:rPr>
                        <a:t>पशुधन खरेदी</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IN" sz="1000" b="1" dirty="0">
                          <a:latin typeface="Sakal Marathi" panose="02000400000000000000" pitchFamily="2" charset="0"/>
                          <a:cs typeface="Sakal Marathi" panose="02000400000000000000" pitchFamily="2" charset="0"/>
                        </a:rPr>
                        <a:t>200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42949538"/>
                  </a:ext>
                </a:extLst>
              </a:tr>
              <a:tr h="575827">
                <a:tc>
                  <a:txBody>
                    <a:bodyPr/>
                    <a:lstStyle/>
                    <a:p>
                      <a:pPr algn="ctr"/>
                      <a:r>
                        <a:rPr lang="mr-IN" sz="1200" b="0" dirty="0">
                          <a:latin typeface="Sakal Marathi" panose="02000400000000000000" pitchFamily="2" charset="0"/>
                          <a:cs typeface="Sakal Marathi" panose="02000400000000000000" pitchFamily="2" charset="0"/>
                        </a:rPr>
                        <a:t>बांधकाम</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IN" sz="1000" b="1" dirty="0">
                          <a:latin typeface="Sakal Marathi" panose="02000400000000000000" pitchFamily="2" charset="0"/>
                          <a:cs typeface="Sakal Marathi" panose="02000400000000000000" pitchFamily="2" charset="0"/>
                        </a:rPr>
                        <a:t>170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37740280"/>
                  </a:ext>
                </a:extLst>
              </a:tr>
              <a:tr h="607107">
                <a:tc>
                  <a:txBody>
                    <a:bodyPr/>
                    <a:lstStyle/>
                    <a:p>
                      <a:pPr algn="ctr"/>
                      <a:r>
                        <a:rPr lang="mr-IN" sz="1200" b="0" dirty="0">
                          <a:latin typeface="Sakal Marathi" panose="02000400000000000000" pitchFamily="2" charset="0"/>
                          <a:cs typeface="Sakal Marathi" panose="02000400000000000000" pitchFamily="2" charset="0"/>
                        </a:rPr>
                        <a:t>अवजारे व सयंत्रे</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IN" sz="1000" b="1" dirty="0">
                          <a:latin typeface="Sakal Marathi" panose="02000400000000000000" pitchFamily="2" charset="0"/>
                          <a:cs typeface="Sakal Marathi" panose="02000400000000000000" pitchFamily="2" charset="0"/>
                        </a:rPr>
                        <a:t>35</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84527365"/>
                  </a:ext>
                </a:extLst>
              </a:tr>
              <a:tr h="422690">
                <a:tc>
                  <a:txBody>
                    <a:bodyPr/>
                    <a:lstStyle/>
                    <a:p>
                      <a:pPr algn="ctr"/>
                      <a:r>
                        <a:rPr lang="mr-IN" sz="1200" b="0" dirty="0">
                          <a:latin typeface="Sakal Marathi" panose="02000400000000000000" pitchFamily="2" charset="0"/>
                          <a:cs typeface="Sakal Marathi" panose="02000400000000000000" pitchFamily="2" charset="0"/>
                        </a:rPr>
                        <a:t>इतर किरकोळ</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IN" sz="1000" b="1" dirty="0">
                          <a:latin typeface="Sakal Marathi" panose="02000400000000000000" pitchFamily="2" charset="0"/>
                          <a:cs typeface="Sakal Marathi" panose="02000400000000000000" pitchFamily="2" charset="0"/>
                        </a:rPr>
                        <a:t>9.44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34577984"/>
                  </a:ext>
                </a:extLst>
              </a:tr>
              <a:tr h="400050">
                <a:tc>
                  <a:txBody>
                    <a:bodyPr/>
                    <a:lstStyle/>
                    <a:p>
                      <a:pPr algn="ctr"/>
                      <a:r>
                        <a:rPr lang="mr-IN" sz="1200" b="0" dirty="0">
                          <a:latin typeface="Sakal Marathi" panose="02000400000000000000" pitchFamily="2" charset="0"/>
                          <a:cs typeface="Sakal Marathi" panose="02000400000000000000" pitchFamily="2" charset="0"/>
                        </a:rPr>
                        <a:t>एकूण</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IN" sz="1000" b="1" dirty="0">
                          <a:latin typeface="Sakal Marathi" panose="02000400000000000000" pitchFamily="2" charset="0"/>
                          <a:cs typeface="Sakal Marathi" panose="02000400000000000000" pitchFamily="2" charset="0"/>
                        </a:rPr>
                        <a:t>414.44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9546469"/>
                  </a:ext>
                </a:extLst>
              </a:tr>
              <a:tr h="331470">
                <a:tc>
                  <a:txBody>
                    <a:bodyPr/>
                    <a:lstStyle/>
                    <a:p>
                      <a:pPr algn="ctr"/>
                      <a:r>
                        <a:rPr lang="mr-IN" sz="1200" b="0" dirty="0">
                          <a:latin typeface="Sakal Marathi" panose="02000400000000000000" pitchFamily="2" charset="0"/>
                          <a:cs typeface="Sakal Marathi" panose="02000400000000000000" pitchFamily="2" charset="0"/>
                        </a:rPr>
                        <a:t>एकूण उत्त्पन्न</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r>
                        <a:rPr lang="en-US" sz="1000" b="1" kern="1200" dirty="0">
                          <a:solidFill>
                            <a:schemeClr val="tx1"/>
                          </a:solidFill>
                          <a:latin typeface="Sakal Marathi" panose="02000400000000000000" pitchFamily="2" charset="0"/>
                          <a:ea typeface="+mn-ea"/>
                          <a:cs typeface="Sakal Marathi" panose="02000400000000000000" pitchFamily="2" charset="0"/>
                        </a:rPr>
                        <a:t>3213.45</a:t>
                      </a:r>
                    </a:p>
                  </a:txBody>
                  <a:tcPr marL="5715" marR="5715" marT="57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6"/>
                  </a:ext>
                </a:extLst>
              </a:tr>
              <a:tr h="227428">
                <a:tc>
                  <a:txBody>
                    <a:bodyPr/>
                    <a:lstStyle/>
                    <a:p>
                      <a:pPr algn="ctr"/>
                      <a:r>
                        <a:rPr lang="mr-IN" sz="1200" b="0" dirty="0">
                          <a:latin typeface="Sakal Marathi" panose="02000400000000000000" pitchFamily="2" charset="0"/>
                          <a:cs typeface="Sakal Marathi" panose="02000400000000000000" pitchFamily="2" charset="0"/>
                        </a:rPr>
                        <a:t>एकूण खर्च</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r>
                        <a:rPr lang="en-US" sz="1000" b="1" kern="1200" dirty="0">
                          <a:solidFill>
                            <a:schemeClr val="tx1"/>
                          </a:solidFill>
                          <a:latin typeface="Sakal Marathi" panose="02000400000000000000" pitchFamily="2" charset="0"/>
                          <a:ea typeface="+mn-ea"/>
                          <a:cs typeface="Sakal Marathi" panose="02000400000000000000" pitchFamily="2" charset="0"/>
                        </a:rPr>
                        <a:t>1974.69</a:t>
                      </a:r>
                    </a:p>
                  </a:txBody>
                  <a:tcPr marL="5715" marR="5715" marT="57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7"/>
                  </a:ext>
                </a:extLst>
              </a:tr>
              <a:tr h="298490">
                <a:tc>
                  <a:txBody>
                    <a:bodyPr/>
                    <a:lstStyle/>
                    <a:p>
                      <a:pPr algn="ctr"/>
                      <a:r>
                        <a:rPr lang="mr-IN" sz="1200" b="0" dirty="0">
                          <a:latin typeface="Sakal Marathi" panose="02000400000000000000" pitchFamily="2" charset="0"/>
                          <a:cs typeface="Sakal Marathi" panose="02000400000000000000" pitchFamily="2" charset="0"/>
                        </a:rPr>
                        <a:t>निव्वळ नफा</a:t>
                      </a:r>
                      <a:endParaRPr lang="en-IN" sz="1200" b="0" dirty="0">
                        <a:latin typeface="Sakal Marathi" panose="02000400000000000000" pitchFamily="2" charset="0"/>
                        <a:cs typeface="Sakal Marathi" panose="02000400000000000000" pitchFamily="2"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r>
                        <a:rPr lang="mr-IN" sz="1000" b="1" kern="1200" dirty="0">
                          <a:solidFill>
                            <a:schemeClr val="tx1"/>
                          </a:solidFill>
                          <a:latin typeface="Sakal Marathi" panose="02000400000000000000" pitchFamily="2" charset="0"/>
                          <a:ea typeface="+mn-ea"/>
                          <a:cs typeface="Sakal Marathi" panose="02000400000000000000" pitchFamily="2" charset="0"/>
                        </a:rPr>
                        <a:t>१२३८.७६</a:t>
                      </a:r>
                      <a:endParaRPr lang="en-US" sz="1000" b="1" kern="1200" dirty="0">
                        <a:solidFill>
                          <a:schemeClr val="tx1"/>
                        </a:solidFill>
                        <a:latin typeface="Sakal Marathi" panose="02000400000000000000" pitchFamily="2" charset="0"/>
                        <a:ea typeface="+mn-ea"/>
                        <a:cs typeface="Sakal Marathi" panose="02000400000000000000" pitchFamily="2" charset="0"/>
                      </a:endParaRPr>
                    </a:p>
                  </a:txBody>
                  <a:tcPr marL="5715" marR="5715" marT="57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948845382"/>
                  </a:ext>
                </a:extLst>
              </a:tr>
            </a:tbl>
          </a:graphicData>
        </a:graphic>
      </p:graphicFrame>
      <p:sp>
        <p:nvSpPr>
          <p:cNvPr id="10" name="TextBox 9">
            <a:extLst>
              <a:ext uri="{FF2B5EF4-FFF2-40B4-BE49-F238E27FC236}">
                <a16:creationId xmlns:a16="http://schemas.microsoft.com/office/drawing/2014/main" id="{D594871D-EA6E-418C-9EC7-FD321D960B7C}"/>
              </a:ext>
            </a:extLst>
          </p:cNvPr>
          <p:cNvSpPr txBox="1"/>
          <p:nvPr/>
        </p:nvSpPr>
        <p:spPr>
          <a:xfrm>
            <a:off x="192880" y="1568706"/>
            <a:ext cx="3439718" cy="30777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mr-IN" sz="1400" b="1" dirty="0">
                <a:latin typeface="Sakal Marathi" panose="02000400000000000000" pitchFamily="2" charset="0"/>
                <a:cs typeface="Sakal Marathi" panose="02000400000000000000" pitchFamily="2" charset="0"/>
              </a:rPr>
              <a:t>सविस्तर प्रकल्प - भौतिक व आर्थिक</a:t>
            </a:r>
            <a:endParaRPr lang="en-IN" sz="1400" b="1" dirty="0">
              <a:latin typeface="Sakal Marathi" panose="02000400000000000000" pitchFamily="2" charset="0"/>
              <a:cs typeface="Sakal Marathi" panose="02000400000000000000" pitchFamily="2" charset="0"/>
            </a:endParaRPr>
          </a:p>
        </p:txBody>
      </p:sp>
      <p:sp>
        <p:nvSpPr>
          <p:cNvPr id="11" name="TextBox 10">
            <a:extLst>
              <a:ext uri="{FF2B5EF4-FFF2-40B4-BE49-F238E27FC236}">
                <a16:creationId xmlns:a16="http://schemas.microsoft.com/office/drawing/2014/main" id="{69E3F73B-44D0-4BF8-A137-238D0B0B45BA}"/>
              </a:ext>
            </a:extLst>
          </p:cNvPr>
          <p:cNvSpPr txBox="1"/>
          <p:nvPr/>
        </p:nvSpPr>
        <p:spPr>
          <a:xfrm>
            <a:off x="3736182" y="1568706"/>
            <a:ext cx="2821782" cy="3077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mr-IN" sz="1400" b="1" dirty="0">
                <a:latin typeface="Sakal Marathi" panose="02000400000000000000" pitchFamily="2" charset="0"/>
                <a:cs typeface="Sakal Marathi" panose="02000400000000000000" pitchFamily="2" charset="0"/>
              </a:rPr>
              <a:t>सविस्तर प्रकल्प  - आर्थिक</a:t>
            </a:r>
            <a:endParaRPr lang="en-IN" sz="1400" b="1" dirty="0">
              <a:latin typeface="Sakal Marathi" panose="02000400000000000000" pitchFamily="2" charset="0"/>
              <a:cs typeface="Sakal Marathi" panose="02000400000000000000" pitchFamily="2" charset="0"/>
            </a:endParaRPr>
          </a:p>
        </p:txBody>
      </p:sp>
      <p:sp>
        <p:nvSpPr>
          <p:cNvPr id="12" name="TextBox 11">
            <a:extLst>
              <a:ext uri="{FF2B5EF4-FFF2-40B4-BE49-F238E27FC236}">
                <a16:creationId xmlns:a16="http://schemas.microsoft.com/office/drawing/2014/main" id="{73F315D6-0F76-4851-A2E8-84DA7080DDD7}"/>
              </a:ext>
            </a:extLst>
          </p:cNvPr>
          <p:cNvSpPr txBox="1"/>
          <p:nvPr/>
        </p:nvSpPr>
        <p:spPr>
          <a:xfrm>
            <a:off x="6661547" y="1568707"/>
            <a:ext cx="2385970" cy="276999"/>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just"/>
            <a:r>
              <a:rPr lang="mr-IN" sz="1200" b="1" dirty="0">
                <a:latin typeface="Sakal Marathi" panose="02000400000000000000" pitchFamily="2" charset="0"/>
                <a:cs typeface="Sakal Marathi" panose="02000400000000000000" pitchFamily="2" charset="0"/>
              </a:rPr>
              <a:t>प्रकल्प अहवालानुसार आर्थिक स्थिती </a:t>
            </a:r>
            <a:endParaRPr lang="en-IN" sz="1200" b="1" dirty="0">
              <a:latin typeface="Sakal Marathi" panose="02000400000000000000" pitchFamily="2" charset="0"/>
              <a:cs typeface="Sakal Marathi" panose="02000400000000000000" pitchFamily="2" charset="0"/>
            </a:endParaRPr>
          </a:p>
        </p:txBody>
      </p:sp>
    </p:spTree>
    <p:extLst>
      <p:ext uri="{BB962C8B-B14F-4D97-AF65-F5344CB8AC3E}">
        <p14:creationId xmlns:p14="http://schemas.microsoft.com/office/powerpoint/2010/main" val="3700747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66E5E9-A23D-4839-A4FA-8C84A6E01838}"/>
              </a:ext>
            </a:extLst>
          </p:cNvPr>
          <p:cNvSpPr>
            <a:spLocks noGrp="1"/>
          </p:cNvSpPr>
          <p:nvPr>
            <p:ph type="title"/>
          </p:nvPr>
        </p:nvSpPr>
        <p:spPr>
          <a:xfrm>
            <a:off x="192881" y="868147"/>
            <a:ext cx="8758238" cy="484748"/>
          </a:xfrm>
        </p:spPr>
        <p:style>
          <a:lnRef idx="1">
            <a:schemeClr val="accent1"/>
          </a:lnRef>
          <a:fillRef idx="2">
            <a:schemeClr val="accent1"/>
          </a:fillRef>
          <a:effectRef idx="1">
            <a:schemeClr val="accent1"/>
          </a:effectRef>
          <a:fontRef idx="minor">
            <a:schemeClr val="dk1"/>
          </a:fontRef>
        </p:style>
        <p:txBody>
          <a:bodyPr>
            <a:noAutofit/>
          </a:bodyPr>
          <a:lstStyle/>
          <a:p>
            <a:r>
              <a:rPr lang="en-IN" sz="1500" b="1" dirty="0"/>
              <a:t>Proposal for Breed Multiplication Farm under RGM- Oasis  farmer Producer Company Limited</a:t>
            </a:r>
          </a:p>
        </p:txBody>
      </p:sp>
      <p:graphicFrame>
        <p:nvGraphicFramePr>
          <p:cNvPr id="7" name="Table 7">
            <a:extLst>
              <a:ext uri="{FF2B5EF4-FFF2-40B4-BE49-F238E27FC236}">
                <a16:creationId xmlns:a16="http://schemas.microsoft.com/office/drawing/2014/main" id="{4F299A00-9D2C-4BA6-B9B0-30489752D6EF}"/>
              </a:ext>
            </a:extLst>
          </p:cNvPr>
          <p:cNvGraphicFramePr>
            <a:graphicFrameLocks noGrp="1"/>
          </p:cNvGraphicFramePr>
          <p:nvPr>
            <p:ph sz="half" idx="1"/>
          </p:nvPr>
        </p:nvGraphicFramePr>
        <p:xfrm>
          <a:off x="192880" y="1971954"/>
          <a:ext cx="3439718" cy="3787725"/>
        </p:xfrm>
        <a:graphic>
          <a:graphicData uri="http://schemas.openxmlformats.org/drawingml/2006/table">
            <a:tbl>
              <a:tblPr firstRow="1" bandRow="1">
                <a:tableStyleId>{912C8C85-51F0-491E-9774-3900AFEF0FD7}</a:tableStyleId>
              </a:tblPr>
              <a:tblGrid>
                <a:gridCol w="1821035">
                  <a:extLst>
                    <a:ext uri="{9D8B030D-6E8A-4147-A177-3AD203B41FA5}">
                      <a16:colId xmlns:a16="http://schemas.microsoft.com/office/drawing/2014/main" val="3582565472"/>
                    </a:ext>
                  </a:extLst>
                </a:gridCol>
                <a:gridCol w="1618683">
                  <a:extLst>
                    <a:ext uri="{9D8B030D-6E8A-4147-A177-3AD203B41FA5}">
                      <a16:colId xmlns:a16="http://schemas.microsoft.com/office/drawing/2014/main" val="1383914191"/>
                    </a:ext>
                  </a:extLst>
                </a:gridCol>
              </a:tblGrid>
              <a:tr h="280169">
                <a:tc>
                  <a:txBody>
                    <a:bodyPr/>
                    <a:lstStyle/>
                    <a:p>
                      <a:pPr algn="l"/>
                      <a:r>
                        <a:rPr lang="en-IN" sz="1100" b="1" dirty="0">
                          <a:latin typeface="+mn-lt"/>
                        </a:rPr>
                        <a:t>Attributes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100" b="1" dirty="0">
                          <a:latin typeface="+mn-lt"/>
                        </a:rPr>
                        <a:t>Information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6004398"/>
                  </a:ext>
                </a:extLst>
              </a:tr>
              <a:tr h="548062">
                <a:tc>
                  <a:txBody>
                    <a:bodyPr/>
                    <a:lstStyle/>
                    <a:p>
                      <a:pPr algn="l"/>
                      <a:r>
                        <a:rPr lang="en-IN" sz="1000" b="1" dirty="0">
                          <a:latin typeface="+mn-lt"/>
                        </a:rPr>
                        <a:t>Name of the Project/Proposal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a:r>
                        <a:rPr lang="en-IN" sz="1000" b="1" dirty="0">
                          <a:latin typeface="+mn-lt"/>
                        </a:rPr>
                        <a:t>Oasis</a:t>
                      </a:r>
                      <a:r>
                        <a:rPr lang="en-IN" sz="1000" b="1" baseline="0" dirty="0">
                          <a:latin typeface="+mn-lt"/>
                        </a:rPr>
                        <a:t>  farmer Producer Company Limited</a:t>
                      </a:r>
                      <a:endParaRPr lang="en-IN" sz="1000" b="1" dirty="0">
                        <a:latin typeface="+mn-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73190515"/>
                  </a:ext>
                </a:extLst>
              </a:tr>
              <a:tr h="273216">
                <a:tc>
                  <a:txBody>
                    <a:bodyPr/>
                    <a:lstStyle/>
                    <a:p>
                      <a:pPr algn="l"/>
                      <a:r>
                        <a:rPr lang="en-IN" sz="1000" b="1" dirty="0">
                          <a:latin typeface="+mn-lt"/>
                        </a:rPr>
                        <a:t>Type of Entrepreneur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a:r>
                        <a:rPr lang="en-IN" sz="1000" b="1" dirty="0">
                          <a:latin typeface="+mn-lt"/>
                        </a:rPr>
                        <a:t>Individual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189240057"/>
                  </a:ext>
                </a:extLst>
              </a:tr>
              <a:tr h="685800">
                <a:tc>
                  <a:txBody>
                    <a:bodyPr/>
                    <a:lstStyle/>
                    <a:p>
                      <a:pPr algn="l"/>
                      <a:r>
                        <a:rPr lang="en-IN" sz="1000" b="1" dirty="0">
                          <a:latin typeface="+mn-lt"/>
                        </a:rPr>
                        <a:t>Location of BMF</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a:r>
                        <a:rPr lang="en-IN" sz="1000" b="1" dirty="0">
                          <a:latin typeface="+mn-lt"/>
                        </a:rPr>
                        <a:t>Village: </a:t>
                      </a:r>
                      <a:r>
                        <a:rPr lang="en-IN" sz="1000" b="1" dirty="0" err="1">
                          <a:latin typeface="+mn-lt"/>
                        </a:rPr>
                        <a:t>Pandhari</a:t>
                      </a:r>
                      <a:endParaRPr lang="en-IN" sz="1000" b="1" dirty="0">
                        <a:latin typeface="+mn-lt"/>
                      </a:endParaRPr>
                    </a:p>
                    <a:p>
                      <a:pPr algn="l"/>
                      <a:r>
                        <a:rPr lang="en-IN" sz="1000" b="1" dirty="0" err="1">
                          <a:latin typeface="+mn-lt"/>
                        </a:rPr>
                        <a:t>Taluka</a:t>
                      </a:r>
                      <a:r>
                        <a:rPr lang="en-IN" sz="1000" b="1" dirty="0">
                          <a:latin typeface="+mn-lt"/>
                        </a:rPr>
                        <a:t>: </a:t>
                      </a:r>
                      <a:r>
                        <a:rPr lang="en-IN" sz="1000" b="1" dirty="0" err="1">
                          <a:latin typeface="+mn-lt"/>
                        </a:rPr>
                        <a:t>Ashti</a:t>
                      </a:r>
                      <a:endParaRPr lang="en-IN" sz="1000" b="1" dirty="0">
                        <a:latin typeface="+mn-lt"/>
                      </a:endParaRPr>
                    </a:p>
                    <a:p>
                      <a:pPr algn="l"/>
                      <a:r>
                        <a:rPr lang="en-IN" sz="1000" b="1" dirty="0">
                          <a:latin typeface="+mn-lt"/>
                        </a:rPr>
                        <a:t>District:</a:t>
                      </a:r>
                      <a:r>
                        <a:rPr lang="en-IN" sz="1000" b="1" baseline="0" dirty="0">
                          <a:latin typeface="+mn-lt"/>
                        </a:rPr>
                        <a:t> </a:t>
                      </a:r>
                      <a:r>
                        <a:rPr lang="en-IN" sz="1000" b="1" baseline="0" dirty="0" err="1">
                          <a:latin typeface="+mn-lt"/>
                        </a:rPr>
                        <a:t>Beed</a:t>
                      </a:r>
                      <a:endParaRPr lang="en-IN" sz="1000" b="1" baseline="0" dirty="0">
                        <a:latin typeface="+mn-lt"/>
                      </a:endParaRPr>
                    </a:p>
                    <a:p>
                      <a:pPr algn="l"/>
                      <a:r>
                        <a:rPr lang="en-IN" sz="1000" b="1" baseline="0" dirty="0">
                          <a:latin typeface="+mn-lt"/>
                        </a:rPr>
                        <a:t>Maharashtra</a:t>
                      </a:r>
                      <a:endParaRPr lang="en-IN" sz="1000" b="1" dirty="0">
                        <a:latin typeface="+mn-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46009842"/>
                  </a:ext>
                </a:extLst>
              </a:tr>
              <a:tr h="420758">
                <a:tc>
                  <a:txBody>
                    <a:bodyPr/>
                    <a:lstStyle/>
                    <a:p>
                      <a:pPr algn="l"/>
                      <a:r>
                        <a:rPr lang="en-IN" sz="1000" b="1" dirty="0">
                          <a:latin typeface="+mn-lt"/>
                        </a:rPr>
                        <a:t>Breeds / herd Size</a:t>
                      </a:r>
                    </a:p>
                    <a:p>
                      <a:pPr algn="l"/>
                      <a:endParaRPr lang="en-IN" sz="1000" b="1" dirty="0">
                        <a:latin typeface="+mn-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a:r>
                        <a:rPr lang="en-IN" sz="1000" b="1" dirty="0">
                          <a:latin typeface="+mn-lt"/>
                        </a:rPr>
                        <a:t>HF/HF CB- 200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52644173"/>
                  </a:ext>
                </a:extLst>
              </a:tr>
              <a:tr h="365760">
                <a:tc>
                  <a:txBody>
                    <a:bodyPr/>
                    <a:lstStyle/>
                    <a:p>
                      <a:pPr algn="l"/>
                      <a:r>
                        <a:rPr lang="en-IN" sz="1000" b="1" dirty="0">
                          <a:latin typeface="+mn-lt"/>
                        </a:rPr>
                        <a:t>Land Details- Entrepreneur  in acre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a:r>
                        <a:rPr lang="en-IN" sz="1000" b="1" dirty="0">
                          <a:latin typeface="+mn-lt"/>
                        </a:rPr>
                        <a:t>11.1</a:t>
                      </a:r>
                      <a:r>
                        <a:rPr lang="en-IN" sz="1000" b="1" baseline="0" dirty="0">
                          <a:latin typeface="+mn-lt"/>
                        </a:rPr>
                        <a:t> (leased)</a:t>
                      </a:r>
                      <a:endParaRPr lang="en-IN" sz="1000" b="1" dirty="0">
                        <a:latin typeface="+mn-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94902522"/>
                  </a:ext>
                </a:extLst>
              </a:tr>
              <a:tr h="365760">
                <a:tc>
                  <a:txBody>
                    <a:bodyPr/>
                    <a:lstStyle/>
                    <a:p>
                      <a:pPr algn="l"/>
                      <a:r>
                        <a:rPr lang="en-IN" sz="1000" b="1" dirty="0">
                          <a:latin typeface="+mn-lt"/>
                        </a:rPr>
                        <a:t>Beneficiary</a:t>
                      </a:r>
                      <a:r>
                        <a:rPr lang="en-IN" sz="1000" b="1" baseline="0" dirty="0">
                          <a:latin typeface="+mn-lt"/>
                        </a:rPr>
                        <a:t> </a:t>
                      </a:r>
                      <a:r>
                        <a:rPr lang="en-IN" sz="1000" b="1" dirty="0">
                          <a:latin typeface="+mn-lt"/>
                        </a:rPr>
                        <a:t>Contribution/</a:t>
                      </a:r>
                      <a:r>
                        <a:rPr lang="en-IN" sz="1000" b="1" baseline="0" dirty="0">
                          <a:latin typeface="+mn-lt"/>
                        </a:rPr>
                        <a:t> </a:t>
                      </a:r>
                      <a:r>
                        <a:rPr lang="en-IN" sz="1000" b="1" baseline="0" dirty="0" err="1">
                          <a:latin typeface="+mn-lt"/>
                        </a:rPr>
                        <a:t>Morgin</a:t>
                      </a:r>
                      <a:r>
                        <a:rPr lang="en-IN" sz="1000" b="1" baseline="0" dirty="0">
                          <a:latin typeface="+mn-lt"/>
                        </a:rPr>
                        <a:t> Money </a:t>
                      </a:r>
                      <a:r>
                        <a:rPr lang="en-IN" sz="1000" b="1" dirty="0">
                          <a:latin typeface="+mn-lt"/>
                        </a:rPr>
                        <a:t>( in lakhs)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a:r>
                        <a:rPr lang="en-IN" sz="1000" b="1" dirty="0">
                          <a:latin typeface="+mn-lt"/>
                        </a:rPr>
                        <a:t>64.44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884476979"/>
                  </a:ext>
                </a:extLst>
              </a:tr>
              <a:tr h="246605">
                <a:tc>
                  <a:txBody>
                    <a:bodyPr/>
                    <a:lstStyle/>
                    <a:p>
                      <a:pPr algn="l"/>
                      <a:r>
                        <a:rPr lang="en-IN" sz="1000" b="1" dirty="0">
                          <a:latin typeface="+mn-lt"/>
                        </a:rPr>
                        <a:t>Bank Term Loan ( in Lakhs)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a:r>
                        <a:rPr lang="en-IN" sz="1000" b="1" dirty="0">
                          <a:latin typeface="+mn-lt"/>
                        </a:rPr>
                        <a:t>150.00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239668460"/>
                  </a:ext>
                </a:extLst>
              </a:tr>
              <a:tr h="365375">
                <a:tc>
                  <a:txBody>
                    <a:bodyPr/>
                    <a:lstStyle/>
                    <a:p>
                      <a:pPr algn="l"/>
                      <a:r>
                        <a:rPr lang="en-IN" sz="1000" b="1" dirty="0">
                          <a:latin typeface="+mn-lt"/>
                        </a:rPr>
                        <a:t>Subsidy</a:t>
                      </a:r>
                      <a:r>
                        <a:rPr lang="en-IN" sz="1000" b="1" baseline="0" dirty="0">
                          <a:latin typeface="+mn-lt"/>
                        </a:rPr>
                        <a:t> under </a:t>
                      </a:r>
                      <a:r>
                        <a:rPr lang="en-IN" sz="1000" b="1" dirty="0">
                          <a:latin typeface="+mn-lt"/>
                        </a:rPr>
                        <a:t>RGM ( in Lakhs)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a:r>
                        <a:rPr lang="en-IN" sz="1000" b="1" dirty="0">
                          <a:latin typeface="+mn-lt"/>
                        </a:rPr>
                        <a:t>200.00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326973600"/>
                  </a:ext>
                </a:extLst>
              </a:tr>
              <a:tr h="217170">
                <a:tc>
                  <a:txBody>
                    <a:bodyPr/>
                    <a:lstStyle/>
                    <a:p>
                      <a:pPr algn="l"/>
                      <a:r>
                        <a:rPr lang="en-IN" sz="1000" b="1" dirty="0">
                          <a:latin typeface="+mn-lt"/>
                        </a:rPr>
                        <a:t>Total Cost in Lakhs)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a:r>
                        <a:rPr lang="en-IN" sz="1000" b="1" dirty="0">
                          <a:latin typeface="+mn-lt"/>
                        </a:rPr>
                        <a:t>414.44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4661939"/>
                  </a:ext>
                </a:extLst>
              </a:tr>
            </a:tbl>
          </a:graphicData>
        </a:graphic>
      </p:graphicFrame>
      <p:graphicFrame>
        <p:nvGraphicFramePr>
          <p:cNvPr id="8" name="Table 8">
            <a:extLst>
              <a:ext uri="{FF2B5EF4-FFF2-40B4-BE49-F238E27FC236}">
                <a16:creationId xmlns:a16="http://schemas.microsoft.com/office/drawing/2014/main" id="{CE0398A4-B930-4FC7-B709-C77D3A8E837D}"/>
              </a:ext>
            </a:extLst>
          </p:cNvPr>
          <p:cNvGraphicFramePr>
            <a:graphicFrameLocks noGrp="1"/>
          </p:cNvGraphicFramePr>
          <p:nvPr>
            <p:ph sz="half" idx="2"/>
          </p:nvPr>
        </p:nvGraphicFramePr>
        <p:xfrm>
          <a:off x="3728999" y="1971955"/>
          <a:ext cx="2836150" cy="3825597"/>
        </p:xfrm>
        <a:graphic>
          <a:graphicData uri="http://schemas.openxmlformats.org/drawingml/2006/table">
            <a:tbl>
              <a:tblPr firstRow="1" bandRow="1">
                <a:tableStyleId>{912C8C85-51F0-491E-9774-3900AFEF0FD7}</a:tableStyleId>
              </a:tblPr>
              <a:tblGrid>
                <a:gridCol w="1448657">
                  <a:extLst>
                    <a:ext uri="{9D8B030D-6E8A-4147-A177-3AD203B41FA5}">
                      <a16:colId xmlns:a16="http://schemas.microsoft.com/office/drawing/2014/main" val="1011128772"/>
                    </a:ext>
                  </a:extLst>
                </a:gridCol>
                <a:gridCol w="1387493">
                  <a:extLst>
                    <a:ext uri="{9D8B030D-6E8A-4147-A177-3AD203B41FA5}">
                      <a16:colId xmlns:a16="http://schemas.microsoft.com/office/drawing/2014/main" val="721870961"/>
                    </a:ext>
                  </a:extLst>
                </a:gridCol>
              </a:tblGrid>
              <a:tr h="332148">
                <a:tc>
                  <a:txBody>
                    <a:bodyPr/>
                    <a:lstStyle/>
                    <a:p>
                      <a:pPr marL="0" algn="l" defTabSz="914400" rtl="0" eaLnBrk="1" latinLnBrk="0" hangingPunct="1"/>
                      <a:r>
                        <a:rPr lang="en-IN" sz="1100" b="1" kern="1200" dirty="0">
                          <a:solidFill>
                            <a:schemeClr val="bg1"/>
                          </a:solidFill>
                          <a:latin typeface="+mn-lt"/>
                          <a:ea typeface="+mn-ea"/>
                          <a:cs typeface="+mn-cs"/>
                        </a:rPr>
                        <a:t>Attributes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IN" sz="1100" b="1" kern="1200" dirty="0">
                          <a:solidFill>
                            <a:schemeClr val="bg1"/>
                          </a:solidFill>
                          <a:latin typeface="+mn-lt"/>
                          <a:ea typeface="+mn-ea"/>
                          <a:cs typeface="+mn-cs"/>
                        </a:rPr>
                        <a:t>Information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5040782"/>
                  </a:ext>
                </a:extLst>
              </a:tr>
              <a:tr h="361430">
                <a:tc>
                  <a:txBody>
                    <a:bodyPr/>
                    <a:lstStyle/>
                    <a:p>
                      <a:r>
                        <a:rPr lang="en-IN" sz="1000" b="1" dirty="0"/>
                        <a:t>Bank Name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IN" sz="1000" b="1" dirty="0"/>
                        <a:t>Punjab</a:t>
                      </a:r>
                      <a:r>
                        <a:rPr lang="en-IN" sz="1000" b="1" baseline="0" dirty="0"/>
                        <a:t> National Bank</a:t>
                      </a:r>
                      <a:endParaRPr lang="en-IN" sz="10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66383089"/>
                  </a:ext>
                </a:extLst>
              </a:tr>
              <a:tr h="463005">
                <a:tc>
                  <a:txBody>
                    <a:bodyPr/>
                    <a:lstStyle/>
                    <a:p>
                      <a:r>
                        <a:rPr lang="en-IN" sz="1000" b="1" dirty="0"/>
                        <a:t>Loan Amount (in Lakhs)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IN" sz="1000" b="1" dirty="0"/>
                        <a:t>150.00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92273777"/>
                  </a:ext>
                </a:extLst>
              </a:tr>
              <a:tr h="398431">
                <a:tc>
                  <a:txBody>
                    <a:bodyPr/>
                    <a:lstStyle/>
                    <a:p>
                      <a:r>
                        <a:rPr lang="en-IN" sz="1000" b="1" dirty="0"/>
                        <a:t>Interest Rate (in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IN" sz="1000" b="1" dirty="0"/>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23380428"/>
                  </a:ext>
                </a:extLst>
              </a:tr>
              <a:tr h="381750">
                <a:tc>
                  <a:txBody>
                    <a:bodyPr/>
                    <a:lstStyle/>
                    <a:p>
                      <a:r>
                        <a:rPr lang="en-IN" sz="1000" b="1" dirty="0"/>
                        <a:t>Tenure (in Months)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IN" sz="1000" b="1" dirty="0"/>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64044439"/>
                  </a:ext>
                </a:extLst>
              </a:tr>
              <a:tr h="396207">
                <a:tc>
                  <a:txBody>
                    <a:bodyPr/>
                    <a:lstStyle/>
                    <a:p>
                      <a:r>
                        <a:rPr lang="en-IN" sz="1000" b="1" dirty="0"/>
                        <a:t>No. of EMI’s ( in Months)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IN" sz="1000" b="1" dirty="0"/>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93740531"/>
                  </a:ext>
                </a:extLst>
              </a:tr>
              <a:tr h="463005">
                <a:tc>
                  <a:txBody>
                    <a:bodyPr/>
                    <a:lstStyle/>
                    <a:p>
                      <a:r>
                        <a:rPr lang="en-IN" sz="1000" b="1" dirty="0"/>
                        <a:t>EMI’s Amount (in INR)</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IN" sz="1000" b="1" dirty="0"/>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08523587"/>
                  </a:ext>
                </a:extLst>
              </a:tr>
              <a:tr h="420021">
                <a:tc>
                  <a:txBody>
                    <a:bodyPr/>
                    <a:lstStyle/>
                    <a:p>
                      <a:r>
                        <a:rPr lang="en-IN" sz="1000" b="1" dirty="0"/>
                        <a:t>Moratorium Period ( in Months)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IN" sz="1000" b="1" dirty="0"/>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42328224"/>
                  </a:ext>
                </a:extLst>
              </a:tr>
              <a:tr h="609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b="1" dirty="0"/>
                        <a:t>IRR/</a:t>
                      </a:r>
                      <a:r>
                        <a:rPr lang="en-IN" sz="1000" b="1" baseline="0" dirty="0"/>
                        <a:t> </a:t>
                      </a:r>
                      <a:r>
                        <a:rPr lang="en-IN" sz="1000" b="1" baseline="0" dirty="0" err="1"/>
                        <a:t>RoI</a:t>
                      </a:r>
                      <a:endParaRPr lang="en-IN" sz="1000" b="1" dirty="0"/>
                    </a:p>
                    <a:p>
                      <a:endParaRPr lang="en-IN" sz="10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IN" sz="1000" b="1" dirty="0"/>
                        <a:t>13.06/62.73</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4400727"/>
                  </a:ext>
                </a:extLst>
              </a:tr>
            </a:tbl>
          </a:graphicData>
        </a:graphic>
      </p:graphicFrame>
      <p:graphicFrame>
        <p:nvGraphicFramePr>
          <p:cNvPr id="9" name="Table 7">
            <a:extLst>
              <a:ext uri="{FF2B5EF4-FFF2-40B4-BE49-F238E27FC236}">
                <a16:creationId xmlns:a16="http://schemas.microsoft.com/office/drawing/2014/main" id="{0B0C28BA-C8F3-4BE9-83CF-F80AC10F4DDE}"/>
              </a:ext>
            </a:extLst>
          </p:cNvPr>
          <p:cNvGraphicFramePr>
            <a:graphicFrameLocks/>
          </p:cNvGraphicFramePr>
          <p:nvPr/>
        </p:nvGraphicFramePr>
        <p:xfrm>
          <a:off x="6661547" y="1965069"/>
          <a:ext cx="2289572" cy="3685151"/>
        </p:xfrm>
        <a:graphic>
          <a:graphicData uri="http://schemas.openxmlformats.org/drawingml/2006/table">
            <a:tbl>
              <a:tblPr firstRow="1" bandRow="1">
                <a:tableStyleId>{912C8C85-51F0-491E-9774-3900AFEF0FD7}</a:tableStyleId>
              </a:tblPr>
              <a:tblGrid>
                <a:gridCol w="1117996">
                  <a:extLst>
                    <a:ext uri="{9D8B030D-6E8A-4147-A177-3AD203B41FA5}">
                      <a16:colId xmlns:a16="http://schemas.microsoft.com/office/drawing/2014/main" val="3582565472"/>
                    </a:ext>
                  </a:extLst>
                </a:gridCol>
                <a:gridCol w="1171576">
                  <a:extLst>
                    <a:ext uri="{9D8B030D-6E8A-4147-A177-3AD203B41FA5}">
                      <a16:colId xmlns:a16="http://schemas.microsoft.com/office/drawing/2014/main" val="1383914191"/>
                    </a:ext>
                  </a:extLst>
                </a:gridCol>
              </a:tblGrid>
              <a:tr h="324071">
                <a:tc>
                  <a:txBody>
                    <a:bodyPr/>
                    <a:lstStyle/>
                    <a:p>
                      <a:pPr algn="l"/>
                      <a:r>
                        <a:rPr lang="en-IN" sz="1100" b="1" dirty="0"/>
                        <a:t>Attributes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100" b="1" dirty="0"/>
                        <a:t>Amount in Lakhs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6004398"/>
                  </a:ext>
                </a:extLst>
              </a:tr>
              <a:tr h="460982">
                <a:tc>
                  <a:txBody>
                    <a:bodyPr/>
                    <a:lstStyle/>
                    <a:p>
                      <a:pPr algn="ctr"/>
                      <a:r>
                        <a:rPr lang="en-IN" sz="1000" b="1" dirty="0"/>
                        <a:t>Animal Purchase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IN" sz="1000" b="1" dirty="0"/>
                        <a:t>200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42949538"/>
                  </a:ext>
                </a:extLst>
              </a:tr>
              <a:tr h="266129">
                <a:tc>
                  <a:txBody>
                    <a:bodyPr/>
                    <a:lstStyle/>
                    <a:p>
                      <a:pPr algn="ctr"/>
                      <a:r>
                        <a:rPr lang="en-IN" sz="1000" b="1" dirty="0"/>
                        <a:t>Civil Works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IN" sz="1000" b="1" dirty="0"/>
                        <a:t>170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37740280"/>
                  </a:ext>
                </a:extLst>
              </a:tr>
              <a:tr h="434181">
                <a:tc>
                  <a:txBody>
                    <a:bodyPr/>
                    <a:lstStyle/>
                    <a:p>
                      <a:pPr algn="ctr"/>
                      <a:r>
                        <a:rPr lang="en-IN" sz="1000" b="1" dirty="0"/>
                        <a:t>Machinery &amp; Equipment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IN" sz="1000" b="1" dirty="0"/>
                        <a:t>35</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84527365"/>
                  </a:ext>
                </a:extLst>
              </a:tr>
              <a:tr h="346625">
                <a:tc>
                  <a:txBody>
                    <a:bodyPr/>
                    <a:lstStyle/>
                    <a:p>
                      <a:pPr algn="ctr"/>
                      <a:r>
                        <a:rPr lang="en-IN" sz="1000" b="1" dirty="0"/>
                        <a:t>Miscellaneous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IN" sz="1000" b="1" dirty="0"/>
                        <a:t>9.44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4"/>
                  </a:ext>
                </a:extLst>
              </a:tr>
              <a:tr h="422690">
                <a:tc>
                  <a:txBody>
                    <a:bodyPr/>
                    <a:lstStyle/>
                    <a:p>
                      <a:pPr algn="ctr"/>
                      <a:r>
                        <a:rPr lang="en-IN" sz="1000" b="1" dirty="0"/>
                        <a:t>Total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IN" sz="1000" b="1" dirty="0"/>
                        <a:t>414.44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34577984"/>
                  </a:ext>
                </a:extLst>
              </a:tr>
              <a:tr h="400050">
                <a:tc>
                  <a:txBody>
                    <a:bodyPr/>
                    <a:lstStyle/>
                    <a:p>
                      <a:pPr algn="ctr"/>
                      <a:r>
                        <a:rPr lang="en-IN" sz="1000" b="1" dirty="0"/>
                        <a:t>Gross income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r>
                        <a:rPr lang="en-US" sz="1000" b="1" kern="1200" dirty="0">
                          <a:solidFill>
                            <a:schemeClr val="tx1"/>
                          </a:solidFill>
                          <a:latin typeface="+mn-lt"/>
                          <a:ea typeface="+mn-ea"/>
                          <a:cs typeface="+mn-cs"/>
                        </a:rPr>
                        <a:t>3213.45</a:t>
                      </a:r>
                    </a:p>
                  </a:txBody>
                  <a:tcPr marL="5715" marR="5715" marT="57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9546469"/>
                  </a:ext>
                </a:extLst>
              </a:tr>
              <a:tr h="331470">
                <a:tc>
                  <a:txBody>
                    <a:bodyPr/>
                    <a:lstStyle/>
                    <a:p>
                      <a:pPr algn="ctr"/>
                      <a:r>
                        <a:rPr lang="en-IN" sz="1000" b="1" dirty="0"/>
                        <a:t>Total Expenditure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b"/>
                      <a:r>
                        <a:rPr lang="en-US" sz="1000" b="1" kern="1200" dirty="0">
                          <a:solidFill>
                            <a:schemeClr val="tx1"/>
                          </a:solidFill>
                          <a:latin typeface="+mn-lt"/>
                          <a:ea typeface="+mn-ea"/>
                          <a:cs typeface="+mn-cs"/>
                        </a:rPr>
                        <a:t>1974.69</a:t>
                      </a:r>
                    </a:p>
                  </a:txBody>
                  <a:tcPr marL="5715" marR="5715" marT="571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7"/>
                  </a:ext>
                </a:extLst>
              </a:tr>
              <a:tr h="698953">
                <a:tc>
                  <a:txBody>
                    <a:bodyPr/>
                    <a:lstStyle/>
                    <a:p>
                      <a:pPr algn="ctr"/>
                      <a:r>
                        <a:rPr lang="en-IN" sz="1000" b="1" dirty="0"/>
                        <a:t>Net Income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IN" sz="1000" b="1" dirty="0"/>
                        <a:t>1238.76</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D594871D-EA6E-418C-9EC7-FD321D960B7C}"/>
              </a:ext>
            </a:extLst>
          </p:cNvPr>
          <p:cNvSpPr txBox="1"/>
          <p:nvPr/>
        </p:nvSpPr>
        <p:spPr>
          <a:xfrm>
            <a:off x="192880" y="1568706"/>
            <a:ext cx="3439718" cy="300082"/>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IN" sz="1350" b="1" dirty="0"/>
              <a:t>Project Details-Physical &amp; Means of Finance </a:t>
            </a:r>
          </a:p>
        </p:txBody>
      </p:sp>
      <p:sp>
        <p:nvSpPr>
          <p:cNvPr id="11" name="TextBox 10">
            <a:extLst>
              <a:ext uri="{FF2B5EF4-FFF2-40B4-BE49-F238E27FC236}">
                <a16:creationId xmlns:a16="http://schemas.microsoft.com/office/drawing/2014/main" id="{69E3F73B-44D0-4BF8-A137-238D0B0B45BA}"/>
              </a:ext>
            </a:extLst>
          </p:cNvPr>
          <p:cNvSpPr txBox="1"/>
          <p:nvPr/>
        </p:nvSpPr>
        <p:spPr>
          <a:xfrm>
            <a:off x="3736182" y="1568706"/>
            <a:ext cx="2821782" cy="30008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IN" sz="1350" b="1" dirty="0"/>
              <a:t>Project Details-Financial</a:t>
            </a:r>
          </a:p>
        </p:txBody>
      </p:sp>
      <p:sp>
        <p:nvSpPr>
          <p:cNvPr id="12" name="TextBox 11">
            <a:extLst>
              <a:ext uri="{FF2B5EF4-FFF2-40B4-BE49-F238E27FC236}">
                <a16:creationId xmlns:a16="http://schemas.microsoft.com/office/drawing/2014/main" id="{73F315D6-0F76-4851-A2E8-84DA7080DDD7}"/>
              </a:ext>
            </a:extLst>
          </p:cNvPr>
          <p:cNvSpPr txBox="1"/>
          <p:nvPr/>
        </p:nvSpPr>
        <p:spPr>
          <a:xfrm>
            <a:off x="6661547" y="1568707"/>
            <a:ext cx="2289572" cy="276999"/>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IN" sz="1200" b="1" dirty="0"/>
              <a:t>Financial Details as per Proposal</a:t>
            </a:r>
          </a:p>
        </p:txBody>
      </p:sp>
    </p:spTree>
    <p:extLst>
      <p:ext uri="{BB962C8B-B14F-4D97-AF65-F5344CB8AC3E}">
        <p14:creationId xmlns:p14="http://schemas.microsoft.com/office/powerpoint/2010/main" val="805513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C8AA1-0666-5AD5-E19F-02256595E932}"/>
              </a:ext>
            </a:extLst>
          </p:cNvPr>
          <p:cNvSpPr>
            <a:spLocks noGrp="1"/>
          </p:cNvSpPr>
          <p:nvPr>
            <p:ph type="title"/>
          </p:nvPr>
        </p:nvSpPr>
        <p:spPr>
          <a:xfrm>
            <a:off x="323528" y="116632"/>
            <a:ext cx="8229600" cy="494928"/>
          </a:xfrm>
        </p:spPr>
        <p:txBody>
          <a:bodyPr>
            <a:normAutofit fontScale="90000"/>
          </a:bodyPr>
          <a:lstStyle/>
          <a:p>
            <a:r>
              <a:rPr lang="mr-IN" sz="3200" b="1" dirty="0">
                <a:solidFill>
                  <a:srgbClr val="92D050"/>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rPr>
              <a:t>राज्यातील मंजुर प्रकल्प</a:t>
            </a:r>
            <a:endParaRPr lang="en-US" sz="3200" b="1" dirty="0">
              <a:solidFill>
                <a:srgbClr val="92D050"/>
              </a:solidFill>
              <a:effectLst>
                <a:outerShdw blurRad="38100" dist="38100" dir="2700000" algn="tl">
                  <a:srgbClr val="000000">
                    <a:alpha val="43137"/>
                  </a:srgbClr>
                </a:outerShdw>
              </a:effectLst>
              <a:latin typeface="Sakal Marathi" panose="02000400000000000000" pitchFamily="2" charset="0"/>
              <a:cs typeface="Sakal Marathi" panose="02000400000000000000" pitchFamily="2" charset="0"/>
            </a:endParaRPr>
          </a:p>
        </p:txBody>
      </p:sp>
      <p:graphicFrame>
        <p:nvGraphicFramePr>
          <p:cNvPr id="3" name="Table 3">
            <a:extLst>
              <a:ext uri="{FF2B5EF4-FFF2-40B4-BE49-F238E27FC236}">
                <a16:creationId xmlns:a16="http://schemas.microsoft.com/office/drawing/2014/main" id="{45B22E2A-BF14-C8E4-0C55-C067C7148900}"/>
              </a:ext>
            </a:extLst>
          </p:cNvPr>
          <p:cNvGraphicFramePr>
            <a:graphicFrameLocks noGrp="1"/>
          </p:cNvGraphicFramePr>
          <p:nvPr>
            <p:extLst>
              <p:ext uri="{D42A27DB-BD31-4B8C-83A1-F6EECF244321}">
                <p14:modId xmlns:p14="http://schemas.microsoft.com/office/powerpoint/2010/main" val="232545455"/>
              </p:ext>
            </p:extLst>
          </p:nvPr>
        </p:nvGraphicFramePr>
        <p:xfrm>
          <a:off x="0" y="706328"/>
          <a:ext cx="9108510" cy="6035040"/>
        </p:xfrm>
        <a:graphic>
          <a:graphicData uri="http://schemas.openxmlformats.org/drawingml/2006/table">
            <a:tbl>
              <a:tblPr firstRow="1" bandRow="1">
                <a:tableStyleId>{5C22544A-7EE6-4342-B048-85BDC9FD1C3A}</a:tableStyleId>
              </a:tblPr>
              <a:tblGrid>
                <a:gridCol w="467544">
                  <a:extLst>
                    <a:ext uri="{9D8B030D-6E8A-4147-A177-3AD203B41FA5}">
                      <a16:colId xmlns:a16="http://schemas.microsoft.com/office/drawing/2014/main" val="9859604"/>
                    </a:ext>
                  </a:extLst>
                </a:gridCol>
                <a:gridCol w="1354158">
                  <a:extLst>
                    <a:ext uri="{9D8B030D-6E8A-4147-A177-3AD203B41FA5}">
                      <a16:colId xmlns:a16="http://schemas.microsoft.com/office/drawing/2014/main" val="2686388023"/>
                    </a:ext>
                  </a:extLst>
                </a:gridCol>
                <a:gridCol w="910851">
                  <a:extLst>
                    <a:ext uri="{9D8B030D-6E8A-4147-A177-3AD203B41FA5}">
                      <a16:colId xmlns:a16="http://schemas.microsoft.com/office/drawing/2014/main" val="4007970986"/>
                    </a:ext>
                  </a:extLst>
                </a:gridCol>
                <a:gridCol w="910851">
                  <a:extLst>
                    <a:ext uri="{9D8B030D-6E8A-4147-A177-3AD203B41FA5}">
                      <a16:colId xmlns:a16="http://schemas.microsoft.com/office/drawing/2014/main" val="537054955"/>
                    </a:ext>
                  </a:extLst>
                </a:gridCol>
                <a:gridCol w="910851">
                  <a:extLst>
                    <a:ext uri="{9D8B030D-6E8A-4147-A177-3AD203B41FA5}">
                      <a16:colId xmlns:a16="http://schemas.microsoft.com/office/drawing/2014/main" val="2593801666"/>
                    </a:ext>
                  </a:extLst>
                </a:gridCol>
                <a:gridCol w="910851">
                  <a:extLst>
                    <a:ext uri="{9D8B030D-6E8A-4147-A177-3AD203B41FA5}">
                      <a16:colId xmlns:a16="http://schemas.microsoft.com/office/drawing/2014/main" val="3963951823"/>
                    </a:ext>
                  </a:extLst>
                </a:gridCol>
                <a:gridCol w="511564">
                  <a:extLst>
                    <a:ext uri="{9D8B030D-6E8A-4147-A177-3AD203B41FA5}">
                      <a16:colId xmlns:a16="http://schemas.microsoft.com/office/drawing/2014/main" val="1323160930"/>
                    </a:ext>
                  </a:extLst>
                </a:gridCol>
                <a:gridCol w="755570">
                  <a:extLst>
                    <a:ext uri="{9D8B030D-6E8A-4147-A177-3AD203B41FA5}">
                      <a16:colId xmlns:a16="http://schemas.microsoft.com/office/drawing/2014/main" val="1616145185"/>
                    </a:ext>
                  </a:extLst>
                </a:gridCol>
                <a:gridCol w="684590">
                  <a:extLst>
                    <a:ext uri="{9D8B030D-6E8A-4147-A177-3AD203B41FA5}">
                      <a16:colId xmlns:a16="http://schemas.microsoft.com/office/drawing/2014/main" val="2239355169"/>
                    </a:ext>
                  </a:extLst>
                </a:gridCol>
                <a:gridCol w="1691680">
                  <a:extLst>
                    <a:ext uri="{9D8B030D-6E8A-4147-A177-3AD203B41FA5}">
                      <a16:colId xmlns:a16="http://schemas.microsoft.com/office/drawing/2014/main" val="4089233633"/>
                    </a:ext>
                  </a:extLst>
                </a:gridCol>
              </a:tblGrid>
              <a:tr h="411976">
                <a:tc>
                  <a:txBody>
                    <a:bodyPr/>
                    <a:lstStyle/>
                    <a:p>
                      <a:r>
                        <a:rPr lang="mr-IN" sz="1200" dirty="0">
                          <a:latin typeface="Sakal Marathi" panose="02000400000000000000" pitchFamily="2" charset="0"/>
                          <a:cs typeface="Sakal Marathi" panose="02000400000000000000" pitchFamily="2" charset="0"/>
                        </a:rPr>
                        <a:t>अ.क्र.</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नाव व पत्ता</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प्रकल्प किमत (लक्ष)</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स्व-हिस्सा (लक्ष)</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कर्ज रक्कम(लक्ष)</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बँकेचेनाव</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IRR</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सरासरी व्याज दर</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अनुदान (लक्ष)</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शेरा</a:t>
                      </a:r>
                      <a:endParaRPr lang="en-US" sz="12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3406327108"/>
                  </a:ext>
                </a:extLst>
              </a:tr>
              <a:tr h="281672">
                <a:tc>
                  <a:txBody>
                    <a:bodyPr/>
                    <a:lstStyle/>
                    <a:p>
                      <a:r>
                        <a:rPr lang="mr-IN" sz="1200" dirty="0">
                          <a:latin typeface="Sakal Marathi" panose="02000400000000000000" pitchFamily="2" charset="0"/>
                          <a:cs typeface="Sakal Marathi" panose="02000400000000000000" pitchFamily="2" charset="0"/>
                        </a:rPr>
                        <a:t>१</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योगेश्वरी पशु समूह गट (YLCA) सायगाव, बीड</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४८१.८१</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७२.३१</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२०९.५</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महाराष्ट्र ग्रामीण</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३२%</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१७%</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२००.००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a:t>
                      </a:r>
                      <a:endParaRPr lang="en-US" sz="12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3999953763"/>
                  </a:ext>
                </a:extLst>
              </a:tr>
              <a:tr h="283944">
                <a:tc>
                  <a:txBody>
                    <a:bodyPr/>
                    <a:lstStyle/>
                    <a:p>
                      <a:r>
                        <a:rPr lang="mr-IN" sz="1200" dirty="0">
                          <a:latin typeface="Sakal Marathi" panose="02000400000000000000" pitchFamily="2" charset="0"/>
                          <a:cs typeface="Sakal Marathi" panose="02000400000000000000" pitchFamily="2" charset="0"/>
                        </a:rPr>
                        <a:t>२</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श्री.प्रभाकर देसाई तेमवाडी माडखोल जिल्हा सिंधुदुर्ग</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४९४.००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९४.००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२००.००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सिंधुदुर्ग जिल्हा केंदीय सहकारी बँक</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२५%</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१८%</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२०.००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a:t>
                      </a:r>
                      <a:endParaRPr lang="en-US" sz="12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2266486102"/>
                  </a:ext>
                </a:extLst>
              </a:tr>
              <a:tr h="370840">
                <a:tc>
                  <a:txBody>
                    <a:bodyPr/>
                    <a:lstStyle/>
                    <a:p>
                      <a:r>
                        <a:rPr lang="mr-IN" sz="1200" dirty="0">
                          <a:latin typeface="Sakal Marathi" panose="02000400000000000000" pitchFamily="2" charset="0"/>
                          <a:cs typeface="Sakal Marathi" panose="02000400000000000000" pitchFamily="2" charset="0"/>
                        </a:rPr>
                        <a:t>३</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श्री.भास्कर बी. उन्चाडकर</a:t>
                      </a:r>
                    </a:p>
                    <a:p>
                      <a:r>
                        <a:rPr lang="mr-IN" sz="1200" dirty="0">
                          <a:latin typeface="Sakal Marathi" panose="02000400000000000000" pitchFamily="2" charset="0"/>
                          <a:cs typeface="Sakal Marathi" panose="02000400000000000000" pitchFamily="2" charset="0"/>
                        </a:rPr>
                        <a:t>उंचाड , जिल्हा नांदेड</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४०५.००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५.००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२००.००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स्टेट बँक ऑफ इंडिया</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५३%</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२४%</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२००.००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स्व:हिस्सा किमान १०% असणे आवश्यक असलेबब्त NDDB खात्री करावी.</a:t>
                      </a:r>
                      <a:endParaRPr lang="en-US" sz="12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476972534"/>
                  </a:ext>
                </a:extLst>
              </a:tr>
              <a:tr h="370840">
                <a:tc>
                  <a:txBody>
                    <a:bodyPr/>
                    <a:lstStyle/>
                    <a:p>
                      <a:r>
                        <a:rPr lang="mr-IN" sz="1200" dirty="0">
                          <a:latin typeface="Sakal Marathi" panose="02000400000000000000" pitchFamily="2" charset="0"/>
                          <a:cs typeface="Sakal Marathi" panose="02000400000000000000" pitchFamily="2" charset="0"/>
                        </a:rPr>
                        <a:t>४</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गजराबाई एन. वडगावकर </a:t>
                      </a:r>
                    </a:p>
                    <a:p>
                      <a:r>
                        <a:rPr lang="mr-IN" sz="1200" dirty="0">
                          <a:latin typeface="Sakal Marathi" panose="02000400000000000000" pitchFamily="2" charset="0"/>
                          <a:cs typeface="Sakal Marathi" panose="02000400000000000000" pitchFamily="2" charset="0"/>
                        </a:rPr>
                        <a:t>बाराहाल्ली जिल्हा नांदेड</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४०५.००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४५.००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१६०.००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लातूर उर्बन सहकारी बँक</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३३%</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१६%</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२००.००</a:t>
                      </a:r>
                      <a:endParaRPr lang="en-US" sz="1200" dirty="0">
                        <a:latin typeface="Sakal Marathi" panose="02000400000000000000" pitchFamily="2" charset="0"/>
                        <a:cs typeface="Sakal Marathi" panose="02000400000000000000" pitchFamily="2" charset="0"/>
                      </a:endParaRPr>
                    </a:p>
                  </a:txBody>
                  <a:tcPr/>
                </a:tc>
                <a:tc>
                  <a:txBody>
                    <a:bodyPr/>
                    <a:lstStyle/>
                    <a:p>
                      <a:endParaRPr lang="en-US" sz="12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1174430167"/>
                  </a:ext>
                </a:extLst>
              </a:tr>
              <a:tr h="370840">
                <a:tc>
                  <a:txBody>
                    <a:bodyPr/>
                    <a:lstStyle/>
                    <a:p>
                      <a:r>
                        <a:rPr lang="mr-IN" sz="1200" dirty="0">
                          <a:latin typeface="Sakal Marathi" panose="02000400000000000000" pitchFamily="2" charset="0"/>
                          <a:cs typeface="Sakal Marathi" panose="02000400000000000000" pitchFamily="2" charset="0"/>
                        </a:rPr>
                        <a:t>५</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श्री.रमेश निवृत्ती वागमकर वडगाव जिल्हा नांदेड</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४०५.००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४५.००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१६०.००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लातूर उर्बन सहकारी बँक</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३३%</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१६%</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२००.००</a:t>
                      </a:r>
                      <a:endParaRPr lang="en-US" sz="1200" dirty="0">
                        <a:latin typeface="Sakal Marathi" panose="02000400000000000000" pitchFamily="2" charset="0"/>
                        <a:cs typeface="Sakal Marathi" panose="02000400000000000000" pitchFamily="2" charset="0"/>
                      </a:endParaRPr>
                    </a:p>
                  </a:txBody>
                  <a:tcPr/>
                </a:tc>
                <a:tc>
                  <a:txBody>
                    <a:bodyPr/>
                    <a:lstStyle/>
                    <a:p>
                      <a:endParaRPr lang="en-US" sz="12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1548704283"/>
                  </a:ext>
                </a:extLst>
              </a:tr>
              <a:tr h="286136">
                <a:tc>
                  <a:txBody>
                    <a:bodyPr/>
                    <a:lstStyle/>
                    <a:p>
                      <a:r>
                        <a:rPr lang="mr-IN" sz="1200" dirty="0">
                          <a:latin typeface="Sakal Marathi" panose="02000400000000000000" pitchFamily="2" charset="0"/>
                          <a:cs typeface="Sakal Marathi" panose="02000400000000000000" pitchFamily="2" charset="0"/>
                        </a:rPr>
                        <a:t>६</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श्रीमती.शरयु आनंद गवळी भाळवणी जि. सोलापूर</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४१५.३</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३२.३</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१८३.००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बँक ऑफ बरोडा</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७१%</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३९%</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२००.००</a:t>
                      </a:r>
                      <a:endParaRPr lang="en-US" sz="1200" dirty="0">
                        <a:latin typeface="Sakal Marathi" panose="02000400000000000000" pitchFamily="2" charset="0"/>
                        <a:cs typeface="Sakal Marathi" panose="020004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r-IN" sz="1200" dirty="0">
                          <a:latin typeface="Sakal Marathi" panose="02000400000000000000" pitchFamily="2" charset="0"/>
                          <a:cs typeface="Sakal Marathi" panose="02000400000000000000" pitchFamily="2" charset="0"/>
                        </a:rPr>
                        <a:t>स्व:हिस्सा किमान १०% असणे आवश्यक असलेबब्त NDDB खात्री करावी.</a:t>
                      </a:r>
                      <a:endParaRPr lang="en-US" sz="12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2422914687"/>
                  </a:ext>
                </a:extLst>
              </a:tr>
              <a:tr h="370840">
                <a:tc>
                  <a:txBody>
                    <a:bodyPr/>
                    <a:lstStyle/>
                    <a:p>
                      <a:r>
                        <a:rPr lang="mr-IN" sz="1200" dirty="0">
                          <a:latin typeface="Sakal Marathi" panose="02000400000000000000" pitchFamily="2" charset="0"/>
                          <a:cs typeface="Sakal Marathi" panose="02000400000000000000" pitchFamily="2" charset="0"/>
                        </a:rPr>
                        <a:t>७</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श्रीमती. सुधा विजयसिंह सुरवसे वाढेगाव जि.सोलापूर</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४४७.१७</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६७.१७</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१८०.००</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सांगोला अर्बन सहकारी बँक मर्या.</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३१%</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२३%</a:t>
                      </a:r>
                      <a:endParaRPr lang="en-US" sz="1200" dirty="0">
                        <a:latin typeface="Sakal Marathi" panose="02000400000000000000" pitchFamily="2" charset="0"/>
                        <a:cs typeface="Sakal Marathi" panose="02000400000000000000" pitchFamily="2" charset="0"/>
                      </a:endParaRPr>
                    </a:p>
                  </a:txBody>
                  <a:tcPr/>
                </a:tc>
                <a:tc>
                  <a:txBody>
                    <a:bodyPr/>
                    <a:lstStyle/>
                    <a:p>
                      <a:r>
                        <a:rPr lang="mr-IN" sz="1200" dirty="0">
                          <a:latin typeface="Sakal Marathi" panose="02000400000000000000" pitchFamily="2" charset="0"/>
                          <a:cs typeface="Sakal Marathi" panose="02000400000000000000" pitchFamily="2" charset="0"/>
                        </a:rPr>
                        <a:t>२००.००</a:t>
                      </a:r>
                      <a:endParaRPr lang="en-US" sz="1200" dirty="0">
                        <a:latin typeface="Sakal Marathi" panose="02000400000000000000" pitchFamily="2" charset="0"/>
                        <a:cs typeface="Sakal Marathi" panose="020004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r-IN" sz="1200" dirty="0">
                          <a:latin typeface="Sakal Marathi" panose="02000400000000000000" pitchFamily="2" charset="0"/>
                          <a:cs typeface="Sakal Marathi" panose="02000400000000000000" pitchFamily="2" charset="0"/>
                        </a:rPr>
                        <a:t>-</a:t>
                      </a:r>
                      <a:endParaRPr lang="en-US" sz="1200" dirty="0">
                        <a:latin typeface="Sakal Marathi" panose="02000400000000000000" pitchFamily="2" charset="0"/>
                        <a:cs typeface="Sakal Marathi" panose="02000400000000000000" pitchFamily="2" charset="0"/>
                      </a:endParaRPr>
                    </a:p>
                  </a:txBody>
                  <a:tcPr/>
                </a:tc>
                <a:extLst>
                  <a:ext uri="{0D108BD9-81ED-4DB2-BD59-A6C34878D82A}">
                    <a16:rowId xmlns:a16="http://schemas.microsoft.com/office/drawing/2014/main" val="1549506560"/>
                  </a:ext>
                </a:extLst>
              </a:tr>
            </a:tbl>
          </a:graphicData>
        </a:graphic>
      </p:graphicFrame>
    </p:spTree>
    <p:extLst>
      <p:ext uri="{BB962C8B-B14F-4D97-AF65-F5344CB8AC3E}">
        <p14:creationId xmlns:p14="http://schemas.microsoft.com/office/powerpoint/2010/main" val="2687416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946" name="Group 1">
            <a:extLst>
              <a:ext uri="{FF2B5EF4-FFF2-40B4-BE49-F238E27FC236}">
                <a16:creationId xmlns:a16="http://schemas.microsoft.com/office/drawing/2014/main" id="{D39E16EF-66CE-644B-08A8-A42506204246}"/>
              </a:ext>
            </a:extLst>
          </p:cNvPr>
          <p:cNvGrpSpPr>
            <a:grpSpLocks/>
          </p:cNvGrpSpPr>
          <p:nvPr/>
        </p:nvGrpSpPr>
        <p:grpSpPr bwMode="auto">
          <a:xfrm>
            <a:off x="1857375" y="1888331"/>
            <a:ext cx="5429250" cy="3376613"/>
            <a:chOff x="622" y="860"/>
            <a:chExt cx="4560" cy="2836"/>
          </a:xfrm>
        </p:grpSpPr>
        <p:pic>
          <p:nvPicPr>
            <p:cNvPr id="82952" name="Picture 2">
              <a:extLst>
                <a:ext uri="{FF2B5EF4-FFF2-40B4-BE49-F238E27FC236}">
                  <a16:creationId xmlns:a16="http://schemas.microsoft.com/office/drawing/2014/main" id="{85FB7D79-8C37-2C32-C098-741F29EDAD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 y="860"/>
              <a:ext cx="4560" cy="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3" name="Text Box 3">
              <a:extLst>
                <a:ext uri="{FF2B5EF4-FFF2-40B4-BE49-F238E27FC236}">
                  <a16:creationId xmlns:a16="http://schemas.microsoft.com/office/drawing/2014/main" id="{E050C6CC-ED5A-20F0-3D78-BB796EED4BDE}"/>
                </a:ext>
              </a:extLst>
            </p:cNvPr>
            <p:cNvSpPr txBox="1">
              <a:spLocks noChangeArrowheads="1"/>
            </p:cNvSpPr>
            <p:nvPr/>
          </p:nvSpPr>
          <p:spPr bwMode="auto">
            <a:xfrm>
              <a:off x="622" y="860"/>
              <a:ext cx="4560" cy="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Clr>
                  <a:srgbClr val="000000"/>
                </a:buClr>
                <a:buFont typeface="Times New Roman" panose="02020603050405020304" pitchFamily="18" charset="0"/>
                <a:buNone/>
              </a:pPr>
              <a:endParaRPr lang="en-US" altLang="en-US" sz="1350"/>
            </a:p>
          </p:txBody>
        </p:sp>
      </p:grpSp>
      <p:pic>
        <p:nvPicPr>
          <p:cNvPr id="82947" name="Picture 5">
            <a:extLst>
              <a:ext uri="{FF2B5EF4-FFF2-40B4-BE49-F238E27FC236}">
                <a16:creationId xmlns:a16="http://schemas.microsoft.com/office/drawing/2014/main" id="{2F883841-57BE-2A0D-BED9-E4F7D7539E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623" y="978694"/>
            <a:ext cx="5568553"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948" name="Group 1">
            <a:extLst>
              <a:ext uri="{FF2B5EF4-FFF2-40B4-BE49-F238E27FC236}">
                <a16:creationId xmlns:a16="http://schemas.microsoft.com/office/drawing/2014/main" id="{6D115DEA-8C7E-4CFD-CFEE-87F6107453B5}"/>
              </a:ext>
            </a:extLst>
          </p:cNvPr>
          <p:cNvGrpSpPr>
            <a:grpSpLocks/>
          </p:cNvGrpSpPr>
          <p:nvPr/>
        </p:nvGrpSpPr>
        <p:grpSpPr bwMode="auto">
          <a:xfrm>
            <a:off x="1647824" y="1352550"/>
            <a:ext cx="5429250" cy="1090613"/>
            <a:chOff x="622" y="860"/>
            <a:chExt cx="4560" cy="2836"/>
          </a:xfrm>
        </p:grpSpPr>
        <p:pic>
          <p:nvPicPr>
            <p:cNvPr id="82950" name="Picture 2">
              <a:extLst>
                <a:ext uri="{FF2B5EF4-FFF2-40B4-BE49-F238E27FC236}">
                  <a16:creationId xmlns:a16="http://schemas.microsoft.com/office/drawing/2014/main" id="{EE0D0148-1317-2D28-6659-801E921656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 y="860"/>
              <a:ext cx="4560" cy="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1" name="Text Box 3">
              <a:extLst>
                <a:ext uri="{FF2B5EF4-FFF2-40B4-BE49-F238E27FC236}">
                  <a16:creationId xmlns:a16="http://schemas.microsoft.com/office/drawing/2014/main" id="{BE060F15-11CB-5F2D-32BD-CF2BFBBEAD82}"/>
                </a:ext>
              </a:extLst>
            </p:cNvPr>
            <p:cNvSpPr txBox="1">
              <a:spLocks noChangeArrowheads="1"/>
            </p:cNvSpPr>
            <p:nvPr/>
          </p:nvSpPr>
          <p:spPr bwMode="auto">
            <a:xfrm>
              <a:off x="622" y="860"/>
              <a:ext cx="4560" cy="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Clr>
                  <a:srgbClr val="000000"/>
                </a:buClr>
                <a:buFont typeface="Times New Roman" panose="02020603050405020304" pitchFamily="18" charset="0"/>
                <a:buNone/>
              </a:pPr>
              <a:endParaRPr lang="en-US" altLang="en-US" sz="1350" b="1"/>
            </a:p>
          </p:txBody>
        </p:sp>
      </p:grpSp>
      <p:pic>
        <p:nvPicPr>
          <p:cNvPr id="82949" name="Picture 1">
            <a:extLst>
              <a:ext uri="{FF2B5EF4-FFF2-40B4-BE49-F238E27FC236}">
                <a16:creationId xmlns:a16="http://schemas.microsoft.com/office/drawing/2014/main" id="{CCD96C4A-C44E-D9D6-4C7D-F2BFEE200A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3479" y="2614612"/>
            <a:ext cx="2884884"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779</TotalTime>
  <Words>3003</Words>
  <Application>Microsoft Office PowerPoint</Application>
  <PresentationFormat>On-screen Show (4:3)</PresentationFormat>
  <Paragraphs>513</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राष्ट्रीय गोकुळ मिशन  (RGM)</vt:lpstr>
      <vt:lpstr>PowerPoint Presentation</vt:lpstr>
      <vt:lpstr>Approved BMF applications in Maharashtra</vt:lpstr>
      <vt:lpstr>PowerPoint Presentation</vt:lpstr>
      <vt:lpstr>PowerPoint Presentation</vt:lpstr>
      <vt:lpstr>PowerPoint Presentation</vt:lpstr>
      <vt:lpstr>देशी जातींचा विकास आणि संवर्धन फार्मची स्थापना</vt:lpstr>
      <vt:lpstr>PowerPoint Presentation</vt:lpstr>
      <vt:lpstr>PowerPoint Presentation</vt:lpstr>
      <vt:lpstr>PowerPoint Presentation</vt:lpstr>
      <vt:lpstr>PowerPoint Presentation</vt:lpstr>
      <vt:lpstr>देशी जातींचा विकास आणि संवर्धन फार्मची स्थापना करणेसाठी आवश्यक बाबी </vt:lpstr>
      <vt:lpstr>PowerPoint Presentation</vt:lpstr>
      <vt:lpstr>PowerPoint Presentation</vt:lpstr>
      <vt:lpstr>PowerPoint Presentation</vt:lpstr>
      <vt:lpstr>PowerPoint Presentation</vt:lpstr>
      <vt:lpstr>देशी जातींचा विकास आणि संवर्धन फार्मची स्थापना या योजनेंतर्गत मंजुर प्रकल्प : श्रीमती वैशाली भानुसाहेब</vt:lpstr>
      <vt:lpstr>देशी जातींचा विकास आणि संवर्धन फार्मची स्थापना या योजनेंतर्गत मंजुर प्रकल्प :  ओयासिस शेतकरी उत्पादक कंपनी</vt:lpstr>
      <vt:lpstr>Proposal for Breed Multiplication Farm under RGM- Oasis  farmer Producer Company Limited</vt:lpstr>
      <vt:lpstr>राज्यातील मंजुर प्रकल्प</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Establishment and Functioning of MLDB</dc:title>
  <dc:creator>AH6</dc:creator>
  <cp:lastModifiedBy>drpatilgirish@gmail.com</cp:lastModifiedBy>
  <cp:revision>16</cp:revision>
  <cp:lastPrinted>2023-04-18T11:47:12Z</cp:lastPrinted>
  <dcterms:created xsi:type="dcterms:W3CDTF">2022-01-19T03:44:22Z</dcterms:created>
  <dcterms:modified xsi:type="dcterms:W3CDTF">2023-10-25T10:06:02Z</dcterms:modified>
</cp:coreProperties>
</file>