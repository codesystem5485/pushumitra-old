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Default Extension="sldx" ContentType="application/vnd.openxmlformats-officedocument.presentationml.slide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38" r:id="rId2"/>
    <p:sldId id="503" r:id="rId3"/>
    <p:sldId id="511" r:id="rId4"/>
    <p:sldId id="527" r:id="rId5"/>
    <p:sldId id="539" r:id="rId6"/>
    <p:sldId id="534" r:id="rId7"/>
    <p:sldId id="535" r:id="rId8"/>
    <p:sldId id="516" r:id="rId9"/>
    <p:sldId id="540" r:id="rId10"/>
    <p:sldId id="541" r:id="rId11"/>
    <p:sldId id="542" r:id="rId12"/>
    <p:sldId id="544" r:id="rId13"/>
    <p:sldId id="543" r:id="rId14"/>
    <p:sldId id="536" r:id="rId15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6699FF"/>
    <a:srgbClr val="FF9966"/>
    <a:srgbClr val="99FFCC"/>
    <a:srgbClr val="FFCCFF"/>
    <a:srgbClr val="FF99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85053" autoAdjust="0"/>
  </p:normalViewPr>
  <p:slideViewPr>
    <p:cSldViewPr>
      <p:cViewPr varScale="1">
        <p:scale>
          <a:sx n="78" d="100"/>
          <a:sy n="78" d="100"/>
        </p:scale>
        <p:origin x="-93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5040"/>
    </p:cViewPr>
  </p:sorterViewPr>
  <p:notesViewPr>
    <p:cSldViewPr>
      <p:cViewPr varScale="1">
        <p:scale>
          <a:sx n="60" d="100"/>
          <a:sy n="60" d="100"/>
        </p:scale>
        <p:origin x="-2760" y="-90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C6A4B-E589-4D4D-BE46-E122C9D81DAB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219"/>
            <a:ext cx="2946400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30219"/>
            <a:ext cx="2946400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69190-79D2-4FF5-82AD-5C59F928C3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02083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E3399-82AE-4AA8-B50E-2E50C6B90BFC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9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1163E-1444-450F-BFDB-40AA2EA641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1004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3991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471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9157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4845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3693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7038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1387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3603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746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2244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6658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4000"/>
            <a:lum/>
            <a:extLst>
              <a:ext uri="{BEBA8EAE-BF5A-486C-A8C5-ECC9F3942E4B}">
                <a14:imgProps xmlns:a14="http://schemas.microsoft.com/office/drawing/2010/main" xmlns="">
                  <a14:imgLayer r:embed="rId14"/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80E36-B8AB-4A77-A355-F566EA275A29}" type="datetimeFigureOut">
              <a:rPr lang="en-IN" smtClean="0"/>
              <a:pPr/>
              <a:t>28-04-2018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4C7F5-C6F3-4CC4-ABD0-1FCB0A715D3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6399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Office_PowerPoint_Slide1.sldx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798"/>
            <a:ext cx="8229600" cy="3586410"/>
          </a:xfrm>
        </p:spPr>
        <p:txBody>
          <a:bodyPr>
            <a:normAutofit/>
          </a:bodyPr>
          <a:lstStyle/>
          <a:p>
            <a:r>
              <a:rPr lang="en-IN" sz="5400" dirty="0" err="1" smtClean="0">
                <a:latin typeface="Aparajita" panose="020B0604020202020204" pitchFamily="34" charset="0"/>
                <a:cs typeface="Aparajita" panose="020B0604020202020204" pitchFamily="34" charset="0"/>
              </a:rPr>
              <a:t>संतुलीत</a:t>
            </a:r>
            <a:r>
              <a:rPr lang="en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 </a:t>
            </a:r>
            <a:r>
              <a:rPr lang="en-IN" sz="5400" dirty="0" err="1" smtClean="0">
                <a:latin typeface="Aparajita" panose="020B0604020202020204" pitchFamily="34" charset="0"/>
                <a:cs typeface="Aparajita" panose="020B0604020202020204" pitchFamily="34" charset="0"/>
              </a:rPr>
              <a:t>पशुखादय</a:t>
            </a:r>
            <a:r>
              <a:rPr lang="en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 व </a:t>
            </a:r>
            <a:r>
              <a:rPr lang="en-IN" sz="5400" dirty="0" err="1" smtClean="0">
                <a:latin typeface="Aparajita" panose="020B0604020202020204" pitchFamily="34" charset="0"/>
                <a:cs typeface="Aparajita" panose="020B0604020202020204" pitchFamily="34" charset="0"/>
              </a:rPr>
              <a:t>मिनरल</a:t>
            </a:r>
            <a:r>
              <a:rPr lang="en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> </a:t>
            </a:r>
            <a:r>
              <a:rPr lang="en-IN" sz="5400" dirty="0" err="1" smtClean="0">
                <a:latin typeface="Aparajita" panose="020B0604020202020204" pitchFamily="34" charset="0"/>
                <a:cs typeface="Aparajita" panose="020B0604020202020204" pitchFamily="34" charset="0"/>
              </a:rPr>
              <a:t>मिक्श्चर</a:t>
            </a:r>
            <a:r>
              <a:rPr lang="en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/>
            </a:r>
            <a:br>
              <a:rPr lang="en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</a:br>
            <a:r>
              <a:rPr lang="mr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  <a:t/>
            </a:r>
            <a:br>
              <a:rPr lang="mr-IN" sz="5400" dirty="0" smtClean="0">
                <a:latin typeface="Aparajita" panose="020B0604020202020204" pitchFamily="34" charset="0"/>
                <a:cs typeface="Aparajita" panose="020B0604020202020204" pitchFamily="34" charset="0"/>
              </a:rPr>
            </a:br>
            <a:endParaRPr lang="en-IN" sz="1400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222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mr-IN" dirty="0" smtClean="0">
                <a:latin typeface="Bookman Old Style" panose="02050604050505020204" pitchFamily="18" charset="0"/>
              </a:rPr>
              <a:t>विदर्भामध्ये दुध व्यवसाय पारंपारिकरित्याच केला जातो</a:t>
            </a:r>
            <a:r>
              <a:rPr lang="en-IN" dirty="0" smtClean="0">
                <a:latin typeface="Bookman Old Style" panose="02050604050505020204" pitchFamily="18" charset="0"/>
              </a:rPr>
              <a:t> </a:t>
            </a:r>
            <a:r>
              <a:rPr lang="mr-IN" dirty="0" smtClean="0">
                <a:latin typeface="Bookman Old Style" panose="02050604050505020204" pitchFamily="18" charset="0"/>
              </a:rPr>
              <a:t>आहे</a:t>
            </a:r>
            <a:r>
              <a:rPr lang="mr-IN" sz="2800" dirty="0" smtClean="0">
                <a:latin typeface="Bookman Old Style" panose="02050604050505020204" pitchFamily="18" charset="0"/>
              </a:rPr>
              <a:t>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pic>
        <p:nvPicPr>
          <p:cNvPr id="11" name="Picture 2" descr="D:\NDDB_Historical pics\Annual Reports Used Images\10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4477"/>
          <a:stretch/>
        </p:blipFill>
        <p:spPr bwMode="auto">
          <a:xfrm>
            <a:off x="778285" y="3212975"/>
            <a:ext cx="3485977" cy="288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06516" y="3261684"/>
            <a:ext cx="3506568" cy="2874110"/>
          </a:xfrm>
          <a:prstGeom prst="rect">
            <a:avLst/>
          </a:prstGeom>
        </p:spPr>
      </p:pic>
      <p:pic>
        <p:nvPicPr>
          <p:cNvPr id="13" name="Content Placeholder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06517" y="5157192"/>
            <a:ext cx="1406714" cy="9361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35553" y="2524834"/>
            <a:ext cx="99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800" dirty="0" smtClean="0"/>
              <a:t>चराई</a:t>
            </a:r>
            <a:r>
              <a:rPr lang="mr-IN" dirty="0" smtClean="0"/>
              <a:t> 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796136" y="2524834"/>
            <a:ext cx="277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800" dirty="0" smtClean="0"/>
              <a:t>ढेप खाऊ घालणे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12686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1"/>
          <p:cNvSpPr>
            <a:spLocks noGrp="1"/>
          </p:cNvSpPr>
          <p:nvPr>
            <p:ph type="sldNum" sz="quarter" idx="10"/>
          </p:nvPr>
        </p:nvSpPr>
        <p:spPr>
          <a:xfrm>
            <a:off x="6981825" y="614365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C1619E-5F86-4B50-BF85-A4D64B22309E}" type="slidenum">
              <a:rPr lang="en-US">
                <a:solidFill>
                  <a:schemeClr val="tx1"/>
                </a:solidFill>
              </a:rPr>
              <a:pPr eaLnBrk="1" hangingPunct="1"/>
              <a:t>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564481" y="917104"/>
            <a:ext cx="2509838" cy="1371600"/>
          </a:xfrm>
          <a:prstGeom prst="ellips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mr-IN" sz="2000" dirty="0">
                <a:solidFill>
                  <a:schemeClr val="tx1"/>
                </a:solidFill>
                <a:latin typeface="Adobe Caslon Pro" pitchFamily="18" charset="0"/>
              </a:rPr>
              <a:t>दुधाची गुणवत्ता कमी</a:t>
            </a:r>
            <a:r>
              <a:rPr lang="mr-IN" sz="1400" dirty="0">
                <a:solidFill>
                  <a:schemeClr val="tx1"/>
                </a:solidFill>
                <a:latin typeface="Adobe Caslon Pro" pitchFamily="18" charset="0"/>
              </a:rPr>
              <a:t> </a:t>
            </a:r>
            <a:endParaRPr lang="en-US" sz="1000" dirty="0">
              <a:solidFill>
                <a:schemeClr val="tx1"/>
              </a:solidFill>
              <a:latin typeface="Adobe Caslon Pro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52400" y="2576736"/>
            <a:ext cx="2558062" cy="164286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mr-IN" dirty="0">
                <a:latin typeface="Bookman Old Style" panose="02050604050505020204" pitchFamily="18" charset="0"/>
              </a:rPr>
              <a:t>माजावर वेळेवर न येणे, फळविल्यास गाभण न राहणे</a:t>
            </a:r>
            <a:endParaRPr lang="en-US" dirty="0">
              <a:solidFill>
                <a:schemeClr val="tx1"/>
              </a:solidFill>
              <a:latin typeface="Adobe Caslon Pro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711747" y="4806677"/>
            <a:ext cx="2458616" cy="1514475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mr-IN" dirty="0" smtClean="0">
                <a:latin typeface="Bookman Old Style" panose="02050604050505020204" pitchFamily="18" charset="0"/>
              </a:rPr>
              <a:t>कालवडींची वाढ लवकर न होणे  </a:t>
            </a:r>
            <a:endParaRPr lang="mr-IN" dirty="0">
              <a:latin typeface="Bookman Old Style" panose="02050604050505020204" pitchFamily="18" charset="0"/>
            </a:endParaRPr>
          </a:p>
          <a:p>
            <a:pPr algn="ctr">
              <a:defRPr/>
            </a:pPr>
            <a:endParaRPr lang="en-US" dirty="0">
              <a:solidFill>
                <a:schemeClr val="tx1"/>
              </a:solidFill>
              <a:latin typeface="Adobe Caslon Pro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981153" y="4808984"/>
            <a:ext cx="2543175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7001">
                <a:srgbClr val="E6E6E6"/>
              </a:gs>
              <a:gs pos="32001">
                <a:srgbClr val="7D8496"/>
              </a:gs>
              <a:gs pos="47000">
                <a:srgbClr val="E6E6E6"/>
              </a:gs>
              <a:gs pos="85001">
                <a:srgbClr val="7D8496"/>
              </a:gs>
              <a:gs pos="100000">
                <a:srgbClr val="E6E6E6"/>
              </a:gs>
            </a:gsLst>
            <a:lin ang="16200000" scaled="0"/>
          </a:gra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mr-IN" dirty="0" smtClean="0">
                <a:latin typeface="Adobe Caslon Pro" pitchFamily="18" charset="0"/>
              </a:rPr>
              <a:t>उत्पादन खर्च जास्त </a:t>
            </a:r>
            <a:endParaRPr lang="en-US" dirty="0">
              <a:latin typeface="Adobe Caslon Pro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60032" y="836712"/>
            <a:ext cx="2700337" cy="15240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mr-IN" sz="2000" dirty="0" smtClean="0">
                <a:latin typeface="Adobe Caslon Pro" pitchFamily="18" charset="0"/>
              </a:rPr>
              <a:t>दुध उत्पादन कमी </a:t>
            </a:r>
            <a:endParaRPr lang="en-US" sz="2000" dirty="0">
              <a:latin typeface="Adobe Caslon Pro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03963" y="2913708"/>
            <a:ext cx="2535237" cy="1319212"/>
          </a:xfrm>
          <a:prstGeom prst="ellipse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16200000" scaled="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mr-IN" dirty="0" smtClean="0">
                <a:latin typeface="Adobe Caslon Pro" pitchFamily="18" charset="0"/>
              </a:rPr>
              <a:t>दोन वेतातील अंतर जास्त  </a:t>
            </a:r>
            <a:endParaRPr lang="en-US" dirty="0">
              <a:latin typeface="Adobe Caslon Pro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690734" y="3993264"/>
            <a:ext cx="613884" cy="65648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5046686" y="3501115"/>
            <a:ext cx="965474" cy="3268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4690734" y="2260922"/>
            <a:ext cx="529338" cy="53419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3563889" y="2260923"/>
            <a:ext cx="510430" cy="61485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2843808" y="3385865"/>
            <a:ext cx="801093" cy="1934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3164078" y="3911625"/>
            <a:ext cx="597530" cy="73812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 flipH="1" flipV="1">
            <a:off x="4114800" y="2924200"/>
            <a:ext cx="368300" cy="269875"/>
          </a:xfrm>
          <a:prstGeom prst="ellipse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sz="1600"/>
          </a:p>
        </p:txBody>
      </p:sp>
      <p:sp>
        <p:nvSpPr>
          <p:cNvPr id="111" name="Oval 110"/>
          <p:cNvSpPr/>
          <p:nvPr/>
        </p:nvSpPr>
        <p:spPr>
          <a:xfrm>
            <a:off x="3709807" y="3152800"/>
            <a:ext cx="1216726" cy="761999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mr-IN" sz="1600" b="1" dirty="0" smtClean="0"/>
              <a:t>परिणाम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xmlns="" val="38191882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0.00255 C 0.03941 0.00255 0.07239 0.02894 0.07239 0.06343 C 0.07239 0.09815 0.03941 0.12871 1.11111E-6 0.12871 C -0.03872 0.12871 -0.06927 0.09815 -0.06927 0.06343 C -0.06927 0.02894 -0.03872 0.00255 1.11111E-6 0.00255 Z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21" grpId="0" animBg="1"/>
      <p:bldP spid="25" grpId="0" animBg="1"/>
      <p:bldP spid="110" grpId="0" animBg="1"/>
      <p:bldP spid="1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800" dirty="0">
              <a:latin typeface="Bookman Old Style" panose="020506040505050202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699792" y="692696"/>
            <a:ext cx="3888432" cy="7249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 err="1" smtClean="0"/>
              <a:t>संतुलीत</a:t>
            </a:r>
            <a:r>
              <a:rPr lang="en-IN" sz="3600" dirty="0" smtClean="0"/>
              <a:t> </a:t>
            </a:r>
            <a:r>
              <a:rPr lang="en-IN" sz="3600" dirty="0" err="1" smtClean="0"/>
              <a:t>पशुखादय</a:t>
            </a:r>
            <a:r>
              <a:rPr lang="mr-IN" sz="3600" dirty="0" smtClean="0"/>
              <a:t> </a:t>
            </a:r>
            <a:endParaRPr lang="en-IN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2275" y="1714489"/>
            <a:ext cx="4182415" cy="37256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38250" y="1785926"/>
            <a:ext cx="3694343" cy="362078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500034" y="5429264"/>
            <a:ext cx="7858180" cy="7249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 err="1" smtClean="0"/>
              <a:t>विवीध</a:t>
            </a:r>
            <a:r>
              <a:rPr lang="en-IN" sz="3600" dirty="0" smtClean="0"/>
              <a:t> </a:t>
            </a:r>
            <a:r>
              <a:rPr lang="en-IN" sz="3600" dirty="0" err="1" smtClean="0"/>
              <a:t>खादय</a:t>
            </a:r>
            <a:r>
              <a:rPr lang="en-IN" sz="3600" dirty="0" smtClean="0"/>
              <a:t> </a:t>
            </a:r>
            <a:r>
              <a:rPr lang="en-IN" sz="3600" dirty="0" err="1" smtClean="0"/>
              <a:t>घटकांचे</a:t>
            </a:r>
            <a:r>
              <a:rPr lang="en-IN" sz="3600" dirty="0" smtClean="0"/>
              <a:t> </a:t>
            </a:r>
            <a:r>
              <a:rPr lang="en-IN" sz="3600" dirty="0" err="1" smtClean="0"/>
              <a:t>शास्त्रशुध्द</a:t>
            </a:r>
            <a:r>
              <a:rPr lang="en-IN" sz="3600" dirty="0" smtClean="0"/>
              <a:t>  </a:t>
            </a:r>
            <a:r>
              <a:rPr lang="en-IN" sz="3600" dirty="0" err="1" smtClean="0"/>
              <a:t>मिश्रण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xmlns="" val="61578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p Arrow 5"/>
          <p:cNvSpPr/>
          <p:nvPr/>
        </p:nvSpPr>
        <p:spPr>
          <a:xfrm>
            <a:off x="4286250" y="2228851"/>
            <a:ext cx="342900" cy="502444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Up Arrow 6"/>
          <p:cNvSpPr/>
          <p:nvPr/>
        </p:nvSpPr>
        <p:spPr>
          <a:xfrm rot="3975566">
            <a:off x="5423297" y="2668191"/>
            <a:ext cx="342900" cy="585788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Up Arrow 7"/>
          <p:cNvSpPr/>
          <p:nvPr/>
        </p:nvSpPr>
        <p:spPr>
          <a:xfrm rot="10800000">
            <a:off x="4286251" y="4114800"/>
            <a:ext cx="379810" cy="486966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" name="Up Arrow 8"/>
          <p:cNvSpPr/>
          <p:nvPr/>
        </p:nvSpPr>
        <p:spPr>
          <a:xfrm rot="14734993">
            <a:off x="3399830" y="3793928"/>
            <a:ext cx="342900" cy="525065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0" name="Up Arrow 9"/>
          <p:cNvSpPr/>
          <p:nvPr/>
        </p:nvSpPr>
        <p:spPr>
          <a:xfrm rot="17696254">
            <a:off x="3302794" y="2733675"/>
            <a:ext cx="342900" cy="571500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1" name="Up Arrow 10"/>
          <p:cNvSpPr/>
          <p:nvPr/>
        </p:nvSpPr>
        <p:spPr>
          <a:xfrm rot="7219876">
            <a:off x="5217485" y="3798513"/>
            <a:ext cx="364390" cy="558147"/>
          </a:xfrm>
          <a:prstGeom prst="upArrow">
            <a:avLst>
              <a:gd name="adj1" fmla="val 50000"/>
              <a:gd name="adj2" fmla="val 51793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2" name="TextBox 29"/>
          <p:cNvSpPr txBox="1">
            <a:spLocks noChangeArrowheads="1"/>
          </p:cNvSpPr>
          <p:nvPr/>
        </p:nvSpPr>
        <p:spPr bwMode="auto">
          <a:xfrm>
            <a:off x="3943350" y="2914651"/>
            <a:ext cx="12001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hi-IN" sz="3300" b="1" dirty="0">
                <a:solidFill>
                  <a:srgbClr val="C0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पोषक</a:t>
            </a:r>
            <a:endParaRPr lang="en-US" sz="3300" b="1" dirty="0">
              <a:solidFill>
                <a:srgbClr val="C00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ctr" eaLnBrk="1" hangingPunct="1"/>
            <a:r>
              <a:rPr lang="hi-IN" sz="3300" b="1" dirty="0">
                <a:solidFill>
                  <a:srgbClr val="C0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तत्व</a:t>
            </a:r>
            <a:endParaRPr lang="en-US" sz="3300" b="1" dirty="0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491881" y="945688"/>
            <a:ext cx="1765732" cy="117691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sz="2400" dirty="0">
                <a:solidFill>
                  <a:schemeClr val="tx1"/>
                </a:solidFill>
              </a:rPr>
              <a:t>पाणी</a:t>
            </a:r>
            <a:r>
              <a:rPr lang="mr-IN" sz="2400" dirty="0"/>
              <a:t> </a:t>
            </a:r>
            <a:endParaRPr lang="en-IN" sz="2400" dirty="0"/>
          </a:p>
        </p:txBody>
      </p:sp>
      <p:sp>
        <p:nvSpPr>
          <p:cNvPr id="14" name="Oval 13"/>
          <p:cNvSpPr/>
          <p:nvPr/>
        </p:nvSpPr>
        <p:spPr>
          <a:xfrm>
            <a:off x="1101912" y="1997295"/>
            <a:ext cx="2040935" cy="1125027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sz="2400" dirty="0">
                <a:solidFill>
                  <a:schemeClr val="tx1"/>
                </a:solidFill>
              </a:rPr>
              <a:t>जीवनसत्वे 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01912" y="3789040"/>
            <a:ext cx="2136650" cy="1115637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sz="2400" dirty="0">
                <a:solidFill>
                  <a:schemeClr val="tx1"/>
                </a:solidFill>
              </a:rPr>
              <a:t>खनिजे </a:t>
            </a:r>
            <a:r>
              <a:rPr lang="mr-IN" sz="2400" dirty="0"/>
              <a:t> </a:t>
            </a:r>
            <a:endParaRPr lang="en-IN" sz="2400" dirty="0"/>
          </a:p>
        </p:txBody>
      </p:sp>
      <p:sp>
        <p:nvSpPr>
          <p:cNvPr id="16" name="Oval 15"/>
          <p:cNvSpPr/>
          <p:nvPr/>
        </p:nvSpPr>
        <p:spPr>
          <a:xfrm>
            <a:off x="5954804" y="1997295"/>
            <a:ext cx="1857556" cy="1125027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2400" dirty="0"/>
              <a:t>कार्बोदके </a:t>
            </a:r>
            <a:endParaRPr lang="en-IN" sz="2400" dirty="0"/>
          </a:p>
        </p:txBody>
      </p:sp>
      <p:sp>
        <p:nvSpPr>
          <p:cNvPr id="17" name="Oval 16"/>
          <p:cNvSpPr/>
          <p:nvPr/>
        </p:nvSpPr>
        <p:spPr>
          <a:xfrm>
            <a:off x="5840807" y="3933056"/>
            <a:ext cx="1899545" cy="112351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i-IN" sz="2400" dirty="0"/>
              <a:t>फॅट</a:t>
            </a:r>
            <a:r>
              <a:rPr lang="mr-IN" sz="2400" dirty="0"/>
              <a:t>  </a:t>
            </a:r>
            <a:r>
              <a:rPr lang="en-IN" sz="2400" dirty="0"/>
              <a:t> </a:t>
            </a:r>
          </a:p>
        </p:txBody>
      </p:sp>
      <p:sp>
        <p:nvSpPr>
          <p:cNvPr id="18" name="Oval 17"/>
          <p:cNvSpPr/>
          <p:nvPr/>
        </p:nvSpPr>
        <p:spPr>
          <a:xfrm>
            <a:off x="3491881" y="4674228"/>
            <a:ext cx="1765732" cy="1017641"/>
          </a:xfrm>
          <a:prstGeom prst="ellipse">
            <a:avLst/>
          </a:prstGeom>
          <a:gradFill flip="none" rotWithShape="1">
            <a:gsLst>
              <a:gs pos="0">
                <a:srgbClr val="7C5479">
                  <a:tint val="66000"/>
                  <a:satMod val="160000"/>
                </a:srgbClr>
              </a:gs>
              <a:gs pos="50000">
                <a:srgbClr val="7C5479">
                  <a:tint val="44500"/>
                  <a:satMod val="160000"/>
                </a:srgbClr>
              </a:gs>
              <a:gs pos="100000">
                <a:srgbClr val="7C5479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sz="2400" dirty="0">
                <a:solidFill>
                  <a:schemeClr val="tx1"/>
                </a:solidFill>
              </a:rPr>
              <a:t>प्रथिने</a:t>
            </a:r>
            <a:r>
              <a:rPr lang="mr-IN" sz="2400" dirty="0"/>
              <a:t> </a:t>
            </a:r>
            <a:r>
              <a:rPr lang="en-IN" sz="2400" dirty="0"/>
              <a:t> 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42844" y="142852"/>
            <a:ext cx="4857784" cy="7249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 err="1" smtClean="0"/>
              <a:t>संतुलीत</a:t>
            </a:r>
            <a:r>
              <a:rPr lang="en-IN" sz="3600" dirty="0" smtClean="0"/>
              <a:t> </a:t>
            </a:r>
            <a:r>
              <a:rPr lang="en-IN" sz="3600" dirty="0" err="1" smtClean="0"/>
              <a:t>पशुखादय</a:t>
            </a:r>
            <a:r>
              <a:rPr lang="en-IN" sz="3600" dirty="0" smtClean="0"/>
              <a:t> </a:t>
            </a:r>
            <a:r>
              <a:rPr lang="en-IN" sz="3600" dirty="0" err="1" smtClean="0"/>
              <a:t>देण्याचे</a:t>
            </a:r>
            <a:r>
              <a:rPr lang="en-IN" sz="3600" dirty="0" smtClean="0"/>
              <a:t> </a:t>
            </a:r>
            <a:r>
              <a:rPr lang="en-IN" sz="3600" dirty="0" err="1" smtClean="0"/>
              <a:t>फायदे</a:t>
            </a:r>
            <a:r>
              <a:rPr lang="mr-IN" sz="3600" dirty="0" smtClean="0"/>
              <a:t>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xmlns="" val="251158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1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1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1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1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1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" dur="1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1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1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1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142844" y="714356"/>
          <a:ext cx="8786874" cy="375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7388"/>
                <a:gridCol w="1714512"/>
                <a:gridCol w="1785950"/>
                <a:gridCol w="1681695"/>
                <a:gridCol w="1747329"/>
              </a:tblGrid>
              <a:tr h="988057">
                <a:tc>
                  <a:txBody>
                    <a:bodyPr/>
                    <a:lstStyle/>
                    <a:p>
                      <a:pPr algn="ctr"/>
                      <a:r>
                        <a:rPr lang="en-IN" sz="2100" dirty="0" err="1" smtClean="0"/>
                        <a:t>पशुखादय</a:t>
                      </a:r>
                      <a:r>
                        <a:rPr lang="en-IN" sz="2100" baseline="0" dirty="0" smtClean="0"/>
                        <a:t> </a:t>
                      </a:r>
                      <a:r>
                        <a:rPr lang="en-IN" sz="2100" baseline="0" dirty="0" err="1" smtClean="0"/>
                        <a:t>कीती</a:t>
                      </a:r>
                      <a:r>
                        <a:rPr lang="en-IN" sz="2100" baseline="0" dirty="0" smtClean="0"/>
                        <a:t> </a:t>
                      </a:r>
                      <a:r>
                        <a:rPr lang="en-IN" sz="2100" baseline="0" dirty="0" err="1" smtClean="0"/>
                        <a:t>दयावे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गाय   </a:t>
                      </a:r>
                      <a:endParaRPr lang="en-IN" sz="2100" dirty="0" smtClean="0"/>
                    </a:p>
                    <a:p>
                      <a:pPr algn="ctr"/>
                      <a:r>
                        <a:rPr lang="mr-IN" sz="1400" dirty="0" smtClean="0"/>
                        <a:t>(</a:t>
                      </a:r>
                      <a:r>
                        <a:rPr lang="en-IN" sz="1400" dirty="0" smtClean="0"/>
                        <a:t>३०० </a:t>
                      </a:r>
                      <a:r>
                        <a:rPr lang="en-IN" sz="1400" dirty="0" err="1" smtClean="0"/>
                        <a:t>ते</a:t>
                      </a:r>
                      <a:r>
                        <a:rPr lang="en-IN" sz="1400" dirty="0" smtClean="0"/>
                        <a:t> </a:t>
                      </a:r>
                      <a:r>
                        <a:rPr lang="mr-IN" sz="1400" dirty="0" smtClean="0"/>
                        <a:t>४०० </a:t>
                      </a:r>
                      <a:r>
                        <a:rPr lang="mr-IN" sz="1400" baseline="0" dirty="0" smtClean="0"/>
                        <a:t>कि.ग्रा.</a:t>
                      </a:r>
                      <a:r>
                        <a:rPr lang="mr-IN" sz="1400" dirty="0" smtClean="0"/>
                        <a:t>)</a:t>
                      </a:r>
                      <a:endParaRPr lang="en-IN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गाय   </a:t>
                      </a:r>
                      <a:endParaRPr lang="en-IN" sz="2100" dirty="0" smtClean="0"/>
                    </a:p>
                    <a:p>
                      <a:pPr algn="ctr"/>
                      <a:r>
                        <a:rPr lang="mr-IN" sz="1400" dirty="0" smtClean="0"/>
                        <a:t>(</a:t>
                      </a:r>
                      <a:r>
                        <a:rPr lang="en-IN" sz="1400" dirty="0" smtClean="0"/>
                        <a:t>४०० </a:t>
                      </a:r>
                      <a:r>
                        <a:rPr lang="en-IN" sz="1400" dirty="0" err="1" smtClean="0"/>
                        <a:t>ते५</a:t>
                      </a:r>
                      <a:r>
                        <a:rPr lang="mr-IN" sz="1400" dirty="0" smtClean="0"/>
                        <a:t>०० </a:t>
                      </a:r>
                      <a:r>
                        <a:rPr lang="mr-IN" sz="1400" baseline="0" dirty="0" smtClean="0"/>
                        <a:t>कि.ग्रा.</a:t>
                      </a:r>
                      <a:r>
                        <a:rPr lang="mr-IN" sz="1400" dirty="0" smtClean="0"/>
                        <a:t>)</a:t>
                      </a:r>
                      <a:endParaRPr lang="en-IN" sz="1400" dirty="0" smtClean="0"/>
                    </a:p>
                    <a:p>
                      <a:pPr algn="ctr"/>
                      <a:endParaRPr lang="en-IN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म्हैस </a:t>
                      </a:r>
                      <a:endParaRPr lang="en-IN" sz="2100" dirty="0" smtClean="0"/>
                    </a:p>
                    <a:p>
                      <a:pPr algn="ctr"/>
                      <a:r>
                        <a:rPr lang="mr-IN" sz="1400" dirty="0" smtClean="0"/>
                        <a:t>(</a:t>
                      </a:r>
                      <a:r>
                        <a:rPr lang="en-IN" sz="1400" dirty="0" smtClean="0"/>
                        <a:t>३०० </a:t>
                      </a:r>
                      <a:r>
                        <a:rPr lang="en-IN" sz="1400" dirty="0" err="1" smtClean="0"/>
                        <a:t>ते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४</a:t>
                      </a:r>
                      <a:r>
                        <a:rPr lang="mr-IN" sz="1400" dirty="0" smtClean="0"/>
                        <a:t>०० </a:t>
                      </a:r>
                      <a:r>
                        <a:rPr lang="mr-IN" sz="1400" baseline="0" dirty="0" smtClean="0"/>
                        <a:t>कि.ग्रा.</a:t>
                      </a:r>
                      <a:r>
                        <a:rPr lang="mr-IN" sz="1400" dirty="0" smtClean="0"/>
                        <a:t>)</a:t>
                      </a:r>
                      <a:endParaRPr lang="en-IN" sz="1400" dirty="0" smtClean="0"/>
                    </a:p>
                    <a:p>
                      <a:pPr algn="ctr"/>
                      <a:endParaRPr lang="en-IN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म्हैस </a:t>
                      </a:r>
                      <a:endParaRPr lang="en-IN" sz="2100" dirty="0" smtClean="0"/>
                    </a:p>
                    <a:p>
                      <a:pPr algn="ctr"/>
                      <a:r>
                        <a:rPr lang="mr-IN" sz="1400" dirty="0" smtClean="0"/>
                        <a:t>(</a:t>
                      </a:r>
                      <a:r>
                        <a:rPr lang="en-IN" sz="1400" dirty="0" smtClean="0"/>
                        <a:t>४</a:t>
                      </a:r>
                      <a:r>
                        <a:rPr lang="mr-IN" sz="1400" dirty="0" smtClean="0"/>
                        <a:t>००</a:t>
                      </a:r>
                      <a:r>
                        <a:rPr lang="en-IN" sz="1400" dirty="0" smtClean="0"/>
                        <a:t> </a:t>
                      </a:r>
                      <a:r>
                        <a:rPr lang="en-IN" sz="1400" dirty="0" err="1" smtClean="0"/>
                        <a:t>ते</a:t>
                      </a:r>
                      <a:r>
                        <a:rPr lang="en-IN" sz="1400" dirty="0" smtClean="0"/>
                        <a:t> ६००</a:t>
                      </a:r>
                      <a:r>
                        <a:rPr lang="mr-IN" sz="1400" dirty="0" smtClean="0"/>
                        <a:t> </a:t>
                      </a:r>
                      <a:r>
                        <a:rPr lang="mr-IN" sz="1400" baseline="0" dirty="0" smtClean="0"/>
                        <a:t>कि.ग्रा.</a:t>
                      </a:r>
                      <a:r>
                        <a:rPr lang="mr-IN" sz="1400" dirty="0" smtClean="0"/>
                        <a:t>)</a:t>
                      </a:r>
                      <a:endParaRPr lang="en-IN" sz="1400" dirty="0"/>
                    </a:p>
                  </a:txBody>
                  <a:tcPr marL="68580" marR="68580" marT="34290" marB="34290" anchor="ctr"/>
                </a:tc>
              </a:tr>
              <a:tr h="693020"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शरीरासाठी 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100" baseline="0" dirty="0" smtClean="0"/>
                        <a:t>२.० </a:t>
                      </a:r>
                      <a:r>
                        <a:rPr lang="mr-IN" sz="2100" baseline="0" dirty="0" smtClean="0"/>
                        <a:t>कि.ग्रा. 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aseline="0" dirty="0" smtClean="0"/>
                        <a:t>२.५ </a:t>
                      </a:r>
                      <a:r>
                        <a:rPr lang="en-IN" sz="2100" baseline="0" dirty="0" err="1" smtClean="0"/>
                        <a:t>ते</a:t>
                      </a:r>
                      <a:r>
                        <a:rPr lang="en-IN" sz="2100" baseline="0" dirty="0" smtClean="0"/>
                        <a:t> ३.० </a:t>
                      </a:r>
                      <a:r>
                        <a:rPr lang="mr-IN" sz="2100" baseline="0" dirty="0" smtClean="0"/>
                        <a:t>कि.ग्रा. </a:t>
                      </a:r>
                      <a:endParaRPr lang="en-IN" sz="2100" dirty="0" smtClean="0"/>
                    </a:p>
                    <a:p>
                      <a:pPr algn="ctr"/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aseline="0" dirty="0" smtClean="0"/>
                        <a:t>२.० </a:t>
                      </a:r>
                      <a:r>
                        <a:rPr lang="mr-IN" sz="2100" baseline="0" dirty="0" smtClean="0"/>
                        <a:t>कि.ग्रा. </a:t>
                      </a:r>
                      <a:endParaRPr lang="en-IN" sz="2100" dirty="0" smtClean="0"/>
                    </a:p>
                    <a:p>
                      <a:pPr algn="ctr"/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baseline="0" dirty="0" smtClean="0"/>
                        <a:t>२.५ </a:t>
                      </a:r>
                      <a:r>
                        <a:rPr lang="en-IN" sz="2100" baseline="0" dirty="0" err="1" smtClean="0"/>
                        <a:t>ते</a:t>
                      </a:r>
                      <a:r>
                        <a:rPr lang="en-IN" sz="2100" baseline="0" dirty="0" smtClean="0"/>
                        <a:t> ३.० </a:t>
                      </a:r>
                      <a:r>
                        <a:rPr lang="mr-IN" sz="2100" baseline="0" dirty="0" smtClean="0"/>
                        <a:t>कि.ग्रा. </a:t>
                      </a:r>
                      <a:endParaRPr lang="en-IN" sz="2100" dirty="0" smtClean="0"/>
                    </a:p>
                  </a:txBody>
                  <a:tcPr marL="68580" marR="68580" marT="34290" marB="34290" anchor="ctr"/>
                </a:tc>
              </a:tr>
              <a:tr h="638879"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दुधासाठी (प्रती लिटर) 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४०० ग्राम  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100" dirty="0" smtClean="0"/>
                        <a:t>४०० ग्राम  </a:t>
                      </a:r>
                      <a:endParaRPr lang="en-IN" sz="2100" dirty="0" smtClean="0"/>
                    </a:p>
                    <a:p>
                      <a:pPr algn="ctr"/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100" dirty="0" smtClean="0"/>
                        <a:t>५०० ग्राम</a:t>
                      </a:r>
                      <a:endParaRPr lang="en-IN" sz="2100" dirty="0" smtClean="0"/>
                    </a:p>
                    <a:p>
                      <a:pPr algn="ctr"/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५०० ग्राम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</a:tr>
              <a:tr h="952902"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गाभण असताना (शेवटच्या २ महिन्यात)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२.० </a:t>
                      </a:r>
                      <a:r>
                        <a:rPr lang="mr-IN" sz="2100" baseline="0" dirty="0" smtClean="0"/>
                        <a:t>कि.ग्रा.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dirty="0" smtClean="0"/>
                        <a:t>३</a:t>
                      </a:r>
                      <a:r>
                        <a:rPr lang="mr-IN" sz="2100" dirty="0" smtClean="0"/>
                        <a:t>.० </a:t>
                      </a:r>
                      <a:r>
                        <a:rPr lang="mr-IN" sz="2100" baseline="0" dirty="0" smtClean="0"/>
                        <a:t>कि.ग्रा.</a:t>
                      </a:r>
                      <a:endParaRPr lang="en-IN" sz="2100" dirty="0" smtClean="0"/>
                    </a:p>
                    <a:p>
                      <a:pPr algn="ctr"/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100" dirty="0" smtClean="0"/>
                        <a:t>२.० </a:t>
                      </a:r>
                      <a:r>
                        <a:rPr lang="mr-IN" sz="2100" baseline="0" dirty="0" smtClean="0"/>
                        <a:t>कि.ग्रा.</a:t>
                      </a:r>
                      <a:endParaRPr lang="en-IN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100" dirty="0" smtClean="0"/>
                        <a:t>३</a:t>
                      </a:r>
                      <a:r>
                        <a:rPr lang="mr-IN" sz="2100" dirty="0" smtClean="0"/>
                        <a:t>.० </a:t>
                      </a:r>
                      <a:r>
                        <a:rPr lang="mr-IN" sz="2100" baseline="0" dirty="0" smtClean="0"/>
                        <a:t>कि.ग्रा.</a:t>
                      </a:r>
                      <a:endParaRPr lang="en-IN" sz="2100" dirty="0" smtClean="0"/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0421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83768" y="260648"/>
            <a:ext cx="4320480" cy="6936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r-IN" sz="3200" dirty="0" smtClean="0"/>
              <a:t>खनिज मिश्रण </a:t>
            </a:r>
            <a:endParaRPr lang="en-IN" sz="3200" dirty="0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27260306"/>
              </p:ext>
            </p:extLst>
          </p:nvPr>
        </p:nvGraphicFramePr>
        <p:xfrm>
          <a:off x="32412" y="1077911"/>
          <a:ext cx="2977487" cy="2749429"/>
        </p:xfrm>
        <a:graphic>
          <a:graphicData uri="http://schemas.openxmlformats.org/presentationml/2006/ole">
            <p:oleObj spid="_x0000_s1154" name="Bitmap Image" r:id="rId3" imgW="4180952" imgH="2514286" progId="PBrush">
              <p:embed/>
            </p:oleObj>
          </a:graphicData>
        </a:graphic>
      </p:graphicFrame>
      <p:pic>
        <p:nvPicPr>
          <p:cNvPr id="8" name="Picture 11" descr="Picture 09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137065"/>
            <a:ext cx="3244188" cy="269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60439103"/>
              </p:ext>
            </p:extLst>
          </p:nvPr>
        </p:nvGraphicFramePr>
        <p:xfrm>
          <a:off x="1447800" y="3895307"/>
          <a:ext cx="2952750" cy="2876794"/>
        </p:xfrm>
        <a:graphic>
          <a:graphicData uri="http://schemas.openxmlformats.org/presentationml/2006/ole">
            <p:oleObj spid="_x0000_s1155" name="Bitmap Image" r:id="rId5" imgW="4019400" imgH="3990960" progId="PBrush">
              <p:embed/>
            </p:oleObj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42806651"/>
              </p:ext>
            </p:extLst>
          </p:nvPr>
        </p:nvGraphicFramePr>
        <p:xfrm>
          <a:off x="3048000" y="1077912"/>
          <a:ext cx="2781300" cy="2749430"/>
        </p:xfrm>
        <a:graphic>
          <a:graphicData uri="http://schemas.openxmlformats.org/presentationml/2006/ole">
            <p:oleObj spid="_x0000_s1156" name="Slide" r:id="rId6" imgW="4518800" imgH="3387846" progId="PowerPoint.Slide.12">
              <p:embed/>
            </p:oleObj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36216158"/>
              </p:ext>
            </p:extLst>
          </p:nvPr>
        </p:nvGraphicFramePr>
        <p:xfrm>
          <a:off x="4428983" y="3895307"/>
          <a:ext cx="3057443" cy="2876794"/>
        </p:xfrm>
        <a:graphic>
          <a:graphicData uri="http://schemas.openxmlformats.org/presentationml/2006/ole">
            <p:oleObj spid="_x0000_s1157" name="Bitmap Image" r:id="rId7" imgW="6552381" imgH="4009524" progId="PBrush">
              <p:embed/>
            </p:oleObj>
          </a:graphicData>
        </a:graphic>
      </p:graphicFrame>
      <p:sp>
        <p:nvSpPr>
          <p:cNvPr id="12" name="Oval 11"/>
          <p:cNvSpPr/>
          <p:nvPr/>
        </p:nvSpPr>
        <p:spPr>
          <a:xfrm>
            <a:off x="0" y="5572140"/>
            <a:ext cx="2151689" cy="117691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tx1"/>
                </a:solidFill>
              </a:rPr>
              <a:t>न </a:t>
            </a:r>
            <a:r>
              <a:rPr lang="en-IN" sz="2400" dirty="0" err="1" smtClean="0">
                <a:solidFill>
                  <a:schemeClr val="tx1"/>
                </a:solidFill>
              </a:rPr>
              <a:t>वापरण्याचे</a:t>
            </a:r>
            <a:r>
              <a:rPr lang="en-IN" sz="2400" dirty="0" smtClean="0">
                <a:solidFill>
                  <a:schemeClr val="tx1"/>
                </a:solidFill>
              </a:rPr>
              <a:t> </a:t>
            </a:r>
            <a:r>
              <a:rPr lang="en-IN" sz="2400" dirty="0" err="1" smtClean="0">
                <a:solidFill>
                  <a:schemeClr val="tx1"/>
                </a:solidFill>
              </a:rPr>
              <a:t>परीणाम</a:t>
            </a:r>
            <a:r>
              <a:rPr lang="mr-IN" sz="2400" dirty="0" smtClean="0"/>
              <a:t> </a:t>
            </a:r>
            <a:endParaRPr lang="en-IN" sz="2400" dirty="0"/>
          </a:p>
        </p:txBody>
      </p:sp>
      <p:sp>
        <p:nvSpPr>
          <p:cNvPr id="13" name="Up Arrow 12"/>
          <p:cNvSpPr/>
          <p:nvPr/>
        </p:nvSpPr>
        <p:spPr>
          <a:xfrm rot="2542530">
            <a:off x="862148" y="5062270"/>
            <a:ext cx="342900" cy="571500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1854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50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150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150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50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r-IN" sz="2800" dirty="0" smtClean="0"/>
              <a:t>खनिज मिश्रण</a:t>
            </a:r>
            <a:r>
              <a:rPr lang="en-IN" sz="2800" dirty="0" err="1" smtClean="0"/>
              <a:t>ाचे</a:t>
            </a:r>
            <a:r>
              <a:rPr lang="en-IN" sz="2800" dirty="0" smtClean="0"/>
              <a:t> </a:t>
            </a:r>
            <a:r>
              <a:rPr lang="en-IN" sz="2800" dirty="0" err="1" smtClean="0"/>
              <a:t>प्रकार</a:t>
            </a:r>
            <a:r>
              <a:rPr lang="mr-IN" sz="2800" dirty="0" smtClean="0"/>
              <a:t> </a:t>
            </a:r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857232"/>
            <a:ext cx="8229600" cy="5786478"/>
          </a:xfrm>
        </p:spPr>
        <p:txBody>
          <a:bodyPr>
            <a:noAutofit/>
          </a:bodyPr>
          <a:lstStyle/>
          <a:p>
            <a:pPr marL="257175" indent="-257175"/>
            <a:r>
              <a:rPr lang="hi-IN" altLang="en-US" sz="2400" b="1" dirty="0" smtClean="0"/>
              <a:t>खनिज </a:t>
            </a:r>
            <a:r>
              <a:rPr lang="hi-IN" altLang="en-US" sz="2400" b="1" dirty="0"/>
              <a:t>मिश्रण (</a:t>
            </a:r>
            <a:r>
              <a:rPr lang="hi-IN" sz="2400" b="1" dirty="0"/>
              <a:t>BIS type)</a:t>
            </a:r>
            <a:endParaRPr lang="hi-IN" altLang="en-US" sz="2400" b="1" dirty="0"/>
          </a:p>
          <a:p>
            <a:pPr marL="257175" indent="-257175"/>
            <a:endParaRPr lang="hi-IN" sz="2400" b="1" dirty="0"/>
          </a:p>
          <a:p>
            <a:pPr marL="257175" indent="-257175"/>
            <a:r>
              <a:rPr lang="hi-IN" sz="2400" b="1" dirty="0"/>
              <a:t>ASMM </a:t>
            </a:r>
            <a:r>
              <a:rPr lang="hi-IN" sz="2400" b="1" dirty="0" smtClean="0"/>
              <a:t>(</a:t>
            </a:r>
            <a:r>
              <a:rPr lang="mr-IN" sz="2400" b="1" dirty="0" smtClean="0"/>
              <a:t>क्षेत्र विशिष्ट </a:t>
            </a:r>
            <a:r>
              <a:rPr lang="hi-IN" altLang="en-US" sz="2400" b="1" dirty="0" smtClean="0"/>
              <a:t>खनिज </a:t>
            </a:r>
            <a:r>
              <a:rPr lang="hi-IN" altLang="en-US" sz="2400" b="1" dirty="0"/>
              <a:t>मिश्रण)</a:t>
            </a:r>
          </a:p>
          <a:p>
            <a:pPr marL="257175" indent="-257175"/>
            <a:endParaRPr lang="hi-IN" sz="2400" b="1" dirty="0"/>
          </a:p>
          <a:p>
            <a:pPr marL="257175" indent="-257175"/>
            <a:r>
              <a:rPr lang="hi-IN" sz="2400" b="1" dirty="0"/>
              <a:t>चिलेटेड </a:t>
            </a:r>
            <a:r>
              <a:rPr lang="hi-IN" altLang="en-US" sz="2400" b="1" dirty="0"/>
              <a:t>खनिज मिश्रण (Cu, Zn, Mn, Cr </a:t>
            </a:r>
            <a:r>
              <a:rPr lang="mr-IN" altLang="en-US" sz="2400" b="1" dirty="0" smtClean="0"/>
              <a:t>करिता</a:t>
            </a:r>
            <a:r>
              <a:rPr lang="hi-IN" altLang="en-US" sz="2400" b="1" dirty="0" smtClean="0"/>
              <a:t>)</a:t>
            </a:r>
            <a:endParaRPr lang="hi-IN" altLang="en-US" sz="2400" b="1" dirty="0"/>
          </a:p>
          <a:p>
            <a:pPr marL="257175" indent="-257175"/>
            <a:endParaRPr lang="hi-IN" sz="2400" b="1" dirty="0"/>
          </a:p>
          <a:p>
            <a:pPr marL="257175" indent="-257175"/>
            <a:r>
              <a:rPr lang="mr-IN" sz="2400" b="1" dirty="0"/>
              <a:t>लिक्विड कैल्शियम</a:t>
            </a:r>
            <a:r>
              <a:rPr lang="hi-IN" sz="2400" b="1" dirty="0" smtClean="0"/>
              <a:t> (</a:t>
            </a:r>
            <a:r>
              <a:rPr lang="mr-IN" sz="2400" b="1" dirty="0"/>
              <a:t>कमी कैल्शियम</a:t>
            </a:r>
            <a:r>
              <a:rPr lang="hi-IN" sz="2400" b="1" dirty="0" smtClean="0"/>
              <a:t> </a:t>
            </a:r>
            <a:r>
              <a:rPr lang="mr-IN" sz="2400" b="1" dirty="0" smtClean="0"/>
              <a:t>मिळते </a:t>
            </a:r>
            <a:r>
              <a:rPr lang="hi-IN" sz="2400" b="1" dirty="0" smtClean="0"/>
              <a:t>– 4/5% </a:t>
            </a:r>
            <a:r>
              <a:rPr lang="hi-IN" sz="2400" b="1" dirty="0"/>
              <a:t>vs </a:t>
            </a:r>
            <a:r>
              <a:rPr lang="hi-IN" sz="2400" b="1" dirty="0" smtClean="0"/>
              <a:t>20% </a:t>
            </a:r>
            <a:r>
              <a:rPr lang="hi-IN" sz="2400" b="1" dirty="0"/>
              <a:t>पाउडर </a:t>
            </a:r>
            <a:r>
              <a:rPr lang="mr-IN" sz="2400" b="1" dirty="0" smtClean="0"/>
              <a:t>मध्ये</a:t>
            </a:r>
            <a:r>
              <a:rPr lang="hi-IN" sz="2400" b="1" dirty="0" smtClean="0"/>
              <a:t>)</a:t>
            </a:r>
            <a:endParaRPr lang="en-IN" sz="2400" b="1" dirty="0" smtClean="0"/>
          </a:p>
          <a:p>
            <a:pPr marL="257175" indent="-257175"/>
            <a:endParaRPr lang="hi-IN" sz="2400" b="1" dirty="0"/>
          </a:p>
          <a:p>
            <a:pPr marL="257175" indent="-257175"/>
            <a:r>
              <a:rPr lang="mr-IN" sz="2400" b="1" dirty="0" smtClean="0"/>
              <a:t>मीठ </a:t>
            </a:r>
            <a:r>
              <a:rPr lang="hi-IN" sz="2400" b="1" dirty="0" smtClean="0"/>
              <a:t>(</a:t>
            </a:r>
            <a:r>
              <a:rPr lang="hi-IN" sz="2400" b="1" dirty="0"/>
              <a:t>25 से 30 ग्राम </a:t>
            </a:r>
            <a:r>
              <a:rPr lang="mr-IN" sz="2400" b="1" dirty="0" smtClean="0"/>
              <a:t>दररोज</a:t>
            </a:r>
            <a:r>
              <a:rPr lang="hi-IN" sz="2400" b="1" dirty="0" smtClean="0"/>
              <a:t>)</a:t>
            </a:r>
            <a:endParaRPr lang="hi-IN" sz="2400" b="1" dirty="0"/>
          </a:p>
          <a:p>
            <a:pPr marL="257175" indent="-257175"/>
            <a:endParaRPr lang="hi-IN" sz="2400" b="1" dirty="0"/>
          </a:p>
          <a:p>
            <a:pPr marL="257175" indent="-257175"/>
            <a:r>
              <a:rPr lang="en-IN" sz="2400" b="1" dirty="0" err="1" smtClean="0"/>
              <a:t>बफर</a:t>
            </a:r>
            <a:r>
              <a:rPr lang="en-IN" sz="2400" b="1" dirty="0" smtClean="0"/>
              <a:t> - </a:t>
            </a:r>
            <a:r>
              <a:rPr lang="mr-IN" sz="2400" b="1" dirty="0" smtClean="0"/>
              <a:t>जास्त </a:t>
            </a:r>
            <a:r>
              <a:rPr lang="mr-IN" sz="2400" b="1" dirty="0"/>
              <a:t>अलप  दिल्या जात असलेल्या </a:t>
            </a:r>
            <a:r>
              <a:rPr lang="mr-IN" sz="2400" b="1" dirty="0" smtClean="0"/>
              <a:t>जनावरांना</a:t>
            </a:r>
            <a:r>
              <a:rPr lang="en-IN" sz="2400" b="1" dirty="0" smtClean="0"/>
              <a:t>-</a:t>
            </a:r>
            <a:r>
              <a:rPr lang="mr-IN" sz="2400" b="1" dirty="0" smtClean="0"/>
              <a:t> </a:t>
            </a:r>
            <a:r>
              <a:rPr lang="mr-IN" sz="2400" b="1" dirty="0"/>
              <a:t>खाण्याचा </a:t>
            </a:r>
            <a:r>
              <a:rPr lang="hi-IN" sz="2400" b="1" dirty="0" smtClean="0"/>
              <a:t>सोडा</a:t>
            </a:r>
            <a:r>
              <a:rPr lang="en-IN" sz="2400" b="1" dirty="0" smtClean="0"/>
              <a:t>- </a:t>
            </a:r>
            <a:r>
              <a:rPr lang="hi-IN" sz="2400" b="1" dirty="0" smtClean="0"/>
              <a:t>40</a:t>
            </a:r>
            <a:r>
              <a:rPr lang="hi-IN" sz="2400" b="1" dirty="0"/>
              <a:t>/ 50 ग्राम </a:t>
            </a:r>
            <a:r>
              <a:rPr lang="hi-IN" sz="2400" b="1" dirty="0" smtClean="0"/>
              <a:t>प्रतिदिन</a:t>
            </a:r>
            <a:r>
              <a:rPr lang="en-IN" sz="2400" b="1" dirty="0" smtClean="0"/>
              <a:t>-</a:t>
            </a:r>
            <a:r>
              <a:rPr lang="hi-IN" sz="2400" b="1" dirty="0" smtClean="0"/>
              <a:t> एसिडिटि</a:t>
            </a:r>
            <a:r>
              <a:rPr lang="mr-IN" sz="2400" b="1" dirty="0" smtClean="0"/>
              <a:t> न होऊ देण्याकरिता</a:t>
            </a:r>
            <a:endParaRPr lang="hi-IN" sz="2400" b="1" dirty="0"/>
          </a:p>
          <a:p>
            <a:pPr marL="0" indent="0">
              <a:buNone/>
            </a:pPr>
            <a:endParaRPr lang="en-IN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208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2011354"/>
          </a:xfrm>
        </p:spPr>
        <p:txBody>
          <a:bodyPr>
            <a:noAutofit/>
          </a:bodyPr>
          <a:lstStyle/>
          <a:p>
            <a:r>
              <a:rPr lang="hi-IN" altLang="en-US" sz="3200" b="1" dirty="0" smtClean="0"/>
              <a:t/>
            </a:r>
            <a:br>
              <a:rPr lang="hi-IN" altLang="en-US" sz="3200" b="1" dirty="0" smtClean="0"/>
            </a:br>
            <a:r>
              <a:rPr lang="en-IN" altLang="en-US" sz="3200" b="1" dirty="0" smtClean="0"/>
              <a:t/>
            </a:r>
            <a:br>
              <a:rPr lang="en-IN" altLang="en-US" sz="3200" b="1" dirty="0" smtClean="0"/>
            </a:br>
            <a:endParaRPr lang="en-IN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8623" y="2143125"/>
          <a:ext cx="3929062" cy="407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64531"/>
                <a:gridCol w="1964531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Element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Requirement %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Calcium 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20.0 (Min)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Phosphorus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12.0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Magnesium 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5.0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Sulphur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1.8-3.0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Copper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0.10 (Min) 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Zinc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0.80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Manganese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0.12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Iodine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0.026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Iron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0.40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/>
                        <a:t>Cobalt</a:t>
                      </a:r>
                      <a:endParaRPr lang="en-IN" sz="180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/>
                        <a:t>0.012 (Min)</a:t>
                      </a:r>
                      <a:endParaRPr lang="en-IN" sz="1800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85786" y="1500174"/>
            <a:ext cx="3323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i-IN" altLang="en-US" sz="2400" b="1" dirty="0" smtClean="0"/>
              <a:t>खनिज मिश्रण (</a:t>
            </a:r>
            <a:r>
              <a:rPr lang="hi-IN" sz="2400" b="1" dirty="0" smtClean="0"/>
              <a:t>BIS type)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4357686" y="4143380"/>
            <a:ext cx="384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altLang="en-US" b="1" dirty="0" err="1" smtClean="0"/>
              <a:t>vs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786346" y="1428736"/>
            <a:ext cx="46434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2400" b="1" dirty="0" smtClean="0"/>
              <a:t>ASMM (</a:t>
            </a:r>
            <a:r>
              <a:rPr lang="mr-IN" sz="2400" b="1" dirty="0" smtClean="0"/>
              <a:t>क्षेत्र विशिष्ट </a:t>
            </a:r>
            <a:r>
              <a:rPr lang="hi-IN" altLang="en-US" sz="2400" b="1" dirty="0" smtClean="0"/>
              <a:t>खनिज मिश्रण)</a:t>
            </a:r>
            <a:br>
              <a:rPr lang="hi-IN" altLang="en-US" sz="2400" b="1" dirty="0" smtClean="0"/>
            </a:br>
            <a:r>
              <a:rPr lang="en-IN" altLang="en-US" b="1" dirty="0" smtClean="0"/>
              <a:t/>
            </a:r>
            <a:br>
              <a:rPr lang="en-IN" altLang="en-US" b="1" dirty="0" smtClean="0"/>
            </a:br>
            <a:endParaRPr lang="en-IN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4857752" y="2214555"/>
          <a:ext cx="3929062" cy="40005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64531"/>
                <a:gridCol w="1964531"/>
              </a:tblGrid>
              <a:tr h="560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Element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Requirement %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+mn-lt"/>
                          <a:ea typeface="Calibri"/>
                          <a:cs typeface="Mangal"/>
                        </a:rPr>
                        <a:t>Calcium </a:t>
                      </a: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+mn-lt"/>
                          <a:ea typeface="Calibri"/>
                          <a:cs typeface="Mangal"/>
                        </a:rPr>
                        <a:t>23.0 (Min)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Phosphorus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+mn-lt"/>
                          <a:ea typeface="Calibri"/>
                          <a:cs typeface="Mangal"/>
                        </a:rPr>
                        <a:t>11.5 (Min)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Magnesium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+mn-lt"/>
                          <a:ea typeface="Calibri"/>
                          <a:cs typeface="Mangal"/>
                        </a:rPr>
                        <a:t>4.0 (Min)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+mn-lt"/>
                          <a:ea typeface="Calibri"/>
                          <a:cs typeface="Mangal"/>
                        </a:rPr>
                        <a:t>Copper</a:t>
                      </a: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0.20 (Min) 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+mn-lt"/>
                          <a:ea typeface="Calibri"/>
                          <a:cs typeface="Mangal"/>
                        </a:rPr>
                        <a:t>Zinc</a:t>
                      </a: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1.2 (Min)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Iodine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0.026 (Min)</a:t>
                      </a: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2000" dirty="0">
                        <a:latin typeface="+mn-lt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440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Cobalt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+mn-lt"/>
                          <a:ea typeface="Calibri"/>
                          <a:cs typeface="Mangal"/>
                        </a:rPr>
                        <a:t>0.012 (Min)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IN" dirty="0" err="1" smtClean="0">
                <a:latin typeface="Mangal" pitchFamily="18" charset="0"/>
                <a:cs typeface="Mangal" pitchFamily="18" charset="0"/>
              </a:rPr>
              <a:t>चिलेटेड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मिनरल्स</a:t>
            </a:r>
            <a:endParaRPr lang="en-IN" dirty="0">
              <a:latin typeface="Mangal" pitchFamily="18" charset="0"/>
              <a:cs typeface="Mangal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786478"/>
          </a:xfrm>
        </p:spPr>
        <p:txBody>
          <a:bodyPr>
            <a:normAutofit fontScale="55000" lnSpcReduction="20000"/>
          </a:bodyPr>
          <a:lstStyle/>
          <a:p>
            <a:r>
              <a:rPr lang="en-IN" sz="5100" dirty="0" err="1" smtClean="0">
                <a:solidFill>
                  <a:srgbClr val="7030A0"/>
                </a:solidFill>
              </a:rPr>
              <a:t>मिनरल्स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चिलेट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करण्याची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गरज</a:t>
            </a:r>
            <a:r>
              <a:rPr lang="en-IN" sz="5100" dirty="0" smtClean="0">
                <a:solidFill>
                  <a:srgbClr val="7030A0"/>
                </a:solidFill>
              </a:rPr>
              <a:t>- </a:t>
            </a:r>
            <a:r>
              <a:rPr lang="en-IN" sz="5100" dirty="0" err="1" smtClean="0"/>
              <a:t>अत्यंत</a:t>
            </a:r>
            <a:r>
              <a:rPr lang="en-IN" sz="5100" dirty="0" smtClean="0"/>
              <a:t> </a:t>
            </a:r>
            <a:r>
              <a:rPr lang="en-IN" sz="5100" dirty="0" err="1" smtClean="0"/>
              <a:t>जास्त</a:t>
            </a:r>
            <a:r>
              <a:rPr lang="en-IN" sz="5100" dirty="0" smtClean="0"/>
              <a:t> </a:t>
            </a:r>
            <a:r>
              <a:rPr lang="en-IN" sz="5100" dirty="0" err="1" smtClean="0"/>
              <a:t>उत्पादन</a:t>
            </a:r>
            <a:r>
              <a:rPr lang="en-IN" sz="5100" dirty="0" smtClean="0"/>
              <a:t> </a:t>
            </a:r>
            <a:r>
              <a:rPr lang="en-IN" sz="5100" dirty="0" err="1" smtClean="0"/>
              <a:t>क्षमता</a:t>
            </a:r>
            <a:r>
              <a:rPr lang="en-IN" sz="5100" dirty="0" smtClean="0"/>
              <a:t> </a:t>
            </a:r>
            <a:r>
              <a:rPr lang="en-IN" sz="5100" dirty="0" err="1" smtClean="0"/>
              <a:t>असलेल्या</a:t>
            </a:r>
            <a:r>
              <a:rPr lang="en-IN" sz="5100" dirty="0" smtClean="0"/>
              <a:t> </a:t>
            </a:r>
            <a:r>
              <a:rPr lang="en-IN" sz="5100" dirty="0" err="1" smtClean="0"/>
              <a:t>जनावरांना</a:t>
            </a:r>
            <a:r>
              <a:rPr lang="en-IN" sz="5100" dirty="0" smtClean="0"/>
              <a:t> </a:t>
            </a:r>
            <a:r>
              <a:rPr lang="en-IN" sz="5100" dirty="0" err="1" smtClean="0"/>
              <a:t>मिनरल्स</a:t>
            </a:r>
            <a:r>
              <a:rPr lang="en-IN" sz="5100" dirty="0" smtClean="0"/>
              <a:t> </a:t>
            </a:r>
            <a:r>
              <a:rPr lang="en-IN" sz="5100" dirty="0" err="1" smtClean="0"/>
              <a:t>आवश्यक</a:t>
            </a:r>
            <a:r>
              <a:rPr lang="en-IN" sz="5100" dirty="0" smtClean="0"/>
              <a:t> </a:t>
            </a:r>
            <a:r>
              <a:rPr lang="en-IN" sz="5100" dirty="0" err="1" smtClean="0"/>
              <a:t>प्रमाणात</a:t>
            </a:r>
            <a:r>
              <a:rPr lang="en-IN" sz="5100" dirty="0" smtClean="0"/>
              <a:t> </a:t>
            </a:r>
            <a:r>
              <a:rPr lang="en-IN" sz="5100" dirty="0" err="1" smtClean="0"/>
              <a:t>उपलब्ध</a:t>
            </a:r>
            <a:r>
              <a:rPr lang="en-IN" sz="5100" dirty="0" smtClean="0"/>
              <a:t> </a:t>
            </a:r>
            <a:r>
              <a:rPr lang="en-IN" sz="5100" dirty="0" err="1" smtClean="0"/>
              <a:t>करून</a:t>
            </a:r>
            <a:r>
              <a:rPr lang="en-IN" sz="5100" dirty="0" smtClean="0"/>
              <a:t> </a:t>
            </a:r>
            <a:r>
              <a:rPr lang="en-IN" sz="5100" dirty="0" err="1" smtClean="0"/>
              <a:t>देणे</a:t>
            </a:r>
            <a:r>
              <a:rPr lang="en-IN" sz="5100" dirty="0" smtClean="0"/>
              <a:t>.</a:t>
            </a:r>
          </a:p>
          <a:p>
            <a:pPr>
              <a:buNone/>
            </a:pPr>
            <a:endParaRPr lang="en-IN" sz="5100" dirty="0" smtClean="0"/>
          </a:p>
          <a:p>
            <a:r>
              <a:rPr lang="en-IN" sz="5100" dirty="0" err="1" smtClean="0">
                <a:solidFill>
                  <a:srgbClr val="7030A0"/>
                </a:solidFill>
              </a:rPr>
              <a:t>कोणते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मिनरल्स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चिलेट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केले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जातात</a:t>
            </a:r>
            <a:r>
              <a:rPr lang="en-IN" sz="5100" dirty="0" smtClean="0">
                <a:solidFill>
                  <a:srgbClr val="7030A0"/>
                </a:solidFill>
              </a:rPr>
              <a:t>- </a:t>
            </a:r>
            <a:r>
              <a:rPr lang="en-IN" sz="5100" dirty="0" err="1" smtClean="0"/>
              <a:t>अत्यंत</a:t>
            </a:r>
            <a:r>
              <a:rPr lang="en-IN" sz="5100" dirty="0" smtClean="0"/>
              <a:t> </a:t>
            </a:r>
            <a:r>
              <a:rPr lang="en-IN" sz="5100" dirty="0" err="1" smtClean="0"/>
              <a:t>आवश्यक</a:t>
            </a:r>
            <a:r>
              <a:rPr lang="en-IN" sz="5100" dirty="0" smtClean="0"/>
              <a:t> </a:t>
            </a:r>
            <a:r>
              <a:rPr lang="en-IN" sz="5100" dirty="0" err="1" smtClean="0"/>
              <a:t>असलेले</a:t>
            </a:r>
            <a:r>
              <a:rPr lang="en-IN" sz="5100" dirty="0" smtClean="0"/>
              <a:t> </a:t>
            </a:r>
            <a:r>
              <a:rPr lang="en-IN" sz="5100" dirty="0" err="1" smtClean="0"/>
              <a:t>परंतु</a:t>
            </a:r>
            <a:r>
              <a:rPr lang="en-IN" sz="5100" dirty="0" smtClean="0"/>
              <a:t> </a:t>
            </a:r>
            <a:r>
              <a:rPr lang="en-IN" sz="5100" dirty="0" err="1" smtClean="0"/>
              <a:t>कमी</a:t>
            </a:r>
            <a:r>
              <a:rPr lang="en-IN" sz="5100" dirty="0" smtClean="0"/>
              <a:t> </a:t>
            </a:r>
            <a:r>
              <a:rPr lang="en-IN" sz="5100" dirty="0" err="1" smtClean="0"/>
              <a:t>प्रमाणात</a:t>
            </a:r>
            <a:r>
              <a:rPr lang="en-IN" sz="5100" dirty="0" smtClean="0"/>
              <a:t> </a:t>
            </a:r>
            <a:r>
              <a:rPr lang="en-IN" sz="5100" dirty="0" err="1" smtClean="0"/>
              <a:t>लागणारे</a:t>
            </a:r>
            <a:r>
              <a:rPr lang="en-IN" sz="5100" dirty="0" smtClean="0"/>
              <a:t> </a:t>
            </a:r>
            <a:r>
              <a:rPr lang="en-IN" sz="5100" dirty="0" err="1" smtClean="0"/>
              <a:t>उदा</a:t>
            </a:r>
            <a:r>
              <a:rPr lang="en-IN" sz="5100" dirty="0" smtClean="0"/>
              <a:t>. </a:t>
            </a:r>
            <a:r>
              <a:rPr lang="en-IN" sz="5100" dirty="0" smtClean="0"/>
              <a:t>Cu, Zn, </a:t>
            </a:r>
            <a:r>
              <a:rPr lang="en-IN" sz="5100" dirty="0" err="1" smtClean="0"/>
              <a:t>Mn</a:t>
            </a:r>
            <a:endParaRPr lang="en-IN" sz="5100" dirty="0" smtClean="0"/>
          </a:p>
          <a:p>
            <a:pPr>
              <a:buNone/>
            </a:pPr>
            <a:endParaRPr lang="en-IN" sz="5100" dirty="0" smtClean="0"/>
          </a:p>
          <a:p>
            <a:r>
              <a:rPr lang="en-IN" sz="5100" dirty="0" err="1" smtClean="0">
                <a:solidFill>
                  <a:srgbClr val="7030A0"/>
                </a:solidFill>
              </a:rPr>
              <a:t>चिलेशन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5100" dirty="0" err="1" smtClean="0">
                <a:solidFill>
                  <a:srgbClr val="7030A0"/>
                </a:solidFill>
              </a:rPr>
              <a:t>प्रक्रीया</a:t>
            </a:r>
            <a:r>
              <a:rPr lang="en-IN" sz="5100" dirty="0" smtClean="0">
                <a:solidFill>
                  <a:srgbClr val="7030A0"/>
                </a:solidFill>
              </a:rPr>
              <a:t> </a:t>
            </a:r>
            <a:r>
              <a:rPr lang="en-IN" sz="3800" dirty="0" smtClean="0">
                <a:solidFill>
                  <a:srgbClr val="7030A0"/>
                </a:solidFill>
              </a:rPr>
              <a:t>-       </a:t>
            </a:r>
            <a:r>
              <a:rPr lang="en-IN" sz="3800" dirty="0" err="1" smtClean="0"/>
              <a:t>मिनरल</a:t>
            </a:r>
            <a:r>
              <a:rPr lang="en-IN" sz="3800" dirty="0" smtClean="0"/>
              <a:t>   </a:t>
            </a:r>
            <a:r>
              <a:rPr lang="en-IN" sz="3800" dirty="0" err="1" smtClean="0"/>
              <a:t>अमीनो</a:t>
            </a:r>
            <a:r>
              <a:rPr lang="en-IN" sz="3800" dirty="0" smtClean="0"/>
              <a:t> ॲ</a:t>
            </a:r>
            <a:r>
              <a:rPr lang="en-IN" sz="3800" dirty="0" err="1" smtClean="0"/>
              <a:t>सीड</a:t>
            </a:r>
            <a:r>
              <a:rPr lang="en-IN" sz="3800" dirty="0" smtClean="0"/>
              <a:t> </a:t>
            </a:r>
            <a:r>
              <a:rPr lang="en-IN" sz="3800" dirty="0" err="1" smtClean="0"/>
              <a:t>सोबत</a:t>
            </a:r>
            <a:r>
              <a:rPr lang="en-IN" sz="3800" dirty="0" smtClean="0"/>
              <a:t> </a:t>
            </a:r>
            <a:r>
              <a:rPr lang="en-IN" sz="3800" dirty="0" err="1" smtClean="0"/>
              <a:t>बांधले</a:t>
            </a:r>
            <a:r>
              <a:rPr lang="en-IN" sz="3800" dirty="0" smtClean="0"/>
              <a:t> </a:t>
            </a:r>
            <a:r>
              <a:rPr lang="en-IN" sz="3800" dirty="0" err="1" smtClean="0"/>
              <a:t>जातात</a:t>
            </a:r>
            <a:r>
              <a:rPr lang="en-IN" sz="3800" dirty="0" smtClean="0"/>
              <a:t>.                         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                                                          </a:t>
            </a:r>
            <a:r>
              <a:rPr lang="en-IN" sz="3600" dirty="0" err="1" smtClean="0"/>
              <a:t>त्यामुळे</a:t>
            </a:r>
            <a:r>
              <a:rPr lang="en-IN" sz="3600" dirty="0" smtClean="0"/>
              <a:t> </a:t>
            </a:r>
            <a:r>
              <a:rPr lang="en-IN" sz="3600" dirty="0" err="1" smtClean="0"/>
              <a:t>रुमेन</a:t>
            </a:r>
            <a:r>
              <a:rPr lang="en-IN" sz="3600" dirty="0" smtClean="0"/>
              <a:t> </a:t>
            </a:r>
            <a:r>
              <a:rPr lang="en-IN" sz="3600" dirty="0" err="1" smtClean="0"/>
              <a:t>मध्ये</a:t>
            </a:r>
            <a:r>
              <a:rPr lang="en-IN" sz="3600" dirty="0" smtClean="0"/>
              <a:t> </a:t>
            </a:r>
            <a:r>
              <a:rPr lang="en-IN" sz="3600" dirty="0" err="1" smtClean="0"/>
              <a:t>ईतर</a:t>
            </a:r>
            <a:r>
              <a:rPr lang="en-IN" sz="3600" dirty="0" smtClean="0"/>
              <a:t> </a:t>
            </a:r>
            <a:r>
              <a:rPr lang="en-IN" sz="3600" dirty="0" err="1" smtClean="0"/>
              <a:t>केमीकल्स</a:t>
            </a:r>
            <a:r>
              <a:rPr lang="en-IN" sz="3600" dirty="0" smtClean="0"/>
              <a:t> </a:t>
            </a:r>
            <a:r>
              <a:rPr lang="en-IN" sz="3600" dirty="0" err="1" smtClean="0"/>
              <a:t>बरोबर</a:t>
            </a:r>
            <a:r>
              <a:rPr lang="en-IN" sz="3600" dirty="0" smtClean="0"/>
              <a:t> </a:t>
            </a:r>
            <a:r>
              <a:rPr lang="en-IN" sz="3600" dirty="0" err="1" smtClean="0"/>
              <a:t>संयोग</a:t>
            </a:r>
            <a:r>
              <a:rPr lang="en-IN" sz="3600" dirty="0" smtClean="0"/>
              <a:t> </a:t>
            </a:r>
            <a:r>
              <a:rPr lang="en-IN" sz="3600" dirty="0" err="1" smtClean="0"/>
              <a:t>होत</a:t>
            </a:r>
            <a:r>
              <a:rPr lang="en-IN" sz="3600" dirty="0" smtClean="0"/>
              <a:t> </a:t>
            </a:r>
            <a:r>
              <a:rPr lang="en-IN" sz="3600" dirty="0" err="1" smtClean="0"/>
              <a:t>नाही</a:t>
            </a:r>
            <a:r>
              <a:rPr lang="en-IN" sz="3600" dirty="0" smtClean="0"/>
              <a:t>.</a:t>
            </a:r>
          </a:p>
          <a:p>
            <a:pPr>
              <a:buNone/>
            </a:pPr>
            <a:r>
              <a:rPr lang="en-IN" sz="3600" dirty="0" smtClean="0"/>
              <a:t> </a:t>
            </a:r>
            <a:r>
              <a:rPr lang="en-IN" sz="3600" dirty="0" smtClean="0"/>
              <a:t>                                                     </a:t>
            </a:r>
            <a:r>
              <a:rPr lang="en-IN" sz="3600" dirty="0" err="1" smtClean="0"/>
              <a:t>आतडे</a:t>
            </a:r>
            <a:r>
              <a:rPr lang="en-IN" sz="3600" dirty="0" smtClean="0"/>
              <a:t> </a:t>
            </a:r>
            <a:r>
              <a:rPr lang="en-IN" sz="3600" dirty="0" err="1" smtClean="0"/>
              <a:t>पातळीवर</a:t>
            </a:r>
            <a:r>
              <a:rPr lang="en-IN" sz="3600" dirty="0" smtClean="0"/>
              <a:t> </a:t>
            </a:r>
            <a:r>
              <a:rPr lang="en-IN" sz="3600" dirty="0" err="1" smtClean="0"/>
              <a:t>मिनरल</a:t>
            </a:r>
            <a:r>
              <a:rPr lang="en-IN" sz="3600" dirty="0" smtClean="0"/>
              <a:t> </a:t>
            </a:r>
            <a:r>
              <a:rPr lang="en-IN" sz="3600" dirty="0" err="1" smtClean="0"/>
              <a:t>अमीनो</a:t>
            </a:r>
            <a:r>
              <a:rPr lang="en-IN" sz="3600" dirty="0" smtClean="0"/>
              <a:t> ॲ</a:t>
            </a:r>
            <a:r>
              <a:rPr lang="en-IN" sz="3600" dirty="0" err="1" smtClean="0"/>
              <a:t>सीड</a:t>
            </a:r>
            <a:r>
              <a:rPr lang="en-IN" sz="3600" dirty="0" smtClean="0"/>
              <a:t> </a:t>
            </a:r>
            <a:r>
              <a:rPr lang="en-IN" sz="3600" dirty="0" err="1" smtClean="0"/>
              <a:t>सोबत</a:t>
            </a:r>
            <a:r>
              <a:rPr lang="en-IN" sz="3600" dirty="0" smtClean="0"/>
              <a:t> </a:t>
            </a:r>
            <a:r>
              <a:rPr lang="en-IN" sz="3600" dirty="0" err="1" smtClean="0"/>
              <a:t>शोषले</a:t>
            </a:r>
            <a:r>
              <a:rPr lang="en-IN" sz="3600" dirty="0" smtClean="0"/>
              <a:t> </a:t>
            </a:r>
            <a:r>
              <a:rPr lang="en-IN" sz="3600" dirty="0" err="1" smtClean="0"/>
              <a:t>जाते</a:t>
            </a:r>
            <a:r>
              <a:rPr lang="en-IN" sz="3600" dirty="0" smtClean="0"/>
              <a:t>.</a:t>
            </a:r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 अ</a:t>
            </a:r>
          </a:p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 </a:t>
            </a:r>
            <a:r>
              <a:rPr lang="en-IN" dirty="0" smtClean="0"/>
              <a:t>   </a:t>
            </a: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143380"/>
            <a:ext cx="2786082" cy="25717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3143240" y="4786322"/>
            <a:ext cx="5731510" cy="2071678"/>
          </a:xfrm>
          <a:prstGeom prst="rect">
            <a:avLst/>
          </a:prstGeom>
          <a:noFill/>
          <a:ln>
            <a:noFill/>
          </a:ln>
          <a:ex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 smtClean="0">
                <a:latin typeface="Mangal" pitchFamily="18" charset="0"/>
                <a:cs typeface="Mangal" pitchFamily="18" charset="0"/>
              </a:rPr>
              <a:t>मिनरल</a:t>
            </a:r>
            <a:r>
              <a:rPr lang="en-IN" b="1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b="1" dirty="0" err="1" smtClean="0">
                <a:latin typeface="Mangal" pitchFamily="18" charset="0"/>
                <a:cs typeface="Mangal" pitchFamily="18" charset="0"/>
              </a:rPr>
              <a:t>मि</a:t>
            </a:r>
            <a:r>
              <a:rPr lang="en-IN" b="1" dirty="0" err="1" smtClean="0">
                <a:latin typeface="Mangal" pitchFamily="18" charset="0"/>
                <a:cs typeface="Mangal" pitchFamily="18" charset="0"/>
              </a:rPr>
              <a:t>क्श्चर</a:t>
            </a:r>
            <a:r>
              <a:rPr lang="en-IN" b="1" dirty="0" smtClean="0">
                <a:latin typeface="Mangal" pitchFamily="18" charset="0"/>
                <a:cs typeface="Mangal" pitchFamily="18" charset="0"/>
              </a:rPr>
              <a:t> व </a:t>
            </a:r>
            <a:r>
              <a:rPr lang="en-IN" b="1" dirty="0" err="1" smtClean="0">
                <a:latin typeface="Mangal" pitchFamily="18" charset="0"/>
                <a:cs typeface="Mangal" pitchFamily="18" charset="0"/>
              </a:rPr>
              <a:t>लिक्वीड</a:t>
            </a:r>
            <a:r>
              <a:rPr lang="en-IN" b="1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b="1" dirty="0" err="1" smtClean="0">
                <a:latin typeface="Mangal" pitchFamily="18" charset="0"/>
                <a:cs typeface="Mangal" pitchFamily="18" charset="0"/>
              </a:rPr>
              <a:t>कॅलशीयम</a:t>
            </a:r>
            <a:endParaRPr lang="en-IN" b="1" dirty="0">
              <a:latin typeface="Mangal" pitchFamily="18" charset="0"/>
              <a:cs typeface="Mangal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3"/>
            <a:ext cx="8229600" cy="1071569"/>
          </a:xfrm>
        </p:spPr>
        <p:txBody>
          <a:bodyPr>
            <a:normAutofit fontScale="77500" lnSpcReduction="20000"/>
          </a:bodyPr>
          <a:lstStyle/>
          <a:p>
            <a:r>
              <a:rPr lang="en-IN" dirty="0" err="1" smtClean="0">
                <a:latin typeface="Mangal" pitchFamily="18" charset="0"/>
                <a:cs typeface="Mangal" pitchFamily="18" charset="0"/>
              </a:rPr>
              <a:t>लिक्वीड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कॅलशीयम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सप्लीमेंटस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मध्ये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मिनरल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मिक्श्चर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च्या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तुलनेत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अत्यंत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कमी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प्रमाणात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कॅलशीयम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व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फॉस्फोरस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असतो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.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167" y="2285992"/>
          <a:ext cx="5715039" cy="19625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05013"/>
                <a:gridCol w="1905013"/>
                <a:gridCol w="1905013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err="1" smtClean="0">
                          <a:solidFill>
                            <a:schemeClr val="bg1"/>
                          </a:solidFill>
                        </a:rPr>
                        <a:t>मिनरल</a:t>
                      </a:r>
                      <a:endParaRPr lang="en-IN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err="1" smtClean="0">
                          <a:solidFill>
                            <a:schemeClr val="bg1"/>
                          </a:solidFill>
                        </a:rPr>
                        <a:t>लिक्वीड</a:t>
                      </a:r>
                      <a:r>
                        <a:rPr lang="en-IN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000" dirty="0" err="1" smtClean="0">
                          <a:solidFill>
                            <a:schemeClr val="bg1"/>
                          </a:solidFill>
                        </a:rPr>
                        <a:t>कॅलशीयम</a:t>
                      </a:r>
                      <a:endParaRPr lang="en-IN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err="1" smtClean="0">
                          <a:solidFill>
                            <a:schemeClr val="bg1"/>
                          </a:solidFill>
                        </a:rPr>
                        <a:t>मिनरल</a:t>
                      </a:r>
                      <a:r>
                        <a:rPr lang="en-IN" sz="20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000" dirty="0" err="1" smtClean="0">
                          <a:solidFill>
                            <a:schemeClr val="bg1"/>
                          </a:solidFill>
                        </a:rPr>
                        <a:t>मिक्श्चर</a:t>
                      </a:r>
                      <a:r>
                        <a:rPr lang="en-IN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0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IN" sz="2000" dirty="0" err="1" smtClean="0">
                          <a:solidFill>
                            <a:schemeClr val="bg1"/>
                          </a:solidFill>
                        </a:rPr>
                        <a:t>पावडर</a:t>
                      </a:r>
                      <a:r>
                        <a:rPr lang="en-IN" sz="200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IN" sz="1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err="1" smtClean="0">
                          <a:solidFill>
                            <a:schemeClr val="tx1"/>
                          </a:solidFill>
                        </a:rPr>
                        <a:t>कॅलशीयम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aseline="0" dirty="0" smtClean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IN" sz="1800" dirty="0" smtClean="0">
                          <a:solidFill>
                            <a:schemeClr val="tx1"/>
                          </a:solidFill>
                        </a:rPr>
                        <a:t>3-4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solidFill>
                            <a:schemeClr val="tx1"/>
                          </a:solidFill>
                        </a:rPr>
                        <a:t>&gt;20%</a:t>
                      </a:r>
                      <a:endParaRPr lang="en-IN" sz="160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dirty="0" err="1" smtClean="0">
                          <a:solidFill>
                            <a:schemeClr val="tx1"/>
                          </a:solidFill>
                          <a:latin typeface="Mangal" pitchFamily="18" charset="0"/>
                          <a:cs typeface="Mangal" pitchFamily="18" charset="0"/>
                        </a:rPr>
                        <a:t>फॉस्फोरस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smtClean="0">
                          <a:solidFill>
                            <a:schemeClr val="tx1"/>
                          </a:solidFill>
                        </a:rPr>
                        <a:t>   1.5-2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solidFill>
                            <a:schemeClr val="tx1"/>
                          </a:solidFill>
                        </a:rPr>
                        <a:t>&gt;12%</a:t>
                      </a:r>
                      <a:endParaRPr lang="en-IN" sz="160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S, Mg, Cu, Zn, Co, etc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err="1" smtClean="0">
                          <a:solidFill>
                            <a:schemeClr val="tx1"/>
                          </a:solidFill>
                        </a:rPr>
                        <a:t>नाही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err="1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Mangal"/>
                        </a:rPr>
                        <a:t>आहे</a:t>
                      </a:r>
                      <a:endParaRPr lang="en-IN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6" y="4286256"/>
            <a:ext cx="89297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Mangal" pitchFamily="18" charset="0"/>
                <a:cs typeface="Mangal" pitchFamily="18" charset="0"/>
              </a:rPr>
              <a:t>-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१किलो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दुध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तयार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होण्याकरीता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३.५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ग्रॅम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/>
              <a:t>कॅलशीयमची</a:t>
            </a:r>
            <a:r>
              <a:rPr lang="en-IN" sz="2000" dirty="0" smtClean="0"/>
              <a:t> </a:t>
            </a:r>
            <a:r>
              <a:rPr lang="en-IN" sz="2000" dirty="0" err="1" smtClean="0"/>
              <a:t>गरज</a:t>
            </a:r>
            <a:r>
              <a:rPr lang="en-IN" sz="2000" dirty="0" smtClean="0"/>
              <a:t> </a:t>
            </a:r>
            <a:r>
              <a:rPr lang="en-IN" sz="2000" dirty="0" err="1" smtClean="0"/>
              <a:t>असते</a:t>
            </a:r>
            <a:r>
              <a:rPr lang="en-IN" sz="2000" dirty="0" smtClean="0"/>
              <a:t>.</a:t>
            </a:r>
          </a:p>
          <a:p>
            <a:pPr>
              <a:buFontTx/>
              <a:buChar char="-"/>
            </a:pPr>
            <a:r>
              <a:rPr lang="en-IN" sz="2000" dirty="0" err="1" smtClean="0">
                <a:ea typeface="Calibri"/>
                <a:cs typeface="Mangal"/>
              </a:rPr>
              <a:t>म्हणजेच</a:t>
            </a:r>
            <a:r>
              <a:rPr lang="en-IN" sz="2000" dirty="0" smtClean="0">
                <a:ea typeface="Calibri"/>
                <a:cs typeface="Mangal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१किलो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दुध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तयार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होण्याकरीता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१००मि.ली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लिक्वीड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कॅलशीयम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लागेल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IN" sz="2000" dirty="0" err="1" smtClean="0">
                <a:latin typeface="Mangal" pitchFamily="18" charset="0"/>
                <a:cs typeface="Mangal" pitchFamily="18" charset="0"/>
              </a:rPr>
              <a:t>शीवाय</a:t>
            </a:r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sz="2000" dirty="0" smtClean="0"/>
              <a:t>S, Mg, Cu, Zn, Co, </a:t>
            </a:r>
            <a:r>
              <a:rPr lang="en-IN" sz="2000" dirty="0" smtClean="0"/>
              <a:t>etc </a:t>
            </a:r>
            <a:r>
              <a:rPr lang="en-IN" sz="2000" dirty="0" err="1" smtClean="0"/>
              <a:t>जनावराला</a:t>
            </a:r>
            <a:r>
              <a:rPr lang="en-IN" sz="2000" dirty="0" smtClean="0"/>
              <a:t>  </a:t>
            </a:r>
            <a:r>
              <a:rPr lang="en-IN" sz="2000" dirty="0" err="1" smtClean="0"/>
              <a:t>उपलब्ध</a:t>
            </a:r>
            <a:r>
              <a:rPr lang="en-IN" sz="2000" dirty="0" smtClean="0"/>
              <a:t> </a:t>
            </a:r>
            <a:r>
              <a:rPr lang="en-IN" sz="2000" dirty="0" err="1" smtClean="0"/>
              <a:t>होणार</a:t>
            </a:r>
            <a:r>
              <a:rPr lang="en-IN" sz="2000" dirty="0" smtClean="0"/>
              <a:t> </a:t>
            </a:r>
            <a:r>
              <a:rPr lang="en-IN" sz="2000" dirty="0" err="1" smtClean="0"/>
              <a:t>नाही</a:t>
            </a:r>
            <a:r>
              <a:rPr lang="en-IN" sz="2000" dirty="0" smtClean="0"/>
              <a:t>.</a:t>
            </a:r>
            <a:endParaRPr lang="en-IN" sz="2000" dirty="0" smtClean="0">
              <a:latin typeface="Mangal" pitchFamily="18" charset="0"/>
              <a:cs typeface="Mangal" pitchFamily="18" charset="0"/>
            </a:endParaRPr>
          </a:p>
          <a:p>
            <a:pPr>
              <a:buFontTx/>
              <a:buChar char="-"/>
            </a:pPr>
            <a:r>
              <a:rPr lang="en-IN" sz="2000" dirty="0" err="1" smtClean="0">
                <a:latin typeface="Mangal" pitchFamily="18" charset="0"/>
                <a:ea typeface="Calibri"/>
                <a:cs typeface="Mangal" pitchFamily="18" charset="0"/>
              </a:rPr>
              <a:t>गोपालकाच्या</a:t>
            </a:r>
            <a:r>
              <a:rPr lang="en-IN" sz="2000" dirty="0" smtClean="0">
                <a:latin typeface="Mangal" pitchFamily="18" charset="0"/>
                <a:ea typeface="Calibri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ea typeface="Calibri"/>
                <a:cs typeface="Mangal" pitchFamily="18" charset="0"/>
              </a:rPr>
              <a:t>उत्पादन</a:t>
            </a:r>
            <a:r>
              <a:rPr lang="en-IN" sz="2000" dirty="0" smtClean="0">
                <a:latin typeface="Mangal" pitchFamily="18" charset="0"/>
                <a:ea typeface="Calibri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ea typeface="Calibri"/>
                <a:cs typeface="Mangal" pitchFamily="18" charset="0"/>
              </a:rPr>
              <a:t>खर्चावर</a:t>
            </a:r>
            <a:r>
              <a:rPr lang="en-IN" sz="2000" dirty="0" smtClean="0">
                <a:latin typeface="Mangal" pitchFamily="18" charset="0"/>
                <a:ea typeface="Calibri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ea typeface="Calibri"/>
                <a:cs typeface="Mangal" pitchFamily="18" charset="0"/>
              </a:rPr>
              <a:t>नियंत्रण</a:t>
            </a:r>
            <a:r>
              <a:rPr lang="en-IN" sz="2000" dirty="0" smtClean="0">
                <a:latin typeface="Mangal" pitchFamily="18" charset="0"/>
                <a:ea typeface="Calibri"/>
                <a:cs typeface="Mangal" pitchFamily="18" charset="0"/>
              </a:rPr>
              <a:t> </a:t>
            </a:r>
            <a:r>
              <a:rPr lang="en-IN" sz="2000" dirty="0" err="1" smtClean="0">
                <a:latin typeface="Mangal" pitchFamily="18" charset="0"/>
                <a:ea typeface="Calibri"/>
                <a:cs typeface="Mangal" pitchFamily="18" charset="0"/>
              </a:rPr>
              <a:t>ठेवण्याकरीता</a:t>
            </a:r>
            <a:r>
              <a:rPr lang="en-IN" sz="2000" dirty="0" smtClean="0">
                <a:latin typeface="Mangal" pitchFamily="18" charset="0"/>
                <a:ea typeface="Calibri"/>
                <a:cs typeface="Mangal" pitchFamily="18" charset="0"/>
              </a:rPr>
              <a:t> </a:t>
            </a:r>
            <a:r>
              <a:rPr lang="hi-IN" sz="2000" b="1" dirty="0" smtClean="0"/>
              <a:t>ASMM (</a:t>
            </a:r>
            <a:r>
              <a:rPr lang="mr-IN" sz="2000" b="1" dirty="0" smtClean="0"/>
              <a:t>क्षेत्र विशिष्ट </a:t>
            </a:r>
            <a:r>
              <a:rPr lang="hi-IN" altLang="en-US" sz="2000" b="1" dirty="0" smtClean="0"/>
              <a:t>खनिज मिश्रण</a:t>
            </a:r>
            <a:r>
              <a:rPr lang="hi-IN" altLang="en-US" sz="2000" b="1" dirty="0" smtClean="0"/>
              <a:t>)</a:t>
            </a:r>
            <a:r>
              <a:rPr lang="en-IN" altLang="en-US" sz="2000" b="1" dirty="0" smtClean="0"/>
              <a:t> </a:t>
            </a:r>
            <a:r>
              <a:rPr lang="en-IN" altLang="en-US" sz="2000" b="1" dirty="0" err="1" smtClean="0"/>
              <a:t>चा</a:t>
            </a:r>
            <a:r>
              <a:rPr lang="en-IN" altLang="en-US" sz="2000" b="1" dirty="0" smtClean="0"/>
              <a:t> </a:t>
            </a:r>
            <a:r>
              <a:rPr lang="en-IN" altLang="en-US" sz="2000" b="1" dirty="0" err="1" smtClean="0"/>
              <a:t>वापर</a:t>
            </a:r>
            <a:r>
              <a:rPr lang="en-IN" altLang="en-US" sz="2000" b="1" dirty="0" smtClean="0"/>
              <a:t> </a:t>
            </a:r>
            <a:r>
              <a:rPr lang="en-IN" altLang="en-US" sz="2000" b="1" dirty="0" err="1" smtClean="0"/>
              <a:t>करणेच</a:t>
            </a:r>
            <a:r>
              <a:rPr lang="en-IN" altLang="en-US" sz="2000" b="1" dirty="0" smtClean="0"/>
              <a:t> </a:t>
            </a:r>
            <a:r>
              <a:rPr lang="en-IN" altLang="en-US" sz="2000" b="1" dirty="0" err="1" smtClean="0"/>
              <a:t>योग्य</a:t>
            </a:r>
            <a:r>
              <a:rPr lang="en-IN" altLang="en-US" sz="2000" b="1" dirty="0" smtClean="0"/>
              <a:t>.</a:t>
            </a:r>
            <a:r>
              <a:rPr lang="en-IN" sz="2000" dirty="0" smtClean="0">
                <a:latin typeface="Mangal" pitchFamily="18" charset="0"/>
                <a:ea typeface="Calibri"/>
                <a:cs typeface="Mangal" pitchFamily="18" charset="0"/>
              </a:rPr>
              <a:t> </a:t>
            </a:r>
            <a:endParaRPr lang="en-IN" sz="2000" dirty="0" smtClean="0">
              <a:ea typeface="Calibri"/>
              <a:cs typeface="Mangal"/>
            </a:endParaRPr>
          </a:p>
          <a:p>
            <a:r>
              <a:rPr lang="en-IN" sz="2000" dirty="0" smtClean="0">
                <a:latin typeface="Mangal" pitchFamily="18" charset="0"/>
                <a:cs typeface="Mangal" pitchFamily="18" charset="0"/>
              </a:rPr>
              <a:t> </a:t>
            </a:r>
            <a:endParaRPr lang="en-IN" sz="2000" dirty="0">
              <a:latin typeface="Mangal" pitchFamily="18" charset="0"/>
              <a:cs typeface="Mangal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r-IN" sz="2800" dirty="0" smtClean="0"/>
              <a:t>खनिज मिश्रण</a:t>
            </a:r>
            <a:r>
              <a:rPr lang="en-IN" sz="2800" dirty="0" smtClean="0"/>
              <a:t> </a:t>
            </a:r>
            <a:r>
              <a:rPr lang="en-IN" sz="2800" dirty="0" err="1" smtClean="0"/>
              <a:t>कीती</a:t>
            </a:r>
            <a:r>
              <a:rPr lang="en-IN" sz="2800" dirty="0" smtClean="0"/>
              <a:t> </a:t>
            </a:r>
            <a:r>
              <a:rPr lang="en-IN" sz="2800" dirty="0" err="1" smtClean="0"/>
              <a:t>दयावे</a:t>
            </a:r>
            <a:r>
              <a:rPr lang="en-IN" sz="2800" dirty="0" smtClean="0"/>
              <a:t> ?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indent="-257175">
              <a:spcBef>
                <a:spcPct val="0"/>
              </a:spcBef>
            </a:pPr>
            <a:r>
              <a:rPr lang="mr-IN" altLang="en-US" sz="1800" b="1" dirty="0" smtClean="0"/>
              <a:t>कालवडीच्या झपाट्याने वाढीकरिता</a:t>
            </a:r>
            <a:endParaRPr lang="en-US" altLang="en-US" sz="1800" b="1" dirty="0">
              <a:cs typeface="Mangal" pitchFamily="18" charset="0"/>
            </a:endParaRPr>
          </a:p>
          <a:p>
            <a:pPr marL="257175" indent="-257175">
              <a:spcBef>
                <a:spcPct val="0"/>
              </a:spcBef>
            </a:pPr>
            <a:endParaRPr lang="en-US" altLang="en-US" sz="1800" b="1" dirty="0">
              <a:cs typeface="Mangal" pitchFamily="18" charset="0"/>
            </a:endParaRPr>
          </a:p>
          <a:p>
            <a:pPr>
              <a:spcBef>
                <a:spcPct val="0"/>
              </a:spcBef>
              <a:buNone/>
            </a:pPr>
            <a:r>
              <a:rPr lang="hi-IN" altLang="en-US" sz="1800" b="1" dirty="0"/>
              <a:t>		</a:t>
            </a:r>
            <a:r>
              <a:rPr lang="hi-IN" altLang="en-US" sz="1800" b="1" dirty="0" smtClean="0">
                <a:solidFill>
                  <a:schemeClr val="accent6">
                    <a:lumMod val="50000"/>
                  </a:schemeClr>
                </a:solidFill>
              </a:rPr>
              <a:t>25 </a:t>
            </a:r>
            <a:r>
              <a:rPr lang="hi-IN" altLang="en-US" sz="1800" b="1" dirty="0">
                <a:solidFill>
                  <a:schemeClr val="accent6">
                    <a:lumMod val="50000"/>
                  </a:schemeClr>
                </a:solidFill>
              </a:rPr>
              <a:t>ग्राम </a:t>
            </a:r>
            <a:r>
              <a:rPr lang="mr-IN" altLang="en-US" sz="1800" b="1" dirty="0" smtClean="0">
                <a:solidFill>
                  <a:schemeClr val="accent6">
                    <a:lumMod val="50000"/>
                  </a:schemeClr>
                </a:solidFill>
              </a:rPr>
              <a:t>दररोज </a:t>
            </a:r>
          </a:p>
          <a:p>
            <a:pPr>
              <a:spcBef>
                <a:spcPct val="0"/>
              </a:spcBef>
              <a:buNone/>
            </a:pPr>
            <a:endParaRPr lang="hi-IN" altLang="en-US" sz="1800" b="1" dirty="0"/>
          </a:p>
          <a:p>
            <a:pPr marL="257175" indent="-257175">
              <a:spcBef>
                <a:spcPct val="0"/>
              </a:spcBef>
            </a:pPr>
            <a:endParaRPr lang="hi-IN" altLang="en-US" sz="1800" b="1" dirty="0"/>
          </a:p>
          <a:p>
            <a:pPr marL="257175" indent="-257175">
              <a:spcBef>
                <a:spcPct val="0"/>
              </a:spcBef>
            </a:pPr>
            <a:r>
              <a:rPr lang="mr-IN" altLang="en-US" sz="1800" b="1" dirty="0" smtClean="0"/>
              <a:t>कालवडी, गाभण, कमी दुध देणाऱ्या (५ लिटर) तसेच अनुत्पादक जनावरांकरिता</a:t>
            </a:r>
            <a:endParaRPr lang="en-US" altLang="en-US" sz="1800" b="1" dirty="0">
              <a:cs typeface="Mangal" pitchFamily="18" charset="0"/>
            </a:endParaRPr>
          </a:p>
          <a:p>
            <a:pPr marL="257175" indent="-257175">
              <a:spcBef>
                <a:spcPct val="0"/>
              </a:spcBef>
            </a:pPr>
            <a:endParaRPr lang="en-US" altLang="en-US" sz="1800" b="1" dirty="0">
              <a:cs typeface="Mangal" pitchFamily="18" charset="0"/>
            </a:endParaRPr>
          </a:p>
          <a:p>
            <a:pPr>
              <a:spcBef>
                <a:spcPct val="0"/>
              </a:spcBef>
              <a:buNone/>
            </a:pPr>
            <a:r>
              <a:rPr lang="hi-IN" altLang="en-US" sz="1800" b="1" dirty="0"/>
              <a:t>		</a:t>
            </a:r>
            <a:r>
              <a:rPr lang="hi-IN" altLang="en-US" sz="1800" b="1" dirty="0">
                <a:solidFill>
                  <a:schemeClr val="accent6">
                    <a:lumMod val="50000"/>
                  </a:schemeClr>
                </a:solidFill>
              </a:rPr>
              <a:t>50 ग्राम </a:t>
            </a:r>
            <a:r>
              <a:rPr lang="mr-IN" altLang="en-US" sz="1800" b="1" dirty="0" smtClean="0">
                <a:solidFill>
                  <a:schemeClr val="accent6">
                    <a:lumMod val="50000"/>
                  </a:schemeClr>
                </a:solidFill>
              </a:rPr>
              <a:t>दररोज </a:t>
            </a:r>
            <a:endParaRPr lang="en-US" altLang="en-US" sz="1800" b="1" dirty="0">
              <a:cs typeface="Mangal" pitchFamily="18" charset="0"/>
            </a:endParaRPr>
          </a:p>
          <a:p>
            <a:pPr marL="257175" indent="-257175">
              <a:spcBef>
                <a:spcPct val="0"/>
              </a:spcBef>
            </a:pPr>
            <a:endParaRPr lang="hi-IN" altLang="en-US" sz="1800" b="1" dirty="0"/>
          </a:p>
          <a:p>
            <a:pPr marL="257175" indent="-257175">
              <a:spcBef>
                <a:spcPct val="0"/>
              </a:spcBef>
            </a:pPr>
            <a:endParaRPr lang="hi-IN" altLang="en-US" sz="1800" b="1" dirty="0"/>
          </a:p>
          <a:p>
            <a:pPr marL="214313" indent="-214313">
              <a:spcBef>
                <a:spcPct val="0"/>
              </a:spcBef>
            </a:pPr>
            <a:r>
              <a:rPr lang="mr-IN" altLang="en-US" sz="1800" b="1" dirty="0" smtClean="0"/>
              <a:t>दुधाळ गाई व म्हशीकरिता </a:t>
            </a:r>
            <a:r>
              <a:rPr lang="hi-IN" altLang="en-US" sz="1800" b="1" dirty="0" smtClean="0"/>
              <a:t>(10/15 लिटर) </a:t>
            </a:r>
            <a:endParaRPr lang="en-US" altLang="en-US" sz="1800" b="1" dirty="0">
              <a:cs typeface="Mangal" pitchFamily="18" charset="0"/>
            </a:endParaRPr>
          </a:p>
          <a:p>
            <a:pPr marL="257175" indent="-257175">
              <a:spcBef>
                <a:spcPct val="0"/>
              </a:spcBef>
            </a:pPr>
            <a:endParaRPr lang="en-US" altLang="en-US" sz="1800" b="1" dirty="0">
              <a:cs typeface="Mangal" pitchFamily="18" charset="0"/>
            </a:endParaRPr>
          </a:p>
          <a:p>
            <a:pPr>
              <a:spcBef>
                <a:spcPct val="0"/>
              </a:spcBef>
              <a:buNone/>
            </a:pPr>
            <a:r>
              <a:rPr lang="hi-IN" altLang="en-US" sz="1800" b="1" dirty="0"/>
              <a:t>		</a:t>
            </a:r>
            <a:r>
              <a:rPr lang="hi-IN" altLang="en-US" sz="1800" b="1" dirty="0">
                <a:solidFill>
                  <a:schemeClr val="accent6">
                    <a:lumMod val="50000"/>
                  </a:schemeClr>
                </a:solidFill>
              </a:rPr>
              <a:t>100 </a:t>
            </a:r>
            <a:r>
              <a:rPr lang="en-US" altLang="en-US" sz="1800" b="1" dirty="0">
                <a:solidFill>
                  <a:schemeClr val="accent6">
                    <a:lumMod val="50000"/>
                  </a:schemeClr>
                </a:solidFill>
                <a:cs typeface="Mangal" pitchFamily="18" charset="0"/>
              </a:rPr>
              <a:t>–</a:t>
            </a:r>
            <a:r>
              <a:rPr lang="hi-IN" altLang="en-US" sz="1800" b="1" dirty="0">
                <a:solidFill>
                  <a:schemeClr val="accent6">
                    <a:lumMod val="50000"/>
                  </a:schemeClr>
                </a:solidFill>
              </a:rPr>
              <a:t> 150 </a:t>
            </a:r>
            <a:r>
              <a:rPr lang="hi-IN" altLang="en-US" sz="1800" b="1" dirty="0"/>
              <a:t>ग्राम </a:t>
            </a:r>
            <a:r>
              <a:rPr lang="mr-IN" altLang="en-US" sz="1800" b="1" dirty="0" smtClean="0"/>
              <a:t>दररोज</a:t>
            </a:r>
            <a:r>
              <a:rPr lang="hi-IN" altLang="en-US" sz="1800" b="1" dirty="0" smtClean="0"/>
              <a:t>, </a:t>
            </a:r>
            <a:r>
              <a:rPr lang="mr-IN" altLang="en-US" sz="1800" b="1" dirty="0" smtClean="0"/>
              <a:t>दुध उत्पादनानुसार </a:t>
            </a:r>
            <a:endParaRPr lang="en-US" altLang="en-US" sz="1800" b="1" dirty="0">
              <a:cs typeface="Mangal" pitchFamily="18" charset="0"/>
            </a:endParaRPr>
          </a:p>
          <a:p>
            <a:pPr marL="0" indent="0">
              <a:buNone/>
            </a:pPr>
            <a:endParaRPr lang="en-IN" sz="1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667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39850"/>
          </a:xfrm>
        </p:spPr>
        <p:txBody>
          <a:bodyPr/>
          <a:lstStyle/>
          <a:p>
            <a:r>
              <a:rPr lang="en-IN" dirty="0" err="1" smtClean="0">
                <a:latin typeface="Mangal" pitchFamily="18" charset="0"/>
                <a:cs typeface="Mangal" pitchFamily="18" charset="0"/>
              </a:rPr>
              <a:t>ईतर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पशुखादय</a:t>
            </a:r>
            <a:r>
              <a:rPr lang="en-IN" dirty="0" smtClean="0">
                <a:latin typeface="Mangal" pitchFamily="18" charset="0"/>
                <a:cs typeface="Mangal" pitchFamily="18" charset="0"/>
              </a:rPr>
              <a:t> </a:t>
            </a:r>
            <a:r>
              <a:rPr lang="en-IN" dirty="0" err="1" smtClean="0">
                <a:latin typeface="Mangal" pitchFamily="18" charset="0"/>
                <a:cs typeface="Mangal" pitchFamily="18" charset="0"/>
              </a:rPr>
              <a:t>पुरके</a:t>
            </a:r>
            <a:endParaRPr lang="en-IN" dirty="0">
              <a:latin typeface="Mangal" pitchFamily="18" charset="0"/>
              <a:cs typeface="Mangal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मिठ</a:t>
            </a:r>
            <a:r>
              <a:rPr lang="en-IN" dirty="0" smtClean="0"/>
              <a:t> – २५ </a:t>
            </a:r>
            <a:r>
              <a:rPr lang="en-IN" dirty="0" err="1" smtClean="0"/>
              <a:t>ते</a:t>
            </a:r>
            <a:r>
              <a:rPr lang="en-IN" dirty="0" smtClean="0"/>
              <a:t> ३० </a:t>
            </a:r>
            <a:r>
              <a:rPr lang="en-IN" dirty="0" err="1" smtClean="0"/>
              <a:t>ग्रॅम</a:t>
            </a:r>
            <a:r>
              <a:rPr lang="en-IN" dirty="0" smtClean="0"/>
              <a:t> </a:t>
            </a:r>
            <a:r>
              <a:rPr lang="en-IN" dirty="0" err="1" smtClean="0"/>
              <a:t>मिठ</a:t>
            </a:r>
            <a:r>
              <a:rPr lang="en-IN" dirty="0" smtClean="0"/>
              <a:t> </a:t>
            </a:r>
            <a:r>
              <a:rPr lang="en-IN" dirty="0" err="1" smtClean="0"/>
              <a:t>दररोज</a:t>
            </a:r>
            <a:r>
              <a:rPr lang="en-IN" dirty="0" smtClean="0"/>
              <a:t> </a:t>
            </a:r>
            <a:r>
              <a:rPr lang="en-IN" dirty="0" err="1" smtClean="0"/>
              <a:t>जनावराच्या</a:t>
            </a:r>
            <a:r>
              <a:rPr lang="en-IN" dirty="0" smtClean="0"/>
              <a:t> </a:t>
            </a:r>
            <a:r>
              <a:rPr lang="en-IN" dirty="0" err="1" smtClean="0"/>
              <a:t>आहारात</a:t>
            </a:r>
            <a:r>
              <a:rPr lang="en-IN" dirty="0" smtClean="0"/>
              <a:t> </a:t>
            </a:r>
            <a:r>
              <a:rPr lang="en-IN" dirty="0" err="1" smtClean="0"/>
              <a:t>आवश्यक</a:t>
            </a:r>
            <a:r>
              <a:rPr lang="en-IN" dirty="0" smtClean="0"/>
              <a:t> </a:t>
            </a:r>
            <a:r>
              <a:rPr lang="en-IN" dirty="0" err="1" smtClean="0"/>
              <a:t>आहे</a:t>
            </a:r>
            <a:r>
              <a:rPr lang="en-IN" dirty="0" smtClean="0"/>
              <a:t>.</a:t>
            </a:r>
          </a:p>
          <a:p>
            <a:r>
              <a:rPr lang="en-IN" dirty="0" err="1" smtClean="0"/>
              <a:t>बफर</a:t>
            </a:r>
            <a:r>
              <a:rPr lang="en-IN" dirty="0" smtClean="0"/>
              <a:t> -  </a:t>
            </a:r>
            <a:r>
              <a:rPr lang="en-IN" dirty="0" err="1" smtClean="0"/>
              <a:t>जनावराच्या</a:t>
            </a:r>
            <a:r>
              <a:rPr lang="en-IN" dirty="0" smtClean="0"/>
              <a:t> </a:t>
            </a:r>
            <a:r>
              <a:rPr lang="en-IN" dirty="0" err="1" smtClean="0"/>
              <a:t>आहारात</a:t>
            </a:r>
            <a:r>
              <a:rPr lang="en-IN" dirty="0" smtClean="0"/>
              <a:t> </a:t>
            </a:r>
            <a:r>
              <a:rPr lang="en-IN" dirty="0" err="1" smtClean="0"/>
              <a:t>रफेजेस</a:t>
            </a:r>
            <a:r>
              <a:rPr lang="en-IN" dirty="0" smtClean="0"/>
              <a:t> </a:t>
            </a:r>
            <a:r>
              <a:rPr lang="en-IN" dirty="0" err="1" smtClean="0"/>
              <a:t>पेक्षा</a:t>
            </a:r>
            <a:r>
              <a:rPr lang="en-IN" dirty="0" smtClean="0"/>
              <a:t> </a:t>
            </a:r>
            <a:r>
              <a:rPr lang="en-IN" dirty="0" err="1" smtClean="0"/>
              <a:t>कॉन्संट</a:t>
            </a:r>
            <a:r>
              <a:rPr lang="en-IN" dirty="0" err="1" smtClean="0">
                <a:latin typeface="DVBW-TTSurekh"/>
              </a:rPr>
              <a:t>Òट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जास्त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असतील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तर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रुमेन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मध्ये</a:t>
            </a:r>
            <a:r>
              <a:rPr lang="en-IN" dirty="0" smtClean="0">
                <a:latin typeface="DVBW-TTSurekh"/>
              </a:rPr>
              <a:t> ॲ</a:t>
            </a:r>
            <a:r>
              <a:rPr lang="en-IN" dirty="0" err="1" smtClean="0">
                <a:latin typeface="DVBW-TTSurekh"/>
              </a:rPr>
              <a:t>सीडोसीस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होतो</a:t>
            </a:r>
            <a:r>
              <a:rPr lang="en-IN" dirty="0" smtClean="0">
                <a:latin typeface="DVBW-TTSurekh"/>
              </a:rPr>
              <a:t>. </a:t>
            </a:r>
            <a:r>
              <a:rPr lang="en-IN" dirty="0" err="1" smtClean="0">
                <a:latin typeface="DVBW-TTSurekh"/>
              </a:rPr>
              <a:t>या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करीता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सोडीयम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बाय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err="1" smtClean="0">
                <a:latin typeface="DVBW-TTSurekh"/>
              </a:rPr>
              <a:t>कार्बोनेट</a:t>
            </a:r>
            <a:r>
              <a:rPr lang="en-IN" dirty="0" smtClean="0">
                <a:latin typeface="DVBW-TTSurekh"/>
              </a:rPr>
              <a:t> </a:t>
            </a:r>
            <a:r>
              <a:rPr lang="en-IN" dirty="0" smtClean="0"/>
              <a:t>५० </a:t>
            </a:r>
            <a:r>
              <a:rPr lang="en-IN" dirty="0" err="1" smtClean="0"/>
              <a:t>ते</a:t>
            </a:r>
            <a:r>
              <a:rPr lang="en-IN" dirty="0" smtClean="0"/>
              <a:t> ७५ </a:t>
            </a:r>
            <a:r>
              <a:rPr lang="en-IN" dirty="0" err="1" smtClean="0"/>
              <a:t>ग्रॅम</a:t>
            </a:r>
            <a:r>
              <a:rPr lang="en-IN" dirty="0" smtClean="0"/>
              <a:t> </a:t>
            </a:r>
            <a:r>
              <a:rPr lang="en-IN" dirty="0" smtClean="0"/>
              <a:t> </a:t>
            </a:r>
            <a:r>
              <a:rPr lang="en-IN" dirty="0" err="1" smtClean="0"/>
              <a:t>बफर</a:t>
            </a:r>
            <a:r>
              <a:rPr lang="en-IN" dirty="0" smtClean="0"/>
              <a:t> </a:t>
            </a:r>
            <a:r>
              <a:rPr lang="en-IN" dirty="0" err="1" smtClean="0"/>
              <a:t>म्हणुन</a:t>
            </a:r>
            <a:r>
              <a:rPr lang="en-IN" dirty="0" smtClean="0"/>
              <a:t> </a:t>
            </a:r>
            <a:r>
              <a:rPr lang="en-IN" dirty="0" err="1" smtClean="0"/>
              <a:t>आहारात</a:t>
            </a:r>
            <a:r>
              <a:rPr lang="en-IN" dirty="0" smtClean="0"/>
              <a:t> </a:t>
            </a:r>
            <a:r>
              <a:rPr lang="en-IN" dirty="0" err="1" smtClean="0"/>
              <a:t>दिल्या</a:t>
            </a:r>
            <a:r>
              <a:rPr lang="en-IN" dirty="0" smtClean="0"/>
              <a:t> </a:t>
            </a:r>
            <a:r>
              <a:rPr lang="en-IN" dirty="0" err="1" smtClean="0"/>
              <a:t>गेल्यास</a:t>
            </a:r>
            <a:r>
              <a:rPr lang="en-IN" dirty="0" smtClean="0"/>
              <a:t> </a:t>
            </a:r>
            <a:r>
              <a:rPr lang="en-IN" dirty="0" err="1" smtClean="0"/>
              <a:t>रुमेन</a:t>
            </a:r>
            <a:r>
              <a:rPr lang="en-IN" dirty="0" smtClean="0"/>
              <a:t> </a:t>
            </a:r>
            <a:r>
              <a:rPr lang="en-IN" dirty="0" err="1" smtClean="0"/>
              <a:t>मधील</a:t>
            </a:r>
            <a:r>
              <a:rPr lang="en-IN" dirty="0" smtClean="0"/>
              <a:t> </a:t>
            </a:r>
            <a:r>
              <a:rPr lang="en-IN" dirty="0" err="1" smtClean="0"/>
              <a:t>किण्वन</a:t>
            </a:r>
            <a:r>
              <a:rPr lang="en-IN" dirty="0" smtClean="0"/>
              <a:t> </a:t>
            </a:r>
            <a:r>
              <a:rPr lang="en-IN" dirty="0" err="1" smtClean="0"/>
              <a:t>प्रक्रीया</a:t>
            </a:r>
            <a:r>
              <a:rPr lang="en-IN" dirty="0" smtClean="0"/>
              <a:t> </a:t>
            </a:r>
            <a:r>
              <a:rPr lang="en-IN" dirty="0" err="1" smtClean="0"/>
              <a:t>नियमीत</a:t>
            </a:r>
            <a:r>
              <a:rPr lang="en-IN" dirty="0" smtClean="0"/>
              <a:t> </a:t>
            </a:r>
            <a:r>
              <a:rPr lang="en-IN" dirty="0" err="1" smtClean="0"/>
              <a:t>रहाते</a:t>
            </a:r>
            <a:r>
              <a:rPr lang="en-IN" dirty="0" smtClean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42394"/>
          </a:xfrm>
        </p:spPr>
        <p:txBody>
          <a:bodyPr>
            <a:normAutofit/>
          </a:bodyPr>
          <a:lstStyle/>
          <a:p>
            <a:r>
              <a:rPr lang="mr-IN" sz="3200" dirty="0" smtClean="0">
                <a:latin typeface="Bookman Old Style" panose="02050604050505020204" pitchFamily="18" charset="0"/>
              </a:rPr>
              <a:t>धन्यवाद</a:t>
            </a:r>
            <a:r>
              <a:rPr lang="mr-IN" sz="2800" dirty="0" smtClean="0">
                <a:latin typeface="Bookman Old Style" panose="02050604050505020204" pitchFamily="18" charset="0"/>
              </a:rPr>
              <a:t>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901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3255</TotalTime>
  <Words>575</Words>
  <Application>Microsoft Office PowerPoint</Application>
  <PresentationFormat>On-screen Show (4:3)</PresentationFormat>
  <Paragraphs>154</Paragraphs>
  <Slides>14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Office Theme</vt:lpstr>
      <vt:lpstr>Bitmap Image</vt:lpstr>
      <vt:lpstr>Slide</vt:lpstr>
      <vt:lpstr>संतुलीत पशुखादय व मिनरल मिक्श्चर  </vt:lpstr>
      <vt:lpstr>Slide 2</vt:lpstr>
      <vt:lpstr>Slide 3</vt:lpstr>
      <vt:lpstr>Slide 4</vt:lpstr>
      <vt:lpstr>Slide 5</vt:lpstr>
      <vt:lpstr>Slide 6</vt:lpstr>
      <vt:lpstr>Slide 7</vt:lpstr>
      <vt:lpstr>खनिज मिश्रणाचे प्रकार  </vt:lpstr>
      <vt:lpstr>  </vt:lpstr>
      <vt:lpstr>चिलेटेड मिनरल्स</vt:lpstr>
      <vt:lpstr>मिनरल मिक्श्चर व लिक्वीड कॅलशीयम</vt:lpstr>
      <vt:lpstr>खनिज मिश्रण कीती दयावे ?</vt:lpstr>
      <vt:lpstr>ईतर पशुखादय पुरके</vt:lpstr>
      <vt:lpstr>धन्यवाद 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hazarika</dc:creator>
  <cp:lastModifiedBy>Dr.Pathak</cp:lastModifiedBy>
  <cp:revision>421</cp:revision>
  <cp:lastPrinted>2017-08-25T07:20:37Z</cp:lastPrinted>
  <dcterms:created xsi:type="dcterms:W3CDTF">2015-09-14T05:26:28Z</dcterms:created>
  <dcterms:modified xsi:type="dcterms:W3CDTF">2018-04-28T10:48:20Z</dcterms:modified>
</cp:coreProperties>
</file>